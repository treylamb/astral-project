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hook. You have three to four minutes in total, so do not spend any of it explaining the title.
One sentence to land early: a commander cannot act on what they do not know, and intelligence officers are the people who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roadmap. Name the six topics in one sentence and move on. Reading every card aloud costs time you do not have.
If you run short on time, cut this slide first and go straight from the title to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Squadron and wing level: at a flying wing the intelligence flight normally sits in the Operations Support Squadron, under the Operations Group. Some intelligence officers are attached to a flying squadron itself. [Sources 7, 18]
MAJCOM level: a MAJCOM is a major command. Examples are Air Combat Command (ACC), Air Mobility Command (AMC), Air Force Special Operations Command (AFSOC), and Pacific Air Forces (PACAF). ACC calls itself the lead command for fighter, command and control, intelligence, surveillance and reconnaissance. MAJCOM intelligence staffs oversee training, qualification, and standards for their units. [Source 19]
Be careful with one old phrase: the earlier version of this slide said MAJCOMs "set intelligence requirements and priorities." That is an oversimplification. During an operation, the priorities come from the commander being supported, through that commander’s priority intelligence requirements. [Sources 1, 19]
National level: NASIC (National Air and Space Intelligence Center) is at Wright-Patterson AFB, Ohio. It characterizes foreign air, space, missile, and cyber threats and also exploits captured foreign equipment. Its heritage goes back to 1917 at McCook Field. In World War II its predecessors studied captured enemy aircraft at Wright Field. [Source 20]
DIA provides military intelligence to warfighters and defense policymakers. NSA leads U.S. signals intelligence and cybersecurity. NGA’s director is the national functional manager for geospatial intelligence. NSIC is the Space Force’s intelligence center, also at Wright-Patterson. None of these is an Air Force-only organization, except NASIC. [Source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Degree: airforce.com asks for a bachelor’s degree in one of these fields: science, humanities, social sciences, structured analysis, engineering, or mathematics. That covers most majors, but it is not the same as "any degree." The officer directory points to a 14N education matrix that is not public, so confirm the exact list with your detachment. Also on airforce.com: a passing AFOQT score. [Sources 7, 1]
Citizenship: the 14N pages do not say it in so many words. It comes from two rules above them. Federal law limits a regular commission to U.S. citizens (10 U.S.C. 532), and intelligence community policy says anyone who needs SCI access must be a U.S. citizen (ICD 704). [Source 11]
Tier 5: this is the investigation that used to be called an SSBI. The 2016 officer directory said SSBI; the current one says Tier 5. It looks back up to 10 years for where you lived, worked, and went to school, and 7 years for things like foreign contacts and finances. It includes an Enhanced Subject Interview with you, plus record checks and interviews with references. [Sources 1, 12]
Timing: the old figure of 12–24 months reflects the backlog of 2018 and 2019, when end-to-end Top Secret cases took about 410 days. Government data for fiscal 2026 show the investigation step itself at about 60 days. The whole process for the fastest 90 percent of cases reads around five months off the chart. That last figure is read from a chart, so say "around five months." No official source gives a separate number for SCI. SCI access and a polygraph can add time. [Source 13]
You can get the entry-level AFSC before the investigation finishes, if you hold an interim Top Secret clearance. The officer directory says so directly. [Source 1]
No prior experience: the entry requirement is completing the Intelligence Officer Initial Skills Course, which you take after commissioning. Nothing in the directory asks for prior intelligence work. [Source 1]
SEIs, in plain terms: DAFMAN 36-2100 says SEIs "identify special experience and training not otherwise identified" and that they are "not substitutes for AFSCs." An officer SEI is a three-character code: one activity-code character and a two-character experience set. The officer directory says SEIs carry no AFSC restrictions, so a code is not tied to one career field. A unit commander awards an SEI once you meet its criteria. Once awarded it stays on your record and does not expire, though it can be withdrawn if you lose the qualification, for example by losing your clearance. So a 14N who earns an SEI is still a 14N. [Sources 1, 3]
An officer SEI is not even tied to a specialty. DAFMAN 36-2100 says the personnel system has no way to associate officer SEIs with AFSCs. You earn one by meeting its training and experience criteria, not just by sitting in a coded job. [Source 3]
Which SEIs 14Ns can earn: the current officer SEI tables are behind a Common Access Card login, so they cannot be checked from outside. The only published list I could open is the 2010 officer directory. Its experience sets for 14N include targeting, analysis, collection management, HUMINT, SIGINT, MASINT, imagery, geospatial, ISR operations, space, and special operations. It has nothing for "special access programs." The earlier version of this slide listed that, so it came off. [Source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length: say "several months." The earlier version of this slide said 8.5 weeks, and that number was wrong for this course. On airforce.com, 8.5 weeks is the length of Officer Training School at Maxwell AFB, Alabama. The page never mentions the intelligence course or Goodfellow. [Source 7]
No official source I could reach gives the real length. The best estimate is about six months, from a cadet-detachment AFSC guide, and a 2020 Guard vacancy notice gives about 26 weeks. Other websites say about four months and about eight weeks. A redesign of the course, called Learning Next, began as a beta in 2018. Ask your cadre or anyone who has been through it. [Sources 8, 16, 17]
Official course names: the officer directory calls it the "Intelligence Officer Initial Skills Course." Goodfellow’s fact sheet lists it as the "14N1 – Intelligence Officer Course," taught by the 315th Training Squadron. [Sources 1, 8]
Skill levels: 14N1 is awarded when you finish that course. 14N3, the fully qualified level, needs mission qualification (the directory names IQT/MQT and mission certification) and at least 36 months performing intelligence functions. An older 2002 training plan says 18 months. The current directory says 36. [Source 1]
First assignment: at a flying wing, the intelligence flight normally sits in the Operations Support Squadron under the Operations Group. Some officers are attached to a flying squadron instead. [Sources 7, 18]
Goodfellow: the 17th Training Group says it trains all of the Air Force’s intelligence courses. Some training is delivered elsewhere, such as language training at the Defense Language Institute in Monterey and human intelligence training at Fort Huachuca. For scale, the 315th Training Squadron trains more than 3,300 students a year with over 220 permanent staff. [Source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the heading: this slide used to be titled "The Mission." That was the earlier writer’s label, not an official mission. The Air Force’s mission statement is "to fly, fight, and win…airpower anytime, anywhere" (released 8 April 2021). "My mission is to Fly, Fight, and Win" is a line from the Airman’s Creed (2007). Intelligence officers do not have a separate mission statement. What the Air Force does publish for the 14N is the specialty summary in the officer directory, and the sentence on this slide comes from it. [Sources 1, 23]
The official sentence is: "Leads and performs intelligence activities across the full range of military operations supporting the Air Force’s Service Core Function (SCF) of Global Integrated Intelligence, Surveillance and Reconnaissance (ISR)." The rest of the slide paraphrases duties 2.4 and 2.5 in the same directory. The headline, "how the Air Force knows what it doesn’t know," is a slogan we wrote, not Air Force wording. [Source 1]
OODA: Colonel John Boyd was an Air Force fighter pilot who retired in 1975. The loop appears in his briefing "Patterns of Conflict." The best-known version of that briefing is dated December 1986. His 1976 essay "Destruction and Creation" does not mention the loop. [Source 15]
Boyd and Korea: Boyd used the F-86 against the MiG-15 as an example, even though the MiG could climb higher and faster. Accounts of his reasoning credit two things about the F-86: its bubble canopy, which let pilots see more, and its fully hydraulic flight controls, which let them change maneuvers faster. So it was a faster observe-and-act cycle. It is not correct to say hardware did not matter. Avoid quoting a kill ratio. Published figures such as 8 to 1 and 10 to 1 were later revised downward. [Sources 15, 24]
Decision advantage: the Air Force’s ISR strategic vision from about 2013 is titled "AF ISR 2023: Delivering Decision Advantage." It says ISR should lead to "compressed observe, orient, decide, and act (OODA) loops." AFDP 2-0 (May 2026) defines decision advantage as "the ability to make better, faster, and more effective decisions than an adversary." I could not confirm that the current National Intelligence Strategy uses the phrase, so credit it to Air Force doctrine. [Sources 4, 6]
The line "intelligence feeds the Orient step" is our own way of connecting the two ideas. It is a fair reading, but it is not a quotation from Boyd or from doctrine.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Officer duties come from the officer directory. It says officers "direct, plan, manage, and conduct" intelligence activities, serve as "the commander’s senior intelligence advisor," lead Airmen through the intelligence process, produce fused all-source analysis, and manage collection. Do not say officers brief aircrew "before every mission." No official source says that. Enlisted analysts also brief before missions. Say "briefs commanders and aircrew." [Source 1]
The enlisted side is a family of specialties, not just 1N0X1. From the enlisted directory: 1N0X1 All Source Intelligence Analyst; 1N1X1 Geospatial Intelligence; 1N2X1 Signals Intelligence; 1N3X1 Cryptologic Language Analyst; 1N4X1 Cyber Intelligence; 1N4X2 Cryptologic Analyst and Reporter; 1N7X1 Human Intelligence Specialist; 1N8X1 Targeting Analyst. [Source 2]
Reading the codes: in 14N, the 1 is the career group (Operations), the 14 is the utilization field (intelligence and information operations), the N is a functional-area letter, and the last digit is the skill level. DAFMAN 36-2100 does not say the N stands for a word, and I found no official source that gives it a meaning. Say "it is a classification code." Also, 14 is not "operations support." That is the 16-series. [Source 3]
Rank: new officers commission as second lieutenants. Promotion to first lieutenant and captain is close to automatic for officers in good standing, but it is not guaranteed. An officer can be found not qualified, and captain goes through a promotion process with selects and non-selects. The first truly competitive board is for major. [Source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performs the INTs? The sources support a split that is close to, but not exactly, "enlisted perform and officers fuse." On the enlisted side, the specialties are mostly organized by discipline: geospatial (1N1), signals (1N2), language (1N3), cyber (1N4), and human intelligence (1N7), plus all-source (1N0) and targeting (1N8). No enlisted specialty is titled MASINT or OSINT. [Source 2]
On the officer side there is one AFSC, 14N, with no discipline shredouts. The directory says officers use "subject matter expertise in the six intelligence disciplines" and lead Airmen through the intelligence process. It also has officers doing hands-on work: producing fused all-source analysis and "directing, scheduling, and controlling specific collection platforms, sensors and HUMINT sources." RAND’s 2009 study says nine older officer specialties were merged into the single 14N in 1994 to produce "broadened specialists." Officers can still build depth in one area through assignments and SEIs. [Sources 1, 26]
Why the slide says "five main": the officer directory lists six disciplines, adding technical intelligence (TECHINT), which is the exploitation of foreign equipment. Joint doctrine (JP 2-0, 2013 edition) lists seven by adding counterintelligence. In the Air Force, counterintelligence belongs to the Special Investigations career area (OSI), not to 14N. [Sources 1, 9]
SIGINT has three sub-types, not two: communications intelligence (COMINT), electronic intelligence (ELINT, such as radar emissions), and foreign instrumentation signals intelligence (FISINT, such as missile telemetry). [Source 9]
GEOINT is imagery, imagery intelligence, and geospatial information, which includes mapping, charting, and geodetic data. NGA’s director is the national functional manager for it. [Sources 9, 21]
HUMINT: a government OPSEC handbook calls it "the oldest method for collecting information about a foreign power" and notes that most of it is collected openly by diplomats and attachés. That handbook is from 1996, so attribute the phrase to it. [Source 27]
MASINT is measurement of the physical attributes of targets and events to characterize and identify them. Careful with the "radar fingerprint" example: identifying a specific radar by its signal is also called technical ELINT. An engine or aircraft signature is a cleaner MASINT example. [Source 9]
OSINT: the 2024 intelligence community OSINT strategy says it is "increasingly important and growing in demand." Reporting credits social media and commercial satellite imagery. "Enormously" is our word, not a measured fact. [Source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what the officer directory calls the "functional competencies" of the 14N: Analysis, Collection, Targeting, and Sensing Grid Activities. They replace the earlier slide, which listed four "specialty tracks." Two of those four were not tracks at all. [Source 1]
Where the old slide went wrong: "Fusion Analyst" is not a 14N track. The enlisted specialty 1N4X1 is titled Cyber Intelligence in the enlisted directory. A 2026 Guard vacancy notice used "Fusion Analyst" as a job title for a 1N4X1 position. The phrase "works the same layer as all-source" does not appear in Air Force or joint publications, so it has been removed. "HUMINT / Special Access" was two unrelated things on one card. [Sources 2, 29]
Targeting: the directory says officers perform "kinetic and non-kinetic target development, weaponeering, precision point mensuration, force application, execution planning, and combat assessment." Enlisted targeteers are 1N8X1 Targeting Analysts, a career field that dates to about 2019. Officers who go deep in targeting can earn a targeting SEI. [Sources 1, 2]
Collection: the directory says officers convert intelligence requirements into collection requirements, set priorities, task collection sources, monitor results, and re-task as needed. [Source 1]
Sensing Grid Activities: this is the newest item. Older material, including the 2016 directory, lists "Integration" as the fourth competency instead. If someone quotes an older list, that is why. [Source 1]
HUMINT in the Air Force is small. There is an enlisted HUMINT specialty (1N7X1, created in 2015) and officers can earn a HUMINT SEI, but most Defense Department HUMINT belongs to DIA’s Defense Clandestine Service and the Army. Army doctrine says the Air Force and Navy "have limited HUMINT collection capability." [Sources 2, 14]
Special access: a Special Access Program is a program with safeguards beyond those normally required for classified information. Access requires a formal indoctrination, and a polygraph may be required. It is a security arrangement, not an intelligence discipline or a career track. [Source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joint definition of all-source intelligence, from JP 2-0 and the DoD Dictionary, is: "Intelligence products and/or organizations and activities that incorporate all sources of information in the production of finished intelligence." The earlier notes listed the INTs inside the definition. The real definition does not, so that was not the doctrinal wording. [Sources 9, 10]
Trusting sources: analysts grade the reliability of a source and the credibility of the information separately. The scale is A through F for reliability and 1 through 6 for information. A B2 report is from a usually reliable source and is probably true. An F or a 6 means "cannot be judged," which is not the same as false. U.S. Army doctrine (FM 2-22.3) prints this scale. The names "Admiralty System" and "NATO system" come from secondary sources, because the NATO publication is not public. [Source 14]
Stating confidence: intelligence community standards (ICD 203) require fixed likelihood words, from "almost no chance" through "almost certain," each tied to a probability band. They also say not to mix a confidence level and a likelihood in the same sentence. [Source 11]
Fighting bias: Analysis of Competing Hypotheses, developed by Richards Heuer, asks the analyst to look for evidence that disconfirms each explanation instead of only supporting the first one. The U.S. Government’s 2009 Tradecraft Primer lists it with the key assumptions check and red team analysis. [Source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comes from: the four rows are the parts of the day that have official sources. They do not describe a clock schedule. The earlier brief gave a "realistic day" by time (early morning, mid-morning, and so on). No source supports those times, so do not present them as fact.
Pre-mission briefing: a 2019 Lakenheath article describes the intelligence step-brief before a sortie and the debrief afterward. A 2019 Little Rock article calls pre-mission briefings the core objective of the 19th Operations Support Squadron intelligence section. The 1N0X1 training plan lists "Prepare and Present a Pre-Mission Briefing" as a core task. [Sources 5, 32, 33]
Analysis and production: the officer directory says officers produce "timely and accurate fused intelligence analysis" and direct intelligence activities and organizations. [Source 1]
Debrief: the 1N0X1 training plan lists "Conduct Debriefing / Prepare Mission Report (MISREP)." The debrief captures what the aircrew observed and feeds it back into collection. [Sources 5, 32]
More that is sourced: the AFROTC AFSC guide lists a 14N’s daily duties as "Read reports, network with fellow Intelligence Officers, refine data, build briefs, brief warfighters and decision-makers." A 2020 Altus AFB article describes pre-deployment threat briefs and Isolated Personnel Reports (ISOPREPs), which are also in the 1N0X1 training plan. [Sources 17, 18, 5]
Hours: the line "the day follows the flying schedule" is our summary, not a quotation. It follows from briefs and debriefs happening around flying. For deployed and real-world operations, a 2007 Air Force article says the 379th Air Expeditionary Wing intelligence flight "runs 24/7" and its squadron teams did too. I found no official source that says home-station shops work rotating 24/7 shifts, so say "deployed and real-world operations centers run 24/7." The word "overnight" came off the slide for the same reason. [Source 18]
SCIF: a SCIF is an accredited facility where sensitive compartmented information is processed, stored, and discussed. The security office decides which electronics may go in. In practice, personal phones and smartwatches stay outside. [Source 34]
Ask your cadre if someone presses you on a typical day. They can describe it from experience, and you can say the rows above come from official duty descriptions.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safety net. If you run short on time, you can jump from the INTs slide straight to this one and still land a complete talk.
It mirrors slide 2 so the audience hears the same six topics again, this time as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reference. It is not meant to be read aloud. Each numbered entry below has its full title and every link. Where a page was only available as an archived copy, the first link is the archive.
1. DAFOCD: Officer Classification Directory, 30 Apr 2025 (14N Intelligence). Department of the Air Force.
https://tmd.texas.gov/Data/Sites/1/media/tmd-jobs/ang-dsg-vacancy/fy25/quarter-3/air-force-officer-classification-directory-afocd-30-april-2025.pdf
Note: Official copy is on myPers (CAC login). This is a copy hosted by the Texas Military Department.
2. DAFECD: Enlisted Classification Directory, 31 Oct 2025 (1N-series). Department of the Air Force.
https://tmd.texas.gov/Data/Sites/1/media/tmd-jobs/ang-dsg-vacancy/fy26/quarter-1/5763-dafecd--31-october-25-v2.5-final.pdf
Note: Copy hosted by the Texas Military Department.
3. DAFMAN 36-2100, Military Utilization and Classification, 7 Jul 2026. Department of the Air Force.
https://static.e-publishing.af.mil/production/1/af_a1/publication/dafman36-2100/dafman36-2100.pdf
https://web.archive.org/web/20260826213322/https://static.e-publishing.af.mil/production/1/af_a1/publication/dafman36-2100/dafman36-2100.pdf
Note: e-publishing blocks automated requests; opens in a normal browser. Archived copy listed second.
4. AFDP 2-0, Intelligence, 1 May 2026. Department of the Air Force.
https://www.doctrine.af.mil/Portals/61/documents/AFDP_2-0/2-0-AFDP-INTELLIGENCE.pdf
https://web.archive.org/web/20260807210100/https://www.doctrine.af.mil/Portals/61/documents/AFDP_2-0/2-0-AFDP-INTELLIGENCE.pdf
Note: Archived copy listed second.
5. CFETP 1N0X1, All Source Intelligence Analyst, 13 Jan 2026. HQ USAF A2/6.
https://static.e-publishing.af.mil/production/1/af_a2_6/publication/cfetp1n0x1/cfetp1n0x1.pdf
https://web.archive.org/web/20260814144007/https://static.e-publishing.af.mil/production/1/af_a2_6/publication/cfetp1n0x1/cfetp1n0x1.pdf
Note: Archived copy listed second.
6. AF ISR 2023: Delivering Decision Advantage (about 2013). HQ USAF Deputy Chief of Staff for ISR.
https://defenseinnovationmarketplace.dtic.mil/wp-content/uploads/airforce/AF-ISR_2023.pdf
7. airforce.com, Intelligence Officer career page. U.S. Air Force Recruiting.
https://www.airforce.com/careers/intelligence/intelligence-officer
8. Goodfellow AFB fact sheets: 315th Training Squadron and 17th Training Wing; 17th TRG commander biography (2022). Goodfellow AFB; Texas Military Preparedness Commission.
https://www.goodfellow.af.mil/About-Us/Fact-Sheets/Display/Article/372949/315th-training-squadron/
https://www.goodfellow.af.mil/About-Us/Fact-Sheets/Display/Article/879923/17th-training-wing/
https://gov.texas.gov/uploads/files/organization/military/2024_one_pager_-_Goodfellow_AFB.pdf
https://bens.org/wp-content/uploads/2022/08/Kulchar_Jason_Bio_CAO_7_Jul_2022.pdf
Note: Fact sheets seen through archived copies.
9. JP 2-0, Joint Intelligence (22 Oct 2013). Joint Chiefs of Staff.
https://web.archive.org/web/20171013161032/http://www.dtic.mil/doctrine/new_pubs/jp2_0.pdf
Note: The 2022 edition is no longer posted publicly. This is the 2013 edition, archived.
10. DoD Dictionary of Military and Associated Terms (Nov 2021). Joint Chiefs of Staff.
https://web.archive.org/web/20220424231228/https://www.jcs.mil/Portals/36/Documents/Doctrine/pubs/dictionary.pdf
Note: Archived copy.
11. ICD 203 (analytic standards); ICD 704 (SCI access); 10 U.S.C. 532 (commissions). ODNI; U.S. Code.
https://web.archive.org/web/20260522220716/https://www.dni.gov/files/documents/ICD/ICD-203.pdf
https://www.intel.gov/articles/1163-icd-704-personnel-security
https://www.law.cornell.edu/uscode/text/10/532
12. SF-86 questionnaire; Postal Bulletin on Tier 5 investigations (2017). OPM; U.S. Postal Service.
https://www.opm.gov/forms/pdf_fill/sf86.pdf
https://about.usps.com/postal-bulletin/2017/pb22479/html/updt_001.htm
13. Trusted Workforce 2.0 quarterly progress review, FY2026 Q3 (legacy metrics). Security, Suitability, and Credentialing PAC.
https://assets.performance.gov/files/QPR_Legacy_Metrics_(FY26-Q3).pdf
Note: The five-month end-to-end figure is read from a chart on page 3.
14. FM 2-22.3, Human Intelligence Collector Operations (2006), Appendix B. Headquarters, Department of the Army.
https://irp.fas.org/doddir/army/fm2-22-3.pdf
15. Boyd, A Discourse on Winning and Losing (briefings and essays). Air University Press, 2018.
https://web.archive.org/web/2023id_/https://www.airuniversity.af.edu/Portals/10/AUPress/Books/B_0151_Boyd_Discourse_Winning_Losing.pdf
Note: Archived copy.
16. 134th ARW 14N vacancy notice, Apr 2020 (about 26 weeks). 134th Air Refueling Wing.
https://www.134arw.ang.af.mil/portals/32/134th%20intelligence%20officer%20(14n3)%20-%20134%20oss_in%20-%20apr%202020.pdf
Note: Seen only as a search snippet.
17. AFROTC AFSC Guide (about 6 months); Goodfellow "Learning Next" beta article. University of Houston AFROTC; Goodfellow AFB.
https://www.uh.edu/cadetcorner/AFROTC%20AFSC%20Guide.pdf
https://www.goodfellow.af.mil/Newsroom/Article-Display/Article/1676087/intelligence-officer-training-launches-learning-next-beta-course/
Note: The Learning Next article was seen only as a search snippet.
18. "Demystifying the mystique of intel" (2007); "97 OSS intelligence tactics flight train for future threats" (Altus AFB, 2020). af.mil; Altus AFB.
https://www.af.mil/News/Article-Display/Article/143536/demystifying-the-mystique-of-intel/
https://www.altus.af.mil/News/Article/2422535/97-oss-intelligence-tactics-flight-train-for-future-threats/
Note: Seen through archived copies.
19. Air Combat Command fact sheet; AFMAN 14-402 (27 Jan 2025). ACC; HQ USAF A2/6.
https://www.acc.af.mil/About-Us/Fact-Sheets/Display/Article/199115/acc/
https://static.e-publishing.af.mil/production/1/af_a2_6/publication/afman14-402/afman14-402.pdf
Note: AFMAN 14-402 was seen only as a search snippet.
20. NASIC fact sheet and heritage page; "Acquire, Assess, Exploit" (Airman magazine). NASIC; Airman magazine.
https://www.nasic.af.mil/About-Us/Fact-Sheets/Display/Article/611841/national-air-and-space-intelligence-center/
https://www.nasic.af.mil/About-Us/Fact-Sheets/Article/611728/national-air-and-space-intelligence-center-heritage/
https://www.airmanmagazine.af.mil/Features/Display/Article/2592537/acquire-assess-exploit/
Note: Seen through archived copies.
21. DIA, NGA, NSA pages; National Space Intelligence Center fact sheet. intelligence.gov; NSA; Space Force.
https://www.intelligence.gov/how-the-ic-works/our-organizations/dia
https://www.intelligence.gov/how-the-ic-works/our-organizations/nga
https://www.nsa.gov/About/
https://www.spaceforce.mil/About-Us/Fact-Sheets/Fact-Sheet-Display/Article/3820323/national-space-intelligence-center/
22. AFOCD, 31 Jan 2010 (officer experience sets, the only published SEI list found). Air Force Personnel Center.
https://rss.valdosta.edu/afrotc/documents/AFOCD-Jan10.pdf
Note: Old. Current SEI tables are on myFSS (login required).
23. Air Force mission statement (8 Apr 2021); The Airman’s Creed. af.mil.
https://www.af.mil/News/Article-Display/Article/2565837/air-force-unveils-new-mission-statement/
https://www.af.mil/About-Us/Airmans-Creed/
Note: Seen through archived copies.
24. "The military’s OODA loop will be here forever" (F-86 canopy and hydraulic controls). Task &amp; Purpose.
https://taskandpurpose.com/military-ooda-loop-forever/
25. AFI 36-2501 (officer promotions); 10 U.S.C. 624; AFPC captain promotion results. Department of the Air Force; U.S. Code.
https://web.archive.org/web/20220330104056/https://static.e-publishing.af.mil/production/1/af_a1/publication/afi36-2501/afi36-2501.pdf
https://www.law.cornell.edu/uscode/text/10/624
Note: AFI archived 2022.
26. RAND TR-628, Improving Development and Utilization of U.S. Air Force Intelligence Officers (2009). RAND Corporation.
https://www.rand.org/content/dam/rand/pubs/technical_reports/2009/RAND_TR628.pdf
Note: Data are from September 2005.
27. Intelligence Threat Handbook, Part 2 (1996). Interagency OPSEC Support Staff.
https://irp.fas.org/nsa/ioss/threat96/part02.htm
28. IC OSINT Strategy 2024–2026. ODNI / CIA.
https://web.archive.org/web/20240309234756/https://www.dni.gov/files/ODNI/documents/IC_OSINT_Strategy.pdf
Note: Archived copy.
29. Guard vacancy notices using the "Fusion Analyst" title for 1N4X1 (Mass. ANG, Jan 2026) and "Cyber Intelligence Analyst" (Md. ANG, 2026). Massachusetts and Maryland National Guard.
https://massnationalguard.org/wp-content/uploads/2026/01/20260212-AIR-AGR-FUSION-ANALYST-102-26-12.pdf
https://military.maryland.gov/hro/Lists/AGR%20Job%20Announcements/Attachments/792/26-092a%20Cyber%20Intelligence%20Craftman.pdf
30. Executive Order 13526; DoDM 5205.07 Vol. 1 (Special Access Programs). National Archives; DoD.
https://www.archives.gov/isoo/policy-documents/cnsi-eo.html
https://web.archive.org/web/20260829234342/https://www.esd.whs.mil/Portals/54/Documents/DD/issuances/dodm/520507m1.PDF
31. A Tradecraft Primer: Structured Analytic Techniques (2009); Heuer, Psychology of Intelligence Analysis. U.S. Government; CIA Center for the Study of Intelligence.
https://web.archive.org/web/20260906234716/https://www.cia.gov/resources/csi/static/Tradecraft-Primer-apr09.pdf
https://www.govinfo.gov/content/pkg/GOVPUB-PREX3-PURL-LPS20028/pdf/GOVPUB-PREX3-PURL-LPS20028.pdf
32. "Arming aircrew with intel" (RAF Lakenheath, 2019). Lakenheath AB.
https://www.lakenheath.af.mil/News/Article-Display/Article/1986117/arming-aircrew-with-intel/
Note: Seen through an archived copy.
33. "Intel cell drives force integration forward" (Little Rock AFB, 2019). Little Rock AFB.
https://www.littlerock.af.mil/News/Article-Display/Article/1791190/intel-cell-drives-force-integration-forward/
Note: Seen through an archived copy.
34. ICD 705; IC Technical Specification for SCIFs v1.5 (2020). ODNI.
https://www.intelligence.gov/assets/documents/intelligence-community-directives/ICD_705.pdf
https://www.dni.gov/files/Governance/IC-Tech-Specs-for-Const-and-Mgmt-of-SCIFs-v15.pdf
35. FRUS, Tehran Conference minutes, 30 Nov 1943; Giles translation of Sun Tzu (1910). State Department Office of the Historian; Project Gutenberg.
https://history.state.gov/historicaldocuments/frus1943CairoTehran/d374
https://www.gutenberg.org/cache/epub/132/pg132.txt
Note: The polished Churchill wording is from his memoir "Closing the Ring"; no page number confirmed.
36. 480th ISR Wing and AF DCGS fact sheets; Defense One (2014); ClearanceJobs (2013). 16th AF; af.mil; Defense One.
https://www.16af.af.mil/About-Us/Unit-Fact-Sheets/Display/Article/1963035/480th-isr-wing/
https://www.af.mil/About-Us/Fact-Sheets/Display/Article/104525/air-force-distributed-common-ground-system/
https://www.defenseone.com/technology/2014/11/look-inside-secret-us-air-force-intelligence-center/99347/
https://news.clearancejobs.com/2013/09/23/ten-military-unit-mottos-might-know/
Note: Fact sheets seen through archived copies.
37. AIA Instruction 84-102 (Freedom Through Vigilance); 16th AF inactivation photo caption (11 Oct 2019). Air Intelligence Agency; 16th AF.
https://irp.fas.org/doddir/usaf/aia/i84-0102.htm
https://web.archive.org/web/20240811132240/https://www.16af.af.mil/News/Photos/igphoto/2002195932/
38. DoD Dictionary, abbreviations (A-2, J-2, G-2, S-2, N-2). Joint Chiefs of Staff.
https://web.archive.org/web/20220424231228/https://www.jcs.mil/Portals/36/Documents/Doctrine/pubs/dictionary.pdf
Note: Same document as source 10.
39. Sixteenth Air Force fact sheet; Air Force Historical Research Agency lineage. 16th AF; AFHRA.
https://www.16af.af.mil/About-Us/Unit-Fact-Sheets/Display/Article/1957318/sixteenth-air-force-air-forces-cyber/
https://www.dafhistory.af.mil/About-Us/Fact-Sheets/Display/Article/1994990/sixteenth-air-force-air-forces-cyber-acc/
Note: Seen through archived copies.
40. E-7 Wedgetail reporting: The War Zone (2026); Defense One (Jun 2026). The War Zone; Defense One.
https://www.twz.com/air/pentagons-mindset-on-e-7-radar-aircraft-it-tried-to-axe-has-completely-changed-hegseth
https://www.defenseone.com/policy/2026/06/house-mostly-backs-15b-white-house-moves-fund-e-7-wedgetail/414450/
41. Operation Bolo fact sheet. National Museum of the U.S. Air Force.
https://www.nationalmuseum.af.mil/Visit/Museum-Exhibits/Fact-Sheets/Display/Article/196006/operation-bolo/
Note: Seen through an archived copy.
42. Foreign Relations of the United States 1961–1963, Vol. XI (Cuban Missile Crisis). State Department Office of the Historian.
https://history.state.gov/historicaldocuments/frus1961-63v11/d16
43. "A look back: 30th anniversary of Operation Desert Storm". Eglin AFB.
https://www.eglin.af.mil/News/Article-Display/Article/2518869/a-look-back-30th-anniversary-operation-desert-storm/
Note: Seen through an archived copy.
44. "DoD personnel now subject to continuous vetting" (2021). Defense One.
https://www.defenseone.com/defense-systems/2021/10/dod-personnel-now-subject-to-continuous-vetting/195242/
45. AFBCMR decision BC-2023-00363 (quotes AFI 36-2107 four-year commitment). Air Force Board for Correction of Military Records.
https://boards.law.af.mil/AF/BCMR/CY2023/BC-2023-00363%20BC-2023-00363.pdf
Note: The current AFI itself could not be opened.
46. Commissioning numbers: AFROTC and OTS fact sheets; 2006 Air Force fact sheet; Academy Class of 2026. af.mil; GPO; KOAA.
https://www.af.mil/About-Us/Fact-Sheets/Display/Article/104478/air-force-reserve-officer-training-corps/
https://www.af.mil/About-Us/Fact-Sheets/Display/Article/104479/officer-training-school/
https://govinfo.gov/content/pkg/GOVPUB-D301-PURL-LPS99239/pdf/GOVPUB-D301-PURL-LPS99239.pdf
https://www.koaa.com/news/local-news/air-force-academy-class-of-2026-by-the-numbers-facts-about-the-newest-officers
Note: The af.mil fact sheets were seen only as search snippets.
47. "8 Airmen needed for new human intelligence AFSC" (2015). Air Force Times.
https://www.airforcetimes.com/education-transition/jobs/2015/09/07/8-airmen-needed-for-new-human-intelligence-afsc/
48. Air Force fact sheets: U-2, RQ-4, MQ-9, RC-135 Rivet Joint, Cobra Ball, Combat Sent. af.mil.
https://www.af.mil/About-Us/Fact-Sheets/Display/Article/104560/u-2stu-2s/
https://www.af.mil/About-Us/Fact-Sheets/Display/Article/104608/rc-135vw-rivet-joint/
https://www.af.mil/About-Us/Fact-Sheets/Display/Article/104495/rc-135u-combat-sent/
Note: Seen through archived copies.
49. DoD China Military Power Report 2024; DAF FY2027 posture statement (Apr 2026). Department of Defense; House Appropriations.
https://web.archive.org/web/20251225084551/https://media.defense.gov/2024/Dec/18/2003615520/-1/-1/0/MILITARY-AND-SECURITY-DEVELOPMENTS-INVOLVING-THE-PEOPLES-REPUBLIC-OF-CHINA-2024.PDF
https://docs.house.gov/meetings/AP/AP02/20260430/119225/HHRG-119-AP02-Wstate-SaltzmanB-20260430.pdf
50. "Shaping Tomorrow’s ISR Warriors" (names the 14N Intelligence Officer Course at the 315th TRS), 2025. 17th Training Wing, via DVIDS.
https://www.dvidshub.net/news/printable/543491
51. DefenseScoop: Air Force splitting intelligence and cyber (Aug 2024; Sep 2024); Air Force establishes A6 (Jul 2025). DefenseScoop.
https://defensescoop.com/2024/08/28/air-force-splitting-up-intelligence-cyber-effects-organization/
https://defensescoop.com/2024/09/18/air-force-elevating-role-communications-networks/
https://defensescoop.com/2025/07/25/air-force-establishes-warfighter-communications-office-af-a6/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not part of the talk. It is kept at the end for reference.
Sun Tzu quotes match the Lionel Giles translation (1910): Chapter 1, "All warfare is based on deception," and Chapter 13, "Knowledge of the enemy’s dispositions can only be obtained from other men."
Churchill: the official U.S. minutes of the Tehran Conference (30 November 1943) record him saying "truth deserves a bodyguard of lies." The polished wording on the slide, "In wartime, truth is so precious that she should always be attended by a bodyguard of lies," comes from his later memoir, "Closing the Ring." [Source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4"/>
        </a:solidFill>
      </p:bgPr>
    </p:bg>
    <p:spTree>
      <p:nvGrpSpPr>
        <p:cNvPr id="1" name=""/>
        <p:cNvGrpSpPr/>
        <p:nvPr/>
      </p:nvGrpSpPr>
      <p:grpSpPr>
        <a:xfrm>
          <a:off x="0" y="0"/>
          <a:ext cx="0" cy="0"/>
          <a:chOff x="0" y="0"/>
          <a:chExt cx="0" cy="0"/>
        </a:xfrm>
      </p:grpSpPr>
      <p:sp>
        <p:nvSpPr>
          <p:cNvPr id="3" name="Shape 0"/>
          <p:cNvSpPr/>
          <p:nvPr/>
        </p:nvSpPr>
        <p:spPr>
          <a:xfrm>
            <a:off x="8503920" y="-2377440"/>
            <a:ext cx="6583680" cy="6583680"/>
          </a:xfrm>
          <a:prstGeom prst="ellipse">
            <a:avLst/>
          </a:prstGeom>
          <a:solidFill>
            <a:srgbClr val="12284B"/>
          </a:solidFill>
          <a:ln w="12700">
            <a:solidFill>
              <a:srgbClr val="12284B"/>
            </a:solidFill>
            <a:prstDash val="solid"/>
          </a:ln>
        </p:spPr>
      </p:sp>
      <p:sp>
        <p:nvSpPr>
          <p:cNvPr id="4" name="Shape 1"/>
          <p:cNvSpPr/>
          <p:nvPr/>
        </p:nvSpPr>
        <p:spPr>
          <a:xfrm>
            <a:off x="9692640" y="-1188720"/>
            <a:ext cx="4206240" cy="4206240"/>
          </a:xfrm>
          <a:prstGeom prst="ellipse">
            <a:avLst/>
          </a:prstGeom>
          <a:solidFill>
            <a:srgbClr val="17325C"/>
          </a:solidFill>
          <a:ln w="12700">
            <a:solidFill>
              <a:srgbClr val="17325C"/>
            </a:solidFill>
            <a:prstDash val="solid"/>
          </a:ln>
        </p:spPr>
      </p:sp>
      <p:sp>
        <p:nvSpPr>
          <p:cNvPr id="5" name="Shape 2"/>
          <p:cNvSpPr/>
          <p:nvPr/>
        </p:nvSpPr>
        <p:spPr>
          <a:xfrm>
            <a:off x="548640" y="411480"/>
            <a:ext cx="566928" cy="566928"/>
          </a:xfrm>
          <a:prstGeom prst="ellipse">
            <a:avLst/>
          </a:prstGeom>
          <a:solidFill>
            <a:srgbClr val="12284B"/>
          </a:solidFill>
          <a:ln w="12700">
            <a:solidFill>
              <a:srgbClr val="12284B"/>
            </a:solidFill>
            <a:prstDash val="solid"/>
          </a:ln>
        </p:spPr>
      </p:sp>
      <p:pic>
        <p:nvPicPr>
          <p:cNvPr id="6" name="Image 0" descr="C:\Users\Trey\AppData\Local\Temp\claude\c--Projects-astral-project-src-pages-theknowledgebase\594bbb08-08fe-467c-99d2-4fe53cb86141\scratchpad\brief14n\icons\compass_gold.png">    </p:cNvPr>
          <p:cNvPicPr>
            <a:picLocks noChangeAspect="1"/>
          </p:cNvPicPr>
          <p:nvPr/>
        </p:nvPicPr>
        <p:blipFill>
          <a:blip r:embed="rId1"/>
          <a:stretch>
            <a:fillRect/>
          </a:stretch>
        </p:blipFill>
        <p:spPr>
          <a:xfrm>
            <a:off x="679033" y="541873"/>
            <a:ext cx="306141" cy="306141"/>
          </a:xfrm>
          <a:prstGeom prst="rect">
            <a:avLst/>
          </a:prstGeom>
        </p:spPr>
      </p:pic>
      <p:sp>
        <p:nvSpPr>
          <p:cNvPr id="7" name="Text 3"/>
          <p:cNvSpPr txBox="1"/>
          <p:nvPr/>
        </p:nvSpPr>
        <p:spPr>
          <a:xfrm>
            <a:off x="1280160" y="502920"/>
            <a:ext cx="7315200" cy="411480"/>
          </a:xfrm>
          <a:prstGeom prst="rect">
            <a:avLst/>
          </a:prstGeom>
          <a:noFill/>
          <a:ln/>
        </p:spPr>
        <p:txBody>
          <a:bodyPr wrap="square" lIns="0" tIns="0" rIns="0" bIns="0" rtlCol="0" anchor="ctr"/>
          <a:lstStyle/>
          <a:p>
            <a:pPr indent="0" marL="0">
              <a:buNone/>
            </a:pPr>
            <a:r>
              <a:rPr lang="en-US" sz="1300" b="1" spc="300" kern="0" dirty="0">
                <a:solidFill>
                  <a:srgbClr val="FFC72C"/>
                </a:solidFill>
                <a:latin typeface="Calibri" pitchFamily="34" charset="0"/>
                <a:ea typeface="Calibri" pitchFamily="34" charset="-122"/>
                <a:cs typeface="Calibri" pitchFamily="34" charset="-120"/>
              </a:rPr>
              <a:t>AFROTC  ·  CAREER FIELD BRIEFING</a:t>
            </a:r>
            <a:endParaRPr lang="en-US" sz="1300" dirty="0"/>
          </a:p>
        </p:txBody>
      </p:sp>
      <p:sp>
        <p:nvSpPr>
          <p:cNvPr id="8" name="Text 4"/>
          <p:cNvSpPr txBox="1"/>
          <p:nvPr/>
        </p:nvSpPr>
        <p:spPr>
          <a:xfrm>
            <a:off x="548640" y="1920240"/>
            <a:ext cx="8229600" cy="219456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Air Force</a:t>
            </a:r>
            <a:endParaRPr lang="en-US" sz="6000" dirty="0"/>
          </a:p>
          <a:p>
            <a:pPr indent="0" marL="0">
              <a:buNone/>
            </a:pPr>
            <a:r>
              <a:rPr lang="en-US" sz="6000" b="1" dirty="0">
                <a:solidFill>
                  <a:srgbClr val="FFFFFF"/>
                </a:solidFill>
                <a:latin typeface="Cambria" pitchFamily="34" charset="0"/>
                <a:ea typeface="Cambria" pitchFamily="34" charset="-122"/>
                <a:cs typeface="Cambria" pitchFamily="34" charset="-120"/>
              </a:rPr>
              <a:t>Intelligence</a:t>
            </a:r>
            <a:endParaRPr lang="en-US" sz="6000" dirty="0"/>
          </a:p>
        </p:txBody>
      </p:sp>
      <p:sp>
        <p:nvSpPr>
          <p:cNvPr id="9" name="Text 5"/>
          <p:cNvSpPr txBox="1"/>
          <p:nvPr/>
        </p:nvSpPr>
        <p:spPr>
          <a:xfrm>
            <a:off x="548640" y="4251960"/>
            <a:ext cx="8686800" cy="457200"/>
          </a:xfrm>
          <a:prstGeom prst="rect">
            <a:avLst/>
          </a:prstGeom>
          <a:noFill/>
          <a:ln/>
        </p:spPr>
        <p:txBody>
          <a:bodyPr wrap="square" lIns="0" tIns="0" rIns="0" bIns="0" rtlCol="0" anchor="ctr"/>
          <a:lstStyle/>
          <a:p>
            <a:pPr indent="0" marL="0">
              <a:buNone/>
            </a:pPr>
            <a:r>
              <a:rPr lang="en-US" sz="2000" i="1" dirty="0">
                <a:solidFill>
                  <a:srgbClr val="8CA3C7"/>
                </a:solidFill>
                <a:latin typeface="Calibri" pitchFamily="34" charset="0"/>
                <a:ea typeface="Calibri" pitchFamily="34" charset="-122"/>
                <a:cs typeface="Calibri" pitchFamily="34" charset="-120"/>
              </a:rPr>
              <a:t>Eyes, ears, and analysis behind every Air Force mission</a:t>
            </a:r>
            <a:endParaRPr lang="en-US" sz="2000" dirty="0"/>
          </a:p>
        </p:txBody>
      </p:sp>
      <p:sp>
        <p:nvSpPr>
          <p:cNvPr id="10" name="Text 6"/>
          <p:cNvSpPr txBox="1"/>
          <p:nvPr/>
        </p:nvSpPr>
        <p:spPr>
          <a:xfrm>
            <a:off x="548640" y="6263640"/>
            <a:ext cx="8229600" cy="320040"/>
          </a:xfrm>
          <a:prstGeom prst="rect">
            <a:avLst/>
          </a:prstGeom>
          <a:noFill/>
          <a:ln/>
        </p:spPr>
        <p:txBody>
          <a:bodyPr wrap="square" lIns="0" tIns="0" rIns="0" bIns="0" rtlCol="0" anchor="ctr"/>
          <a:lstStyle/>
          <a:p>
            <a:pPr indent="0" marL="0">
              <a:buNone/>
            </a:pPr>
            <a:r>
              <a:rPr lang="en-US" sz="1100" dirty="0">
                <a:solidFill>
                  <a:srgbClr val="8CA3C7"/>
                </a:solidFill>
                <a:latin typeface="Calibri" pitchFamily="34" charset="0"/>
                <a:ea typeface="Calibri" pitchFamily="34" charset="-122"/>
                <a:cs typeface="Calibri" pitchFamily="34" charset="-120"/>
              </a:rPr>
              <a:t>Presented for AFROTC  ·  3–4 minute career-field overview</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8229600" cy="320040"/>
          </a:xfrm>
          <a:prstGeom prst="rect">
            <a:avLst/>
          </a:prstGeom>
          <a:noFill/>
          <a:ln/>
        </p:spPr>
        <p:txBody>
          <a:bodyPr wrap="square" lIns="0" tIns="0" rIns="0" bIns="0" rtlCol="0" anchor="ctr"/>
          <a:lstStyle/>
          <a:p>
            <a:pPr indent="0" marL="0">
              <a:buNone/>
            </a:pPr>
            <a:r>
              <a:rPr lang="en-US" sz="1300" b="1" spc="300" kern="0" dirty="0">
                <a:solidFill>
                  <a:srgbClr val="FFC72C"/>
                </a:solidFill>
                <a:latin typeface="Calibri" pitchFamily="34" charset="0"/>
                <a:ea typeface="Calibri" pitchFamily="34" charset="-122"/>
                <a:cs typeface="Calibri" pitchFamily="34" charset="-120"/>
              </a:rPr>
              <a:t>OVERVIEW</a:t>
            </a:r>
            <a:endParaRPr lang="en-US" sz="1300" dirty="0"/>
          </a:p>
        </p:txBody>
      </p:sp>
      <p:sp>
        <p:nvSpPr>
          <p:cNvPr id="4"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200" b="1" dirty="0">
                <a:solidFill>
                  <a:srgbClr val="12284B"/>
                </a:solidFill>
                <a:latin typeface="Cambria" pitchFamily="34" charset="0"/>
                <a:ea typeface="Cambria" pitchFamily="34" charset="-122"/>
                <a:cs typeface="Cambria" pitchFamily="34" charset="-120"/>
              </a:rPr>
              <a:t>What we’ll cover</a:t>
            </a:r>
            <a:endParaRPr lang="en-US" sz="3200" dirty="0"/>
          </a:p>
        </p:txBody>
      </p:sp>
      <p:sp>
        <p:nvSpPr>
          <p:cNvPr id="5" name="Text 2"/>
          <p:cNvSpPr txBox="1"/>
          <p:nvPr/>
        </p:nvSpPr>
        <p:spPr>
          <a:xfrm>
            <a:off x="11155680" y="6400800"/>
            <a:ext cx="731520" cy="274320"/>
          </a:xfrm>
          <a:prstGeom prst="rect">
            <a:avLst/>
          </a:prstGeom>
          <a:noFill/>
          <a:ln/>
        </p:spPr>
        <p:txBody>
          <a:bodyPr wrap="square" lIns="0" tIns="0" rIns="0" bIns="0" rtlCol="0" anchor="ctr"/>
          <a:lstStyle/>
          <a:p>
            <a:pPr algn="r" indent="0" marL="0">
              <a:buNone/>
            </a:pPr>
            <a:r>
              <a:rPr lang="en-US" sz="900" dirty="0">
                <a:solidFill>
                  <a:srgbClr val="5C6B82"/>
                </a:solidFill>
                <a:latin typeface="Calibri" pitchFamily="34" charset="0"/>
                <a:ea typeface="Calibri" pitchFamily="34" charset="-122"/>
                <a:cs typeface="Calibri" pitchFamily="34" charset="-120"/>
              </a:rPr>
              <a:t>02</a:t>
            </a:r>
            <a:endParaRPr lang="en-US" sz="900" dirty="0"/>
          </a:p>
        </p:txBody>
      </p:sp>
      <p:sp>
        <p:nvSpPr>
          <p:cNvPr id="6" name="Shape 3"/>
          <p:cNvSpPr/>
          <p:nvPr/>
        </p:nvSpPr>
        <p:spPr>
          <a:xfrm>
            <a:off x="548640" y="1783080"/>
            <a:ext cx="3520440" cy="1737360"/>
          </a:xfrm>
          <a:prstGeom prst="roundRect">
            <a:avLst>
              <a:gd name="adj" fmla="val 4211"/>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7" name="Shape 4"/>
          <p:cNvSpPr/>
          <p:nvPr/>
        </p:nvSpPr>
        <p:spPr>
          <a:xfrm>
            <a:off x="804672" y="2039112"/>
            <a:ext cx="566928" cy="566928"/>
          </a:xfrm>
          <a:prstGeom prst="ellipse">
            <a:avLst/>
          </a:prstGeom>
          <a:solidFill>
            <a:srgbClr val="12284B"/>
          </a:solidFill>
          <a:ln w="12700">
            <a:solidFill>
              <a:srgbClr val="12284B"/>
            </a:solidFill>
            <a:prstDash val="solid"/>
          </a:ln>
        </p:spPr>
      </p:sp>
      <p:pic>
        <p:nvPicPr>
          <p:cNvPr id="8" name="Image 0" descr="C:\Users\Trey\AppData\Local\Temp\claude\c--Projects-astral-project-src-pages-theknowledgebase\594bbb08-08fe-467c-99d2-4fe53cb86141\scratchpad\brief14n\icons\compass_gold.png">    </p:cNvPr>
          <p:cNvPicPr>
            <a:picLocks noChangeAspect="1"/>
          </p:cNvPicPr>
          <p:nvPr/>
        </p:nvPicPr>
        <p:blipFill>
          <a:blip r:embed="rId1"/>
          <a:stretch>
            <a:fillRect/>
          </a:stretch>
        </p:blipFill>
        <p:spPr>
          <a:xfrm>
            <a:off x="935065" y="2169505"/>
            <a:ext cx="306141" cy="306141"/>
          </a:xfrm>
          <a:prstGeom prst="rect">
            <a:avLst/>
          </a:prstGeom>
        </p:spPr>
      </p:pic>
      <p:sp>
        <p:nvSpPr>
          <p:cNvPr id="9" name="Text 5"/>
          <p:cNvSpPr txBox="1"/>
          <p:nvPr/>
        </p:nvSpPr>
        <p:spPr>
          <a:xfrm>
            <a:off x="1554480" y="2039112"/>
            <a:ext cx="2331720" cy="566928"/>
          </a:xfrm>
          <a:prstGeom prst="rect">
            <a:avLst/>
          </a:prstGeom>
          <a:noFill/>
          <a:ln/>
        </p:spPr>
        <p:txBody>
          <a:bodyPr wrap="square" lIns="0" tIns="0" rIns="0" bIns="0" rtlCol="0" anchor="ctr"/>
          <a:lstStyle/>
          <a:p>
            <a:pPr indent="0" marL="0">
              <a:buNone/>
            </a:pPr>
            <a:r>
              <a:rPr lang="en-US" sz="1700" b="1" dirty="0">
                <a:solidFill>
                  <a:srgbClr val="12284B"/>
                </a:solidFill>
                <a:latin typeface="Calibri" pitchFamily="34" charset="0"/>
                <a:ea typeface="Calibri" pitchFamily="34" charset="-122"/>
                <a:cs typeface="Calibri" pitchFamily="34" charset="-120"/>
              </a:rPr>
              <a:t>Main Role</a:t>
            </a:r>
            <a:endParaRPr lang="en-US" sz="1700" dirty="0"/>
          </a:p>
        </p:txBody>
      </p:sp>
      <p:sp>
        <p:nvSpPr>
          <p:cNvPr id="10" name="Text 6"/>
          <p:cNvSpPr txBox="1"/>
          <p:nvPr/>
        </p:nvSpPr>
        <p:spPr>
          <a:xfrm>
            <a:off x="804672" y="2788920"/>
            <a:ext cx="3008376" cy="594360"/>
          </a:xfrm>
          <a:prstGeom prst="rect">
            <a:avLst/>
          </a:prstGeom>
          <a:noFill/>
          <a:ln/>
        </p:spPr>
        <p:txBody>
          <a:bodyPr wrap="square" lIns="0" tIns="0" rIns="0" bIns="0" rtlCol="0" anchor="t"/>
          <a:lstStyle/>
          <a:p>
            <a:pPr indent="0" marL="0">
              <a:buNone/>
            </a:pPr>
            <a:r>
              <a:rPr lang="en-US" sz="1300" dirty="0">
                <a:solidFill>
                  <a:srgbClr val="5C6B82"/>
                </a:solidFill>
                <a:latin typeface="Calibri" pitchFamily="34" charset="0"/>
                <a:ea typeface="Calibri" pitchFamily="34" charset="-122"/>
                <a:cs typeface="Calibri" pitchFamily="34" charset="-120"/>
              </a:rPr>
              <a:t>What intelligence officers do and why the Air Force needs them</a:t>
            </a:r>
            <a:endParaRPr lang="en-US" sz="1300" dirty="0"/>
          </a:p>
        </p:txBody>
      </p:sp>
      <p:sp>
        <p:nvSpPr>
          <p:cNvPr id="11" name="Shape 7"/>
          <p:cNvSpPr/>
          <p:nvPr/>
        </p:nvSpPr>
        <p:spPr>
          <a:xfrm>
            <a:off x="4325112" y="1783080"/>
            <a:ext cx="3520440" cy="1737360"/>
          </a:xfrm>
          <a:prstGeom prst="roundRect">
            <a:avLst>
              <a:gd name="adj" fmla="val 4211"/>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12" name="Shape 8"/>
          <p:cNvSpPr/>
          <p:nvPr/>
        </p:nvSpPr>
        <p:spPr>
          <a:xfrm>
            <a:off x="4581144" y="2039112"/>
            <a:ext cx="566928" cy="566928"/>
          </a:xfrm>
          <a:prstGeom prst="ellipse">
            <a:avLst/>
          </a:prstGeom>
          <a:solidFill>
            <a:srgbClr val="12284B"/>
          </a:solidFill>
          <a:ln w="12700">
            <a:solidFill>
              <a:srgbClr val="12284B"/>
            </a:solidFill>
            <a:prstDash val="solid"/>
          </a:ln>
        </p:spPr>
      </p:sp>
      <p:pic>
        <p:nvPicPr>
          <p:cNvPr id="13" name="Image 1" descr="C:\Users\Trey\AppData\Local\Temp\claude\c--Projects-astral-project-src-pages-theknowledgebase\594bbb08-08fe-467c-99d2-4fe53cb86141\scratchpad\brief14n\icons\globe_gold.png">    </p:cNvPr>
          <p:cNvPicPr>
            <a:picLocks noChangeAspect="1"/>
          </p:cNvPicPr>
          <p:nvPr/>
        </p:nvPicPr>
        <p:blipFill>
          <a:blip r:embed="rId2"/>
          <a:stretch>
            <a:fillRect/>
          </a:stretch>
        </p:blipFill>
        <p:spPr>
          <a:xfrm>
            <a:off x="4711537" y="2169505"/>
            <a:ext cx="306141" cy="306141"/>
          </a:xfrm>
          <a:prstGeom prst="rect">
            <a:avLst/>
          </a:prstGeom>
        </p:spPr>
      </p:pic>
      <p:sp>
        <p:nvSpPr>
          <p:cNvPr id="14" name="Text 9"/>
          <p:cNvSpPr txBox="1"/>
          <p:nvPr/>
        </p:nvSpPr>
        <p:spPr>
          <a:xfrm>
            <a:off x="5330952" y="2039112"/>
            <a:ext cx="2331720" cy="566928"/>
          </a:xfrm>
          <a:prstGeom prst="rect">
            <a:avLst/>
          </a:prstGeom>
          <a:noFill/>
          <a:ln/>
        </p:spPr>
        <p:txBody>
          <a:bodyPr wrap="square" lIns="0" tIns="0" rIns="0" bIns="0" rtlCol="0" anchor="ctr"/>
          <a:lstStyle/>
          <a:p>
            <a:pPr indent="0" marL="0">
              <a:buNone/>
            </a:pPr>
            <a:r>
              <a:rPr lang="en-US" sz="1700" b="1" dirty="0">
                <a:solidFill>
                  <a:srgbClr val="12284B"/>
                </a:solidFill>
                <a:latin typeface="Calibri" pitchFamily="34" charset="0"/>
                <a:ea typeface="Calibri" pitchFamily="34" charset="-122"/>
                <a:cs typeface="Calibri" pitchFamily="34" charset="-120"/>
              </a:rPr>
              <a:t>Specialization</a:t>
            </a:r>
            <a:endParaRPr lang="en-US" sz="1700" dirty="0"/>
          </a:p>
        </p:txBody>
      </p:sp>
      <p:sp>
        <p:nvSpPr>
          <p:cNvPr id="15" name="Text 10"/>
          <p:cNvSpPr txBox="1"/>
          <p:nvPr/>
        </p:nvSpPr>
        <p:spPr>
          <a:xfrm>
            <a:off x="4581144" y="2788920"/>
            <a:ext cx="3008376" cy="594360"/>
          </a:xfrm>
          <a:prstGeom prst="rect">
            <a:avLst/>
          </a:prstGeom>
          <a:noFill/>
          <a:ln/>
        </p:spPr>
        <p:txBody>
          <a:bodyPr wrap="square" lIns="0" tIns="0" rIns="0" bIns="0" rtlCol="0" anchor="t"/>
          <a:lstStyle/>
          <a:p>
            <a:pPr indent="0" marL="0">
              <a:buNone/>
            </a:pPr>
            <a:r>
              <a:rPr lang="en-US" sz="1300" dirty="0">
                <a:solidFill>
                  <a:srgbClr val="5C6B82"/>
                </a:solidFill>
                <a:latin typeface="Calibri" pitchFamily="34" charset="0"/>
                <a:ea typeface="Calibri" pitchFamily="34" charset="-122"/>
                <a:cs typeface="Calibri" pitchFamily="34" charset="-120"/>
              </a:rPr>
              <a:t>The five INTs and the four areas a 14N builds depth in</a:t>
            </a:r>
            <a:endParaRPr lang="en-US" sz="1300" dirty="0"/>
          </a:p>
        </p:txBody>
      </p:sp>
      <p:sp>
        <p:nvSpPr>
          <p:cNvPr id="16" name="Shape 11"/>
          <p:cNvSpPr/>
          <p:nvPr/>
        </p:nvSpPr>
        <p:spPr>
          <a:xfrm>
            <a:off x="8101584" y="1783080"/>
            <a:ext cx="3520440" cy="1737360"/>
          </a:xfrm>
          <a:prstGeom prst="roundRect">
            <a:avLst>
              <a:gd name="adj" fmla="val 4211"/>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17" name="Shape 12"/>
          <p:cNvSpPr/>
          <p:nvPr/>
        </p:nvSpPr>
        <p:spPr>
          <a:xfrm>
            <a:off x="8357616" y="2039112"/>
            <a:ext cx="566928" cy="566928"/>
          </a:xfrm>
          <a:prstGeom prst="ellipse">
            <a:avLst/>
          </a:prstGeom>
          <a:solidFill>
            <a:srgbClr val="12284B"/>
          </a:solidFill>
          <a:ln w="12700">
            <a:solidFill>
              <a:srgbClr val="12284B"/>
            </a:solidFill>
            <a:prstDash val="solid"/>
          </a:ln>
        </p:spPr>
      </p:sp>
      <p:pic>
        <p:nvPicPr>
          <p:cNvPr id="18" name="Image 2" descr="C:\Users\Trey\AppData\Local\Temp\claude\c--Projects-astral-project-src-pages-theknowledgebase\594bbb08-08fe-467c-99d2-4fe53cb86141\scratchpad\brief14n\icons\gradcap_gold.png">    </p:cNvPr>
          <p:cNvPicPr>
            <a:picLocks noChangeAspect="1"/>
          </p:cNvPicPr>
          <p:nvPr/>
        </p:nvPicPr>
        <p:blipFill>
          <a:blip r:embed="rId3"/>
          <a:stretch>
            <a:fillRect/>
          </a:stretch>
        </p:blipFill>
        <p:spPr>
          <a:xfrm>
            <a:off x="8488009" y="2169505"/>
            <a:ext cx="306141" cy="306141"/>
          </a:xfrm>
          <a:prstGeom prst="rect">
            <a:avLst/>
          </a:prstGeom>
        </p:spPr>
      </p:pic>
      <p:sp>
        <p:nvSpPr>
          <p:cNvPr id="19" name="Text 13"/>
          <p:cNvSpPr txBox="1"/>
          <p:nvPr/>
        </p:nvSpPr>
        <p:spPr>
          <a:xfrm>
            <a:off x="9107424" y="2039112"/>
            <a:ext cx="2331720" cy="566928"/>
          </a:xfrm>
          <a:prstGeom prst="rect">
            <a:avLst/>
          </a:prstGeom>
          <a:noFill/>
          <a:ln/>
        </p:spPr>
        <p:txBody>
          <a:bodyPr wrap="square" lIns="0" tIns="0" rIns="0" bIns="0" rtlCol="0" anchor="ctr"/>
          <a:lstStyle/>
          <a:p>
            <a:pPr indent="0" marL="0">
              <a:buNone/>
            </a:pPr>
            <a:r>
              <a:rPr lang="en-US" sz="1700" b="1" dirty="0">
                <a:solidFill>
                  <a:srgbClr val="12284B"/>
                </a:solidFill>
                <a:latin typeface="Calibri" pitchFamily="34" charset="0"/>
                <a:ea typeface="Calibri" pitchFamily="34" charset="-122"/>
                <a:cs typeface="Calibri" pitchFamily="34" charset="-120"/>
              </a:rPr>
              <a:t>Becoming an Officer</a:t>
            </a:r>
            <a:endParaRPr lang="en-US" sz="1700" dirty="0"/>
          </a:p>
        </p:txBody>
      </p:sp>
      <p:sp>
        <p:nvSpPr>
          <p:cNvPr id="20" name="Text 14"/>
          <p:cNvSpPr txBox="1"/>
          <p:nvPr/>
        </p:nvSpPr>
        <p:spPr>
          <a:xfrm>
            <a:off x="8357616" y="2788920"/>
            <a:ext cx="3008376" cy="594360"/>
          </a:xfrm>
          <a:prstGeom prst="rect">
            <a:avLst/>
          </a:prstGeom>
          <a:noFill/>
          <a:ln/>
        </p:spPr>
        <p:txBody>
          <a:bodyPr wrap="square" lIns="0" tIns="0" rIns="0" bIns="0" rtlCol="0" anchor="t"/>
          <a:lstStyle/>
          <a:p>
            <a:pPr indent="0" marL="0">
              <a:buNone/>
            </a:pPr>
            <a:r>
              <a:rPr lang="en-US" sz="1300" dirty="0">
                <a:solidFill>
                  <a:srgbClr val="5C6B82"/>
                </a:solidFill>
                <a:latin typeface="Calibri" pitchFamily="34" charset="0"/>
                <a:ea typeface="Calibri" pitchFamily="34" charset="-122"/>
                <a:cs typeface="Calibri" pitchFamily="34" charset="-120"/>
              </a:rPr>
              <a:t>Commissioning, clearance, and the training pipeline</a:t>
            </a:r>
            <a:endParaRPr lang="en-US" sz="1300" dirty="0"/>
          </a:p>
        </p:txBody>
      </p:sp>
      <p:sp>
        <p:nvSpPr>
          <p:cNvPr id="21" name="Shape 15"/>
          <p:cNvSpPr/>
          <p:nvPr/>
        </p:nvSpPr>
        <p:spPr>
          <a:xfrm>
            <a:off x="548640" y="3794760"/>
            <a:ext cx="3520440" cy="1737360"/>
          </a:xfrm>
          <a:prstGeom prst="roundRect">
            <a:avLst>
              <a:gd name="adj" fmla="val 4211"/>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22" name="Shape 16"/>
          <p:cNvSpPr/>
          <p:nvPr/>
        </p:nvSpPr>
        <p:spPr>
          <a:xfrm>
            <a:off x="804672" y="4050792"/>
            <a:ext cx="566928" cy="566928"/>
          </a:xfrm>
          <a:prstGeom prst="ellipse">
            <a:avLst/>
          </a:prstGeom>
          <a:solidFill>
            <a:srgbClr val="12284B"/>
          </a:solidFill>
          <a:ln w="12700">
            <a:solidFill>
              <a:srgbClr val="12284B"/>
            </a:solidFill>
            <a:prstDash val="solid"/>
          </a:ln>
        </p:spPr>
      </p:sp>
      <p:pic>
        <p:nvPicPr>
          <p:cNvPr id="23" name="Image 3" descr="C:\Users\Trey\AppData\Local\Temp\claude\c--Projects-astral-project-src-pages-theknowledgebase\594bbb08-08fe-467c-99d2-4fe53cb86141\scratchpad\brief14n\icons\users_gold.png">    </p:cNvPr>
          <p:cNvPicPr>
            <a:picLocks noChangeAspect="1"/>
          </p:cNvPicPr>
          <p:nvPr/>
        </p:nvPicPr>
        <p:blipFill>
          <a:blip r:embed="rId4"/>
          <a:stretch>
            <a:fillRect/>
          </a:stretch>
        </p:blipFill>
        <p:spPr>
          <a:xfrm>
            <a:off x="935065" y="4181185"/>
            <a:ext cx="306141" cy="306141"/>
          </a:xfrm>
          <a:prstGeom prst="rect">
            <a:avLst/>
          </a:prstGeom>
        </p:spPr>
      </p:pic>
      <p:sp>
        <p:nvSpPr>
          <p:cNvPr id="24" name="Text 17"/>
          <p:cNvSpPr txBox="1"/>
          <p:nvPr/>
        </p:nvSpPr>
        <p:spPr>
          <a:xfrm>
            <a:off x="1554480" y="4050792"/>
            <a:ext cx="2331720" cy="566928"/>
          </a:xfrm>
          <a:prstGeom prst="rect">
            <a:avLst/>
          </a:prstGeom>
          <a:noFill/>
          <a:ln/>
        </p:spPr>
        <p:txBody>
          <a:bodyPr wrap="square" lIns="0" tIns="0" rIns="0" bIns="0" rtlCol="0" anchor="ctr"/>
          <a:lstStyle/>
          <a:p>
            <a:pPr indent="0" marL="0">
              <a:buNone/>
            </a:pPr>
            <a:r>
              <a:rPr lang="en-US" sz="1700" b="1" dirty="0">
                <a:solidFill>
                  <a:srgbClr val="12284B"/>
                </a:solidFill>
                <a:latin typeface="Calibri" pitchFamily="34" charset="0"/>
                <a:ea typeface="Calibri" pitchFamily="34" charset="-122"/>
                <a:cs typeface="Calibri" pitchFamily="34" charset="-120"/>
              </a:rPr>
              <a:t>The Team</a:t>
            </a:r>
            <a:endParaRPr lang="en-US" sz="1700" dirty="0"/>
          </a:p>
        </p:txBody>
      </p:sp>
      <p:sp>
        <p:nvSpPr>
          <p:cNvPr id="25" name="Text 18"/>
          <p:cNvSpPr txBox="1"/>
          <p:nvPr/>
        </p:nvSpPr>
        <p:spPr>
          <a:xfrm>
            <a:off x="804672" y="4800600"/>
            <a:ext cx="3008376" cy="594360"/>
          </a:xfrm>
          <a:prstGeom prst="rect">
            <a:avLst/>
          </a:prstGeom>
          <a:noFill/>
          <a:ln/>
        </p:spPr>
        <p:txBody>
          <a:bodyPr wrap="square" lIns="0" tIns="0" rIns="0" bIns="0" rtlCol="0" anchor="t"/>
          <a:lstStyle/>
          <a:p>
            <a:pPr indent="0" marL="0">
              <a:buNone/>
            </a:pPr>
            <a:r>
              <a:rPr lang="en-US" sz="1300" dirty="0">
                <a:solidFill>
                  <a:srgbClr val="5C6B82"/>
                </a:solidFill>
                <a:latin typeface="Calibri" pitchFamily="34" charset="0"/>
                <a:ea typeface="Calibri" pitchFamily="34" charset="-122"/>
                <a:cs typeface="Calibri" pitchFamily="34" charset="-120"/>
              </a:rPr>
              <a:t>The enlisted Airmen who work beside you</a:t>
            </a:r>
            <a:endParaRPr lang="en-US" sz="1300" dirty="0"/>
          </a:p>
        </p:txBody>
      </p:sp>
      <p:sp>
        <p:nvSpPr>
          <p:cNvPr id="26" name="Shape 19"/>
          <p:cNvSpPr/>
          <p:nvPr/>
        </p:nvSpPr>
        <p:spPr>
          <a:xfrm>
            <a:off x="4325112" y="3794760"/>
            <a:ext cx="3520440" cy="1737360"/>
          </a:xfrm>
          <a:prstGeom prst="roundRect">
            <a:avLst>
              <a:gd name="adj" fmla="val 4211"/>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27" name="Shape 20"/>
          <p:cNvSpPr/>
          <p:nvPr/>
        </p:nvSpPr>
        <p:spPr>
          <a:xfrm>
            <a:off x="4581144" y="4050792"/>
            <a:ext cx="566928" cy="566928"/>
          </a:xfrm>
          <a:prstGeom prst="ellipse">
            <a:avLst/>
          </a:prstGeom>
          <a:solidFill>
            <a:srgbClr val="12284B"/>
          </a:solidFill>
          <a:ln w="12700">
            <a:solidFill>
              <a:srgbClr val="12284B"/>
            </a:solidFill>
            <a:prstDash val="solid"/>
          </a:ln>
        </p:spPr>
      </p:sp>
      <p:pic>
        <p:nvPicPr>
          <p:cNvPr id="28" name="Image 4" descr="C:\Users\Trey\AppData\Local\Temp\claude\c--Projects-astral-project-src-pages-theknowledgebase\594bbb08-08fe-467c-99d2-4fe53cb86141\scratchpad\brief14n\icons\clipboard_gold.png">    </p:cNvPr>
          <p:cNvPicPr>
            <a:picLocks noChangeAspect="1"/>
          </p:cNvPicPr>
          <p:nvPr/>
        </p:nvPicPr>
        <p:blipFill>
          <a:blip r:embed="rId5"/>
          <a:stretch>
            <a:fillRect/>
          </a:stretch>
        </p:blipFill>
        <p:spPr>
          <a:xfrm>
            <a:off x="4711537" y="4181185"/>
            <a:ext cx="306141" cy="306141"/>
          </a:xfrm>
          <a:prstGeom prst="rect">
            <a:avLst/>
          </a:prstGeom>
        </p:spPr>
      </p:pic>
      <p:sp>
        <p:nvSpPr>
          <p:cNvPr id="29" name="Text 21"/>
          <p:cNvSpPr txBox="1"/>
          <p:nvPr/>
        </p:nvSpPr>
        <p:spPr>
          <a:xfrm>
            <a:off x="5330952" y="4050792"/>
            <a:ext cx="2331720" cy="566928"/>
          </a:xfrm>
          <a:prstGeom prst="rect">
            <a:avLst/>
          </a:prstGeom>
          <a:noFill/>
          <a:ln/>
        </p:spPr>
        <p:txBody>
          <a:bodyPr wrap="square" lIns="0" tIns="0" rIns="0" bIns="0" rtlCol="0" anchor="ctr"/>
          <a:lstStyle/>
          <a:p>
            <a:pPr indent="0" marL="0">
              <a:buNone/>
            </a:pPr>
            <a:r>
              <a:rPr lang="en-US" sz="1700" b="1" dirty="0">
                <a:solidFill>
                  <a:srgbClr val="12284B"/>
                </a:solidFill>
                <a:latin typeface="Calibri" pitchFamily="34" charset="0"/>
                <a:ea typeface="Calibri" pitchFamily="34" charset="-122"/>
                <a:cs typeface="Calibri" pitchFamily="34" charset="-120"/>
              </a:rPr>
              <a:t>A Day in the Life</a:t>
            </a:r>
            <a:endParaRPr lang="en-US" sz="1700" dirty="0"/>
          </a:p>
        </p:txBody>
      </p:sp>
      <p:sp>
        <p:nvSpPr>
          <p:cNvPr id="30" name="Text 22"/>
          <p:cNvSpPr txBox="1"/>
          <p:nvPr/>
        </p:nvSpPr>
        <p:spPr>
          <a:xfrm>
            <a:off x="4581144" y="4800600"/>
            <a:ext cx="3008376" cy="594360"/>
          </a:xfrm>
          <a:prstGeom prst="rect">
            <a:avLst/>
          </a:prstGeom>
          <a:noFill/>
          <a:ln/>
        </p:spPr>
        <p:txBody>
          <a:bodyPr wrap="square" lIns="0" tIns="0" rIns="0" bIns="0" rtlCol="0" anchor="t"/>
          <a:lstStyle/>
          <a:p>
            <a:pPr indent="0" marL="0">
              <a:buNone/>
            </a:pPr>
            <a:r>
              <a:rPr lang="en-US" sz="1300" dirty="0">
                <a:solidFill>
                  <a:srgbClr val="5C6B82"/>
                </a:solidFill>
                <a:latin typeface="Calibri" pitchFamily="34" charset="0"/>
                <a:ea typeface="Calibri" pitchFamily="34" charset="-122"/>
                <a:cs typeface="Calibri" pitchFamily="34" charset="-120"/>
              </a:rPr>
              <a:t>What the job looks like at a flying wing</a:t>
            </a:r>
            <a:endParaRPr lang="en-US" sz="1300" dirty="0"/>
          </a:p>
        </p:txBody>
      </p:sp>
      <p:sp>
        <p:nvSpPr>
          <p:cNvPr id="31" name="Shape 23"/>
          <p:cNvSpPr/>
          <p:nvPr/>
        </p:nvSpPr>
        <p:spPr>
          <a:xfrm>
            <a:off x="8101584" y="3794760"/>
            <a:ext cx="3520440" cy="1737360"/>
          </a:xfrm>
          <a:prstGeom prst="roundRect">
            <a:avLst>
              <a:gd name="adj" fmla="val 4211"/>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32" name="Shape 24"/>
          <p:cNvSpPr/>
          <p:nvPr/>
        </p:nvSpPr>
        <p:spPr>
          <a:xfrm>
            <a:off x="8357616" y="4050792"/>
            <a:ext cx="566928" cy="566928"/>
          </a:xfrm>
          <a:prstGeom prst="ellipse">
            <a:avLst/>
          </a:prstGeom>
          <a:solidFill>
            <a:srgbClr val="12284B"/>
          </a:solidFill>
          <a:ln w="12700">
            <a:solidFill>
              <a:srgbClr val="12284B"/>
            </a:solidFill>
            <a:prstDash val="solid"/>
          </a:ln>
        </p:spPr>
      </p:sp>
      <p:pic>
        <p:nvPicPr>
          <p:cNvPr id="33" name="Image 5" descr="C:\Users\Trey\AppData\Local\Temp\claude\c--Projects-astral-project-src-pages-theknowledgebase\594bbb08-08fe-467c-99d2-4fe53cb86141\scratchpad\brief14n\icons\medal_gold.png">    </p:cNvPr>
          <p:cNvPicPr>
            <a:picLocks noChangeAspect="1"/>
          </p:cNvPicPr>
          <p:nvPr/>
        </p:nvPicPr>
        <p:blipFill>
          <a:blip r:embed="rId6"/>
          <a:stretch>
            <a:fillRect/>
          </a:stretch>
        </p:blipFill>
        <p:spPr>
          <a:xfrm>
            <a:off x="8488009" y="4181185"/>
            <a:ext cx="306141" cy="306141"/>
          </a:xfrm>
          <a:prstGeom prst="rect">
            <a:avLst/>
          </a:prstGeom>
        </p:spPr>
      </p:pic>
      <p:sp>
        <p:nvSpPr>
          <p:cNvPr id="34" name="Text 25"/>
          <p:cNvSpPr txBox="1"/>
          <p:nvPr/>
        </p:nvSpPr>
        <p:spPr>
          <a:xfrm>
            <a:off x="9107424" y="4050792"/>
            <a:ext cx="2331720" cy="566928"/>
          </a:xfrm>
          <a:prstGeom prst="rect">
            <a:avLst/>
          </a:prstGeom>
          <a:noFill/>
          <a:ln/>
        </p:spPr>
        <p:txBody>
          <a:bodyPr wrap="square" lIns="0" tIns="0" rIns="0" bIns="0" rtlCol="0" anchor="ctr"/>
          <a:lstStyle/>
          <a:p>
            <a:pPr indent="0" marL="0">
              <a:buNone/>
            </a:pPr>
            <a:r>
              <a:rPr lang="en-US" sz="1700" b="1" dirty="0">
                <a:solidFill>
                  <a:srgbClr val="12284B"/>
                </a:solidFill>
                <a:latin typeface="Calibri" pitchFamily="34" charset="0"/>
                <a:ea typeface="Calibri" pitchFamily="34" charset="-122"/>
                <a:cs typeface="Calibri" pitchFamily="34" charset="-120"/>
              </a:rPr>
              <a:t>Career &amp; Impact</a:t>
            </a:r>
            <a:endParaRPr lang="en-US" sz="1700" dirty="0"/>
          </a:p>
        </p:txBody>
      </p:sp>
      <p:sp>
        <p:nvSpPr>
          <p:cNvPr id="35" name="Text 26"/>
          <p:cNvSpPr txBox="1"/>
          <p:nvPr/>
        </p:nvSpPr>
        <p:spPr>
          <a:xfrm>
            <a:off x="8357616" y="4800600"/>
            <a:ext cx="3008376" cy="594360"/>
          </a:xfrm>
          <a:prstGeom prst="rect">
            <a:avLst/>
          </a:prstGeom>
          <a:noFill/>
          <a:ln/>
        </p:spPr>
        <p:txBody>
          <a:bodyPr wrap="square" lIns="0" tIns="0" rIns="0" bIns="0" rtlCol="0" anchor="t"/>
          <a:lstStyle/>
          <a:p>
            <a:pPr indent="0" marL="0">
              <a:buNone/>
            </a:pPr>
            <a:r>
              <a:rPr lang="en-US" sz="1300" dirty="0">
                <a:solidFill>
                  <a:srgbClr val="5C6B82"/>
                </a:solidFill>
                <a:latin typeface="Calibri" pitchFamily="34" charset="0"/>
                <a:ea typeface="Calibri" pitchFamily="34" charset="-122"/>
                <a:cs typeface="Calibri" pitchFamily="34" charset="-120"/>
              </a:rPr>
              <a:t>Where intelligence fits in the Air Force and why it matters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B34"/>
        </a:solidFill>
      </p:bgPr>
    </p:bg>
    <p:spTree>
      <p:nvGrpSpPr>
        <p:cNvPr id="1" name=""/>
        <p:cNvGrpSpPr/>
        <p:nvPr/>
      </p:nvGrpSpPr>
      <p:grpSpPr>
        <a:xfrm>
          <a:off x="0" y="0"/>
          <a:ext cx="0" cy="0"/>
          <a:chOff x="0" y="0"/>
          <a:chExt cx="0" cy="0"/>
        </a:xfrm>
      </p:grpSpPr>
      <p:sp>
        <p:nvSpPr>
          <p:cNvPr id="3" name="Text 0"/>
          <p:cNvSpPr txBox="1"/>
          <p:nvPr/>
        </p:nvSpPr>
        <p:spPr>
          <a:xfrm>
            <a:off x="548640" y="365760"/>
            <a:ext cx="8229600" cy="320040"/>
          </a:xfrm>
          <a:prstGeom prst="rect">
            <a:avLst/>
          </a:prstGeom>
          <a:noFill/>
          <a:ln/>
        </p:spPr>
        <p:txBody>
          <a:bodyPr wrap="square" lIns="0" tIns="0" rIns="0" bIns="0" rtlCol="0" anchor="ctr"/>
          <a:lstStyle/>
          <a:p>
            <a:pPr indent="0" marL="0">
              <a:buNone/>
            </a:pPr>
            <a:r>
              <a:rPr lang="en-US" sz="1300" b="1" spc="300" kern="0" dirty="0">
                <a:solidFill>
                  <a:srgbClr val="FFC72C"/>
                </a:solidFill>
                <a:latin typeface="Calibri" pitchFamily="34" charset="0"/>
                <a:ea typeface="Calibri" pitchFamily="34" charset="-122"/>
                <a:cs typeface="Calibri" pitchFamily="34" charset="-120"/>
              </a:rPr>
              <a:t>BIGGER PICTURE</a:t>
            </a:r>
            <a:endParaRPr lang="en-US" sz="1300" dirty="0"/>
          </a:p>
        </p:txBody>
      </p:sp>
      <p:sp>
        <p:nvSpPr>
          <p:cNvPr id="4"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Where Intel fits Air Force-wide</a:t>
            </a:r>
            <a:endParaRPr lang="en-US" sz="3200" dirty="0"/>
          </a:p>
        </p:txBody>
      </p:sp>
      <p:sp>
        <p:nvSpPr>
          <p:cNvPr id="5" name="Text 2"/>
          <p:cNvSpPr txBox="1"/>
          <p:nvPr/>
        </p:nvSpPr>
        <p:spPr>
          <a:xfrm>
            <a:off x="11155680" y="6400800"/>
            <a:ext cx="731520" cy="274320"/>
          </a:xfrm>
          <a:prstGeom prst="rect">
            <a:avLst/>
          </a:prstGeom>
          <a:noFill/>
          <a:ln/>
        </p:spPr>
        <p:txBody>
          <a:bodyPr wrap="square" lIns="0" tIns="0" rIns="0" bIns="0" rtlCol="0" anchor="ctr"/>
          <a:lstStyle/>
          <a:p>
            <a:pPr algn="r" indent="0" marL="0">
              <a:buNone/>
            </a:pPr>
            <a:r>
              <a:rPr lang="en-US" sz="900" dirty="0">
                <a:solidFill>
                  <a:srgbClr val="8CA3C7"/>
                </a:solidFill>
                <a:latin typeface="Calibri" pitchFamily="34" charset="0"/>
                <a:ea typeface="Calibri" pitchFamily="34" charset="-122"/>
                <a:cs typeface="Calibri" pitchFamily="34" charset="-120"/>
              </a:rPr>
              <a:t>03</a:t>
            </a:r>
            <a:endParaRPr lang="en-US" sz="900" dirty="0"/>
          </a:p>
        </p:txBody>
      </p:sp>
      <p:sp>
        <p:nvSpPr>
          <p:cNvPr id="6" name="Shape 3"/>
          <p:cNvSpPr/>
          <p:nvPr/>
        </p:nvSpPr>
        <p:spPr>
          <a:xfrm>
            <a:off x="548640" y="1828800"/>
            <a:ext cx="3383280" cy="3291840"/>
          </a:xfrm>
          <a:prstGeom prst="roundRect">
            <a:avLst>
              <a:gd name="adj" fmla="val 2222"/>
            </a:avLst>
          </a:prstGeom>
          <a:solidFill>
            <a:srgbClr val="17325C"/>
          </a:solidFill>
          <a:ln w="12700">
            <a:solidFill>
              <a:srgbClr val="17325C"/>
            </a:solidFill>
            <a:prstDash val="solid"/>
          </a:ln>
        </p:spPr>
      </p:sp>
      <p:sp>
        <p:nvSpPr>
          <p:cNvPr id="7" name="Shape 4"/>
          <p:cNvSpPr/>
          <p:nvPr/>
        </p:nvSpPr>
        <p:spPr>
          <a:xfrm>
            <a:off x="1920240" y="2194560"/>
            <a:ext cx="640080" cy="640080"/>
          </a:xfrm>
          <a:prstGeom prst="ellipse">
            <a:avLst/>
          </a:prstGeom>
          <a:solidFill>
            <a:srgbClr val="0B1B34"/>
          </a:solidFill>
          <a:ln w="12700">
            <a:solidFill>
              <a:srgbClr val="0B1B34"/>
            </a:solidFill>
            <a:prstDash val="solid"/>
          </a:ln>
        </p:spPr>
      </p:sp>
      <p:pic>
        <p:nvPicPr>
          <p:cNvPr id="8" name="Image 0" descr="C:\Users\Trey\AppData\Local\Temp\claude\c--Projects-astral-project-src-pages-theknowledgebase\594bbb08-08fe-467c-99d2-4fe53cb86141\scratchpad\brief14n\icons\jet_gold.png">    </p:cNvPr>
          <p:cNvPicPr>
            <a:picLocks noChangeAspect="1"/>
          </p:cNvPicPr>
          <p:nvPr/>
        </p:nvPicPr>
        <p:blipFill>
          <a:blip r:embed="rId1"/>
          <a:stretch>
            <a:fillRect/>
          </a:stretch>
        </p:blipFill>
        <p:spPr>
          <a:xfrm>
            <a:off x="2067458" y="2341778"/>
            <a:ext cx="345643" cy="345643"/>
          </a:xfrm>
          <a:prstGeom prst="rect">
            <a:avLst/>
          </a:prstGeom>
        </p:spPr>
      </p:pic>
      <p:sp>
        <p:nvSpPr>
          <p:cNvPr id="9" name="Text 5"/>
          <p:cNvSpPr txBox="1"/>
          <p:nvPr/>
        </p:nvSpPr>
        <p:spPr>
          <a:xfrm>
            <a:off x="777240" y="3063240"/>
            <a:ext cx="2926080" cy="502920"/>
          </a:xfrm>
          <a:prstGeom prst="rect">
            <a:avLst/>
          </a:prstGeom>
          <a:noFill/>
          <a:ln/>
        </p:spPr>
        <p:txBody>
          <a:bodyPr wrap="square" lIns="0" tIns="0" rIns="0" bIns="0" rtlCol="0" anchor="ctr"/>
          <a:lstStyle/>
          <a:p>
            <a:pPr algn="ctr" indent="0" marL="0">
              <a:buNone/>
            </a:pPr>
            <a:r>
              <a:rPr lang="en-US" sz="1800" b="1" dirty="0">
                <a:solidFill>
                  <a:srgbClr val="FFC72C"/>
                </a:solidFill>
                <a:latin typeface="Calibri" pitchFamily="34" charset="0"/>
                <a:ea typeface="Calibri" pitchFamily="34" charset="-122"/>
                <a:cs typeface="Calibri" pitchFamily="34" charset="-120"/>
              </a:rPr>
              <a:t>Squadron / Wing</a:t>
            </a:r>
            <a:endParaRPr lang="en-US" sz="1800" dirty="0"/>
          </a:p>
        </p:txBody>
      </p:sp>
      <p:sp>
        <p:nvSpPr>
          <p:cNvPr id="10" name="Text 6"/>
          <p:cNvSpPr txBox="1"/>
          <p:nvPr/>
        </p:nvSpPr>
        <p:spPr>
          <a:xfrm>
            <a:off x="822960" y="3657600"/>
            <a:ext cx="2834640" cy="1371600"/>
          </a:xfrm>
          <a:prstGeom prst="rect">
            <a:avLst/>
          </a:prstGeom>
          <a:noFill/>
          <a:ln/>
        </p:spPr>
        <p:txBody>
          <a:bodyPr wrap="square" lIns="0" tIns="0" rIns="0" bIns="0" rtlCol="0" anchor="t"/>
          <a:lstStyle/>
          <a:p>
            <a:pPr algn="ctr" indent="0" marL="0">
              <a:buNone/>
            </a:pPr>
            <a:r>
              <a:rPr lang="en-US" sz="1350" dirty="0">
                <a:solidFill>
                  <a:srgbClr val="DCE6F5"/>
                </a:solidFill>
                <a:latin typeface="Calibri" pitchFamily="34" charset="0"/>
                <a:ea typeface="Calibri" pitchFamily="34" charset="-122"/>
                <a:cs typeface="Calibri" pitchFamily="34" charset="-120"/>
              </a:rPr>
              <a:t>14N officers and their analyst teams support a specific flying unit directly.</a:t>
            </a:r>
            <a:endParaRPr lang="en-US" sz="1350" dirty="0"/>
          </a:p>
        </p:txBody>
      </p:sp>
      <p:sp>
        <p:nvSpPr>
          <p:cNvPr id="11" name="Shape 7"/>
          <p:cNvSpPr/>
          <p:nvPr/>
        </p:nvSpPr>
        <p:spPr>
          <a:xfrm>
            <a:off x="4023360" y="3346704"/>
            <a:ext cx="320040" cy="256032"/>
          </a:xfrm>
          <a:prstGeom prst="rightArrow">
            <a:avLst/>
          </a:prstGeom>
          <a:solidFill>
            <a:srgbClr val="FFC72C"/>
          </a:solidFill>
          <a:ln w="12700">
            <a:solidFill>
              <a:srgbClr val="FFC72C"/>
            </a:solidFill>
            <a:prstDash val="solid"/>
          </a:ln>
        </p:spPr>
      </p:sp>
      <p:sp>
        <p:nvSpPr>
          <p:cNvPr id="12" name="Shape 8"/>
          <p:cNvSpPr/>
          <p:nvPr/>
        </p:nvSpPr>
        <p:spPr>
          <a:xfrm>
            <a:off x="4434840" y="1828800"/>
            <a:ext cx="3383280" cy="3291840"/>
          </a:xfrm>
          <a:prstGeom prst="roundRect">
            <a:avLst>
              <a:gd name="adj" fmla="val 2222"/>
            </a:avLst>
          </a:prstGeom>
          <a:solidFill>
            <a:srgbClr val="17325C"/>
          </a:solidFill>
          <a:ln w="12700">
            <a:solidFill>
              <a:srgbClr val="17325C"/>
            </a:solidFill>
            <a:prstDash val="solid"/>
          </a:ln>
        </p:spPr>
      </p:sp>
      <p:sp>
        <p:nvSpPr>
          <p:cNvPr id="13" name="Shape 9"/>
          <p:cNvSpPr/>
          <p:nvPr/>
        </p:nvSpPr>
        <p:spPr>
          <a:xfrm>
            <a:off x="5806440" y="2194560"/>
            <a:ext cx="640080" cy="640080"/>
          </a:xfrm>
          <a:prstGeom prst="ellipse">
            <a:avLst/>
          </a:prstGeom>
          <a:solidFill>
            <a:srgbClr val="0B1B34"/>
          </a:solidFill>
          <a:ln w="12700">
            <a:solidFill>
              <a:srgbClr val="0B1B34"/>
            </a:solidFill>
            <a:prstDash val="solid"/>
          </a:ln>
        </p:spPr>
      </p:sp>
      <p:pic>
        <p:nvPicPr>
          <p:cNvPr id="14" name="Image 1" descr="C:\Users\Trey\AppData\Local\Temp\claude\c--Projects-astral-project-src-pages-theknowledgebase\594bbb08-08fe-467c-99d2-4fe53cb86141\scratchpad\brief14n\icons\sitemap_gold.png">    </p:cNvPr>
          <p:cNvPicPr>
            <a:picLocks noChangeAspect="1"/>
          </p:cNvPicPr>
          <p:nvPr/>
        </p:nvPicPr>
        <p:blipFill>
          <a:blip r:embed="rId2"/>
          <a:stretch>
            <a:fillRect/>
          </a:stretch>
        </p:blipFill>
        <p:spPr>
          <a:xfrm>
            <a:off x="5953658" y="2341778"/>
            <a:ext cx="345643" cy="345643"/>
          </a:xfrm>
          <a:prstGeom prst="rect">
            <a:avLst/>
          </a:prstGeom>
        </p:spPr>
      </p:pic>
      <p:sp>
        <p:nvSpPr>
          <p:cNvPr id="15" name="Text 10"/>
          <p:cNvSpPr txBox="1"/>
          <p:nvPr/>
        </p:nvSpPr>
        <p:spPr>
          <a:xfrm>
            <a:off x="4663440" y="3063240"/>
            <a:ext cx="2926080" cy="502920"/>
          </a:xfrm>
          <a:prstGeom prst="rect">
            <a:avLst/>
          </a:prstGeom>
          <a:noFill/>
          <a:ln/>
        </p:spPr>
        <p:txBody>
          <a:bodyPr wrap="square" lIns="0" tIns="0" rIns="0" bIns="0" rtlCol="0" anchor="ctr"/>
          <a:lstStyle/>
          <a:p>
            <a:pPr algn="ctr" indent="0" marL="0">
              <a:buNone/>
            </a:pPr>
            <a:r>
              <a:rPr lang="en-US" sz="1800" b="1" dirty="0">
                <a:solidFill>
                  <a:srgbClr val="FFC72C"/>
                </a:solidFill>
                <a:latin typeface="Calibri" pitchFamily="34" charset="0"/>
                <a:ea typeface="Calibri" pitchFamily="34" charset="-122"/>
                <a:cs typeface="Calibri" pitchFamily="34" charset="-120"/>
              </a:rPr>
              <a:t>MAJCOM (e.g. ACC)</a:t>
            </a:r>
            <a:endParaRPr lang="en-US" sz="1800" dirty="0"/>
          </a:p>
        </p:txBody>
      </p:sp>
      <p:sp>
        <p:nvSpPr>
          <p:cNvPr id="16" name="Text 11"/>
          <p:cNvSpPr txBox="1"/>
          <p:nvPr/>
        </p:nvSpPr>
        <p:spPr>
          <a:xfrm>
            <a:off x="4709160" y="3657600"/>
            <a:ext cx="2834640" cy="1371600"/>
          </a:xfrm>
          <a:prstGeom prst="rect">
            <a:avLst/>
          </a:prstGeom>
          <a:noFill/>
          <a:ln/>
        </p:spPr>
        <p:txBody>
          <a:bodyPr wrap="square" lIns="0" tIns="0" rIns="0" bIns="0" rtlCol="0" anchor="t"/>
          <a:lstStyle/>
          <a:p>
            <a:pPr algn="ctr" indent="0" marL="0">
              <a:buNone/>
            </a:pPr>
            <a:r>
              <a:rPr lang="en-US" sz="1350" dirty="0">
                <a:solidFill>
                  <a:srgbClr val="DCE6F5"/>
                </a:solidFill>
                <a:latin typeface="Calibri" pitchFamily="34" charset="0"/>
                <a:ea typeface="Calibri" pitchFamily="34" charset="-122"/>
                <a:cs typeface="Calibri" pitchFamily="34" charset="-120"/>
              </a:rPr>
              <a:t>Major commands organize, train, and equip their wings’ intelligence teams and set their standards.</a:t>
            </a:r>
            <a:endParaRPr lang="en-US" sz="1350" dirty="0"/>
          </a:p>
        </p:txBody>
      </p:sp>
      <p:sp>
        <p:nvSpPr>
          <p:cNvPr id="17" name="Shape 12"/>
          <p:cNvSpPr/>
          <p:nvPr/>
        </p:nvSpPr>
        <p:spPr>
          <a:xfrm>
            <a:off x="7909560" y="3346704"/>
            <a:ext cx="320040" cy="256032"/>
          </a:xfrm>
          <a:prstGeom prst="rightArrow">
            <a:avLst/>
          </a:prstGeom>
          <a:solidFill>
            <a:srgbClr val="FFC72C"/>
          </a:solidFill>
          <a:ln w="12700">
            <a:solidFill>
              <a:srgbClr val="FFC72C"/>
            </a:solidFill>
            <a:prstDash val="solid"/>
          </a:ln>
        </p:spPr>
      </p:sp>
      <p:sp>
        <p:nvSpPr>
          <p:cNvPr id="18" name="Shape 13"/>
          <p:cNvSpPr/>
          <p:nvPr/>
        </p:nvSpPr>
        <p:spPr>
          <a:xfrm>
            <a:off x="8321040" y="1828800"/>
            <a:ext cx="3383280" cy="3291840"/>
          </a:xfrm>
          <a:prstGeom prst="roundRect">
            <a:avLst>
              <a:gd name="adj" fmla="val 2222"/>
            </a:avLst>
          </a:prstGeom>
          <a:solidFill>
            <a:srgbClr val="17325C"/>
          </a:solidFill>
          <a:ln w="12700">
            <a:solidFill>
              <a:srgbClr val="17325C"/>
            </a:solidFill>
            <a:prstDash val="solid"/>
          </a:ln>
        </p:spPr>
      </p:sp>
      <p:sp>
        <p:nvSpPr>
          <p:cNvPr id="19" name="Shape 14"/>
          <p:cNvSpPr/>
          <p:nvPr/>
        </p:nvSpPr>
        <p:spPr>
          <a:xfrm>
            <a:off x="9692640" y="2194560"/>
            <a:ext cx="640080" cy="640080"/>
          </a:xfrm>
          <a:prstGeom prst="ellipse">
            <a:avLst/>
          </a:prstGeom>
          <a:solidFill>
            <a:srgbClr val="0B1B34"/>
          </a:solidFill>
          <a:ln w="12700">
            <a:solidFill>
              <a:srgbClr val="0B1B34"/>
            </a:solidFill>
            <a:prstDash val="solid"/>
          </a:ln>
        </p:spPr>
      </p:sp>
      <p:pic>
        <p:nvPicPr>
          <p:cNvPr id="20" name="Image 2" descr="C:\Users\Trey\AppData\Local\Temp\claude\c--Projects-astral-project-src-pages-theknowledgebase\594bbb08-08fe-467c-99d2-4fe53cb86141\scratchpad\brief14n\icons\globe_gold.png">    </p:cNvPr>
          <p:cNvPicPr>
            <a:picLocks noChangeAspect="1"/>
          </p:cNvPicPr>
          <p:nvPr/>
        </p:nvPicPr>
        <p:blipFill>
          <a:blip r:embed="rId3"/>
          <a:stretch>
            <a:fillRect/>
          </a:stretch>
        </p:blipFill>
        <p:spPr>
          <a:xfrm>
            <a:off x="9839858" y="2341778"/>
            <a:ext cx="345643" cy="345643"/>
          </a:xfrm>
          <a:prstGeom prst="rect">
            <a:avLst/>
          </a:prstGeom>
        </p:spPr>
      </p:pic>
      <p:sp>
        <p:nvSpPr>
          <p:cNvPr id="21" name="Text 15"/>
          <p:cNvSpPr txBox="1"/>
          <p:nvPr/>
        </p:nvSpPr>
        <p:spPr>
          <a:xfrm>
            <a:off x="8549640" y="3063240"/>
            <a:ext cx="2926080" cy="502920"/>
          </a:xfrm>
          <a:prstGeom prst="rect">
            <a:avLst/>
          </a:prstGeom>
          <a:noFill/>
          <a:ln/>
        </p:spPr>
        <p:txBody>
          <a:bodyPr wrap="square" lIns="0" tIns="0" rIns="0" bIns="0" rtlCol="0" anchor="ctr"/>
          <a:lstStyle/>
          <a:p>
            <a:pPr algn="ctr" indent="0" marL="0">
              <a:buNone/>
            </a:pPr>
            <a:r>
              <a:rPr lang="en-US" sz="1800" b="1" dirty="0">
                <a:solidFill>
                  <a:srgbClr val="FFC72C"/>
                </a:solidFill>
                <a:latin typeface="Calibri" pitchFamily="34" charset="0"/>
                <a:ea typeface="Calibri" pitchFamily="34" charset="-122"/>
                <a:cs typeface="Calibri" pitchFamily="34" charset="-120"/>
              </a:rPr>
              <a:t>National level</a:t>
            </a:r>
            <a:endParaRPr lang="en-US" sz="1800" dirty="0"/>
          </a:p>
        </p:txBody>
      </p:sp>
      <p:sp>
        <p:nvSpPr>
          <p:cNvPr id="22" name="Text 16"/>
          <p:cNvSpPr txBox="1"/>
          <p:nvPr/>
        </p:nvSpPr>
        <p:spPr>
          <a:xfrm>
            <a:off x="8595360" y="3657600"/>
            <a:ext cx="2834640" cy="1371600"/>
          </a:xfrm>
          <a:prstGeom prst="rect">
            <a:avLst/>
          </a:prstGeom>
          <a:noFill/>
          <a:ln/>
        </p:spPr>
        <p:txBody>
          <a:bodyPr wrap="square" lIns="0" tIns="0" rIns="0" bIns="0" rtlCol="0" anchor="t"/>
          <a:lstStyle/>
          <a:p>
            <a:pPr algn="ctr" indent="0" marL="0">
              <a:buNone/>
            </a:pPr>
            <a:r>
              <a:rPr lang="en-US" sz="1350" dirty="0">
                <a:solidFill>
                  <a:srgbClr val="DCE6F5"/>
                </a:solidFill>
                <a:latin typeface="Calibri" pitchFamily="34" charset="0"/>
                <a:ea typeface="Calibri" pitchFamily="34" charset="-122"/>
                <a:cs typeface="Calibri" pitchFamily="34" charset="-120"/>
              </a:rPr>
              <a:t>Centers like NASIC, and agencies like DIA and NSA, produce the intelligence Air Force units draw on.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8229600" cy="320040"/>
          </a:xfrm>
          <a:prstGeom prst="rect">
            <a:avLst/>
          </a:prstGeom>
          <a:noFill/>
          <a:ln/>
        </p:spPr>
        <p:txBody>
          <a:bodyPr wrap="square" lIns="0" tIns="0" rIns="0" bIns="0" rtlCol="0" anchor="ctr"/>
          <a:lstStyle/>
          <a:p>
            <a:pPr indent="0" marL="0">
              <a:buNone/>
            </a:pPr>
            <a:r>
              <a:rPr lang="en-US" sz="1300" b="1" spc="300" kern="0" dirty="0">
                <a:solidFill>
                  <a:srgbClr val="FFC72C"/>
                </a:solidFill>
                <a:latin typeface="Calibri" pitchFamily="34" charset="0"/>
                <a:ea typeface="Calibri" pitchFamily="34" charset="-122"/>
                <a:cs typeface="Calibri" pitchFamily="34" charset="-120"/>
              </a:rPr>
              <a:t>GETTING THERE</a:t>
            </a:r>
            <a:endParaRPr lang="en-US" sz="1300" dirty="0"/>
          </a:p>
        </p:txBody>
      </p:sp>
      <p:sp>
        <p:nvSpPr>
          <p:cNvPr id="4"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200" b="1" dirty="0">
                <a:solidFill>
                  <a:srgbClr val="12284B"/>
                </a:solidFill>
                <a:latin typeface="Cambria" pitchFamily="34" charset="0"/>
                <a:ea typeface="Cambria" pitchFamily="34" charset="-122"/>
                <a:cs typeface="Cambria" pitchFamily="34" charset="-120"/>
              </a:rPr>
              <a:t>Requirements</a:t>
            </a:r>
            <a:endParaRPr lang="en-US" sz="3200" dirty="0"/>
          </a:p>
        </p:txBody>
      </p:sp>
      <p:sp>
        <p:nvSpPr>
          <p:cNvPr id="5" name="Text 2"/>
          <p:cNvSpPr txBox="1"/>
          <p:nvPr/>
        </p:nvSpPr>
        <p:spPr>
          <a:xfrm>
            <a:off x="11155680" y="6400800"/>
            <a:ext cx="731520" cy="274320"/>
          </a:xfrm>
          <a:prstGeom prst="rect">
            <a:avLst/>
          </a:prstGeom>
          <a:noFill/>
          <a:ln/>
        </p:spPr>
        <p:txBody>
          <a:bodyPr wrap="square" lIns="0" tIns="0" rIns="0" bIns="0" rtlCol="0" anchor="ctr"/>
          <a:lstStyle/>
          <a:p>
            <a:pPr algn="r" indent="0" marL="0">
              <a:buNone/>
            </a:pPr>
            <a:r>
              <a:rPr lang="en-US" sz="900" dirty="0">
                <a:solidFill>
                  <a:srgbClr val="5C6B82"/>
                </a:solidFill>
                <a:latin typeface="Calibri" pitchFamily="34" charset="0"/>
                <a:ea typeface="Calibri" pitchFamily="34" charset="-122"/>
                <a:cs typeface="Calibri" pitchFamily="34" charset="-120"/>
              </a:rPr>
              <a:t>04</a:t>
            </a:r>
            <a:endParaRPr lang="en-US" sz="900" dirty="0"/>
          </a:p>
        </p:txBody>
      </p:sp>
      <p:sp>
        <p:nvSpPr>
          <p:cNvPr id="6" name="Shape 3"/>
          <p:cNvSpPr/>
          <p:nvPr/>
        </p:nvSpPr>
        <p:spPr>
          <a:xfrm>
            <a:off x="548640" y="1691640"/>
            <a:ext cx="2560320" cy="3108960"/>
          </a:xfrm>
          <a:prstGeom prst="roundRect">
            <a:avLst>
              <a:gd name="adj" fmla="val 2857"/>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7" name="Shape 4"/>
          <p:cNvSpPr/>
          <p:nvPr/>
        </p:nvSpPr>
        <p:spPr>
          <a:xfrm>
            <a:off x="1517904" y="2011680"/>
            <a:ext cx="621792" cy="621792"/>
          </a:xfrm>
          <a:prstGeom prst="ellipse">
            <a:avLst/>
          </a:prstGeom>
          <a:solidFill>
            <a:srgbClr val="12284B"/>
          </a:solidFill>
          <a:ln w="12700">
            <a:solidFill>
              <a:srgbClr val="12284B"/>
            </a:solidFill>
            <a:prstDash val="solid"/>
          </a:ln>
        </p:spPr>
      </p:sp>
      <p:pic>
        <p:nvPicPr>
          <p:cNvPr id="8" name="Image 0" descr="C:\Users\Trey\AppData\Local\Temp\claude\c--Projects-astral-project-src-pages-theknowledgebase\594bbb08-08fe-467c-99d2-4fe53cb86141\scratchpad\brief14n\icons\gradcap_gold.png">    </p:cNvPr>
          <p:cNvPicPr>
            <a:picLocks noChangeAspect="1"/>
          </p:cNvPicPr>
          <p:nvPr/>
        </p:nvPicPr>
        <p:blipFill>
          <a:blip r:embed="rId1"/>
          <a:stretch>
            <a:fillRect/>
          </a:stretch>
        </p:blipFill>
        <p:spPr>
          <a:xfrm>
            <a:off x="1660916" y="2154692"/>
            <a:ext cx="335768" cy="335768"/>
          </a:xfrm>
          <a:prstGeom prst="rect">
            <a:avLst/>
          </a:prstGeom>
        </p:spPr>
      </p:pic>
      <p:sp>
        <p:nvSpPr>
          <p:cNvPr id="9" name="Text 5"/>
          <p:cNvSpPr txBox="1"/>
          <p:nvPr/>
        </p:nvSpPr>
        <p:spPr>
          <a:xfrm>
            <a:off x="731520" y="2788920"/>
            <a:ext cx="2194560" cy="548640"/>
          </a:xfrm>
          <a:prstGeom prst="rect">
            <a:avLst/>
          </a:prstGeom>
          <a:noFill/>
          <a:ln/>
        </p:spPr>
        <p:txBody>
          <a:bodyPr wrap="square" lIns="0" tIns="0" rIns="0" bIns="0" rtlCol="0" anchor="ctr"/>
          <a:lstStyle/>
          <a:p>
            <a:pPr algn="ctr" indent="0" marL="0">
              <a:buNone/>
            </a:pPr>
            <a:r>
              <a:rPr lang="en-US" sz="1600" b="1" dirty="0">
                <a:solidFill>
                  <a:srgbClr val="12284B"/>
                </a:solidFill>
                <a:latin typeface="Calibri" pitchFamily="34" charset="0"/>
                <a:ea typeface="Calibri" pitchFamily="34" charset="-122"/>
                <a:cs typeface="Calibri" pitchFamily="34" charset="-120"/>
              </a:rPr>
              <a:t>Commission</a:t>
            </a:r>
            <a:endParaRPr lang="en-US" sz="1600" dirty="0"/>
          </a:p>
        </p:txBody>
      </p:sp>
      <p:sp>
        <p:nvSpPr>
          <p:cNvPr id="10" name="Text 6"/>
          <p:cNvSpPr txBox="1"/>
          <p:nvPr/>
        </p:nvSpPr>
        <p:spPr>
          <a:xfrm>
            <a:off x="777240" y="3383280"/>
            <a:ext cx="2103120" cy="1325880"/>
          </a:xfrm>
          <a:prstGeom prst="rect">
            <a:avLst/>
          </a:prstGeom>
          <a:noFill/>
          <a:ln/>
        </p:spPr>
        <p:txBody>
          <a:bodyPr wrap="square" lIns="0" tIns="0" rIns="0" bIns="0" rtlCol="0" anchor="t"/>
          <a:lstStyle/>
          <a:p>
            <a:pPr algn="ctr" indent="0" marL="0">
              <a:buNone/>
            </a:pPr>
            <a:r>
              <a:rPr lang="en-US" sz="1300" dirty="0">
                <a:solidFill>
                  <a:srgbClr val="5C6B82"/>
                </a:solidFill>
                <a:latin typeface="Calibri" pitchFamily="34" charset="0"/>
                <a:ea typeface="Calibri" pitchFamily="34" charset="-122"/>
                <a:cs typeface="Calibri" pitchFamily="34" charset="-120"/>
              </a:rPr>
              <a:t>Through AFROTC, OTS, or USAFA, with a passing AFOQT score and a bachelor’s degree in a field the Air Force lists</a:t>
            </a:r>
            <a:endParaRPr lang="en-US" sz="1300" dirty="0"/>
          </a:p>
        </p:txBody>
      </p:sp>
      <p:sp>
        <p:nvSpPr>
          <p:cNvPr id="11" name="Shape 7"/>
          <p:cNvSpPr/>
          <p:nvPr/>
        </p:nvSpPr>
        <p:spPr>
          <a:xfrm>
            <a:off x="3383280" y="1691640"/>
            <a:ext cx="2560320" cy="3108960"/>
          </a:xfrm>
          <a:prstGeom prst="roundRect">
            <a:avLst>
              <a:gd name="adj" fmla="val 2857"/>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12" name="Shape 8"/>
          <p:cNvSpPr/>
          <p:nvPr/>
        </p:nvSpPr>
        <p:spPr>
          <a:xfrm>
            <a:off x="4352544" y="2011680"/>
            <a:ext cx="621792" cy="621792"/>
          </a:xfrm>
          <a:prstGeom prst="ellipse">
            <a:avLst/>
          </a:prstGeom>
          <a:solidFill>
            <a:srgbClr val="12284B"/>
          </a:solidFill>
          <a:ln w="12700">
            <a:solidFill>
              <a:srgbClr val="12284B"/>
            </a:solidFill>
            <a:prstDash val="solid"/>
          </a:ln>
        </p:spPr>
      </p:sp>
      <p:pic>
        <p:nvPicPr>
          <p:cNvPr id="13" name="Image 1" descr="C:\Users\Trey\AppData\Local\Temp\claude\c--Projects-astral-project-src-pages-theknowledgebase\594bbb08-08fe-467c-99d2-4fe53cb86141\scratchpad\brief14n\icons\shield_gold.png">    </p:cNvPr>
          <p:cNvPicPr>
            <a:picLocks noChangeAspect="1"/>
          </p:cNvPicPr>
          <p:nvPr/>
        </p:nvPicPr>
        <p:blipFill>
          <a:blip r:embed="rId2"/>
          <a:stretch>
            <a:fillRect/>
          </a:stretch>
        </p:blipFill>
        <p:spPr>
          <a:xfrm>
            <a:off x="4495556" y="2154692"/>
            <a:ext cx="335768" cy="335768"/>
          </a:xfrm>
          <a:prstGeom prst="rect">
            <a:avLst/>
          </a:prstGeom>
        </p:spPr>
      </p:pic>
      <p:sp>
        <p:nvSpPr>
          <p:cNvPr id="14" name="Text 9"/>
          <p:cNvSpPr txBox="1"/>
          <p:nvPr/>
        </p:nvSpPr>
        <p:spPr>
          <a:xfrm>
            <a:off x="3566160" y="2788920"/>
            <a:ext cx="2194560" cy="548640"/>
          </a:xfrm>
          <a:prstGeom prst="rect">
            <a:avLst/>
          </a:prstGeom>
          <a:noFill/>
          <a:ln/>
        </p:spPr>
        <p:txBody>
          <a:bodyPr wrap="square" lIns="0" tIns="0" rIns="0" bIns="0" rtlCol="0" anchor="ctr"/>
          <a:lstStyle/>
          <a:p>
            <a:pPr algn="ctr" indent="0" marL="0">
              <a:buNone/>
            </a:pPr>
            <a:r>
              <a:rPr lang="en-US" sz="1600" b="1" dirty="0">
                <a:solidFill>
                  <a:srgbClr val="12284B"/>
                </a:solidFill>
                <a:latin typeface="Calibri" pitchFamily="34" charset="0"/>
                <a:ea typeface="Calibri" pitchFamily="34" charset="-122"/>
                <a:cs typeface="Calibri" pitchFamily="34" charset="-120"/>
              </a:rPr>
              <a:t>Citizenship</a:t>
            </a:r>
            <a:endParaRPr lang="en-US" sz="1600" dirty="0"/>
          </a:p>
        </p:txBody>
      </p:sp>
      <p:sp>
        <p:nvSpPr>
          <p:cNvPr id="15" name="Text 10"/>
          <p:cNvSpPr txBox="1"/>
          <p:nvPr/>
        </p:nvSpPr>
        <p:spPr>
          <a:xfrm>
            <a:off x="3611880" y="3383280"/>
            <a:ext cx="2103120" cy="1325880"/>
          </a:xfrm>
          <a:prstGeom prst="rect">
            <a:avLst/>
          </a:prstGeom>
          <a:noFill/>
          <a:ln/>
        </p:spPr>
        <p:txBody>
          <a:bodyPr wrap="square" lIns="0" tIns="0" rIns="0" bIns="0" rtlCol="0" anchor="t"/>
          <a:lstStyle/>
          <a:p>
            <a:pPr algn="ctr" indent="0" marL="0">
              <a:buNone/>
            </a:pPr>
            <a:r>
              <a:rPr lang="en-US" sz="1300" dirty="0">
                <a:solidFill>
                  <a:srgbClr val="5C6B82"/>
                </a:solidFill>
                <a:latin typeface="Calibri" pitchFamily="34" charset="0"/>
                <a:ea typeface="Calibri" pitchFamily="34" charset="-122"/>
                <a:cs typeface="Calibri" pitchFamily="34" charset="-120"/>
              </a:rPr>
              <a:t>You must be a U.S. citizen to be commissioned and to hold the Top Secret and SCI access the job needs</a:t>
            </a:r>
            <a:endParaRPr lang="en-US" sz="1300" dirty="0"/>
          </a:p>
        </p:txBody>
      </p:sp>
      <p:sp>
        <p:nvSpPr>
          <p:cNvPr id="16" name="Shape 11"/>
          <p:cNvSpPr/>
          <p:nvPr/>
        </p:nvSpPr>
        <p:spPr>
          <a:xfrm>
            <a:off x="6217920" y="1691640"/>
            <a:ext cx="2560320" cy="3108960"/>
          </a:xfrm>
          <a:prstGeom prst="roundRect">
            <a:avLst>
              <a:gd name="adj" fmla="val 2857"/>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17" name="Shape 12"/>
          <p:cNvSpPr/>
          <p:nvPr/>
        </p:nvSpPr>
        <p:spPr>
          <a:xfrm>
            <a:off x="7187184" y="2011680"/>
            <a:ext cx="621792" cy="621792"/>
          </a:xfrm>
          <a:prstGeom prst="ellipse">
            <a:avLst/>
          </a:prstGeom>
          <a:solidFill>
            <a:srgbClr val="12284B"/>
          </a:solidFill>
          <a:ln w="12700">
            <a:solidFill>
              <a:srgbClr val="12284B"/>
            </a:solidFill>
            <a:prstDash val="solid"/>
          </a:ln>
        </p:spPr>
      </p:sp>
      <p:pic>
        <p:nvPicPr>
          <p:cNvPr id="18" name="Image 2" descr="C:\Users\Trey\AppData\Local\Temp\claude\c--Projects-astral-project-src-pages-theknowledgebase\594bbb08-08fe-467c-99d2-4fe53cb86141\scratchpad\brief14n\icons\clipboardcheck_gold.png">    </p:cNvPr>
          <p:cNvPicPr>
            <a:picLocks noChangeAspect="1"/>
          </p:cNvPicPr>
          <p:nvPr/>
        </p:nvPicPr>
        <p:blipFill>
          <a:blip r:embed="rId3"/>
          <a:stretch>
            <a:fillRect/>
          </a:stretch>
        </p:blipFill>
        <p:spPr>
          <a:xfrm>
            <a:off x="7330196" y="2154692"/>
            <a:ext cx="335768" cy="335768"/>
          </a:xfrm>
          <a:prstGeom prst="rect">
            <a:avLst/>
          </a:prstGeom>
        </p:spPr>
      </p:pic>
      <p:sp>
        <p:nvSpPr>
          <p:cNvPr id="19" name="Text 13"/>
          <p:cNvSpPr txBox="1"/>
          <p:nvPr/>
        </p:nvSpPr>
        <p:spPr>
          <a:xfrm>
            <a:off x="6400800" y="2788920"/>
            <a:ext cx="2194560" cy="548640"/>
          </a:xfrm>
          <a:prstGeom prst="rect">
            <a:avLst/>
          </a:prstGeom>
          <a:noFill/>
          <a:ln/>
        </p:spPr>
        <p:txBody>
          <a:bodyPr wrap="square" lIns="0" tIns="0" rIns="0" bIns="0" rtlCol="0" anchor="ctr"/>
          <a:lstStyle/>
          <a:p>
            <a:pPr algn="ctr" indent="0" marL="0">
              <a:buNone/>
            </a:pPr>
            <a:r>
              <a:rPr lang="en-US" sz="1600" b="1" dirty="0">
                <a:solidFill>
                  <a:srgbClr val="12284B"/>
                </a:solidFill>
                <a:latin typeface="Calibri" pitchFamily="34" charset="0"/>
                <a:ea typeface="Calibri" pitchFamily="34" charset="-122"/>
                <a:cs typeface="Calibri" pitchFamily="34" charset="-120"/>
              </a:rPr>
              <a:t>Tier 5 Investigation</a:t>
            </a:r>
            <a:endParaRPr lang="en-US" sz="1600" dirty="0"/>
          </a:p>
        </p:txBody>
      </p:sp>
      <p:sp>
        <p:nvSpPr>
          <p:cNvPr id="20" name="Text 14"/>
          <p:cNvSpPr txBox="1"/>
          <p:nvPr/>
        </p:nvSpPr>
        <p:spPr>
          <a:xfrm>
            <a:off x="6446520" y="3383280"/>
            <a:ext cx="2103120" cy="1325880"/>
          </a:xfrm>
          <a:prstGeom prst="rect">
            <a:avLst/>
          </a:prstGeom>
          <a:noFill/>
          <a:ln/>
        </p:spPr>
        <p:txBody>
          <a:bodyPr wrap="square" lIns="0" tIns="0" rIns="0" bIns="0" rtlCol="0" anchor="t"/>
          <a:lstStyle/>
          <a:p>
            <a:pPr algn="ctr" indent="0" marL="0">
              <a:buNone/>
            </a:pPr>
            <a:r>
              <a:rPr lang="en-US" sz="1300" dirty="0">
                <a:solidFill>
                  <a:srgbClr val="5C6B82"/>
                </a:solidFill>
                <a:latin typeface="Calibri" pitchFamily="34" charset="0"/>
                <a:ea typeface="Calibri" pitchFamily="34" charset="-122"/>
                <a:cs typeface="Calibri" pitchFamily="34" charset="-120"/>
              </a:rPr>
              <a:t>The background investigation behind a Top Secret clearance. Government data for 2026 put most cases at around five months</a:t>
            </a:r>
            <a:endParaRPr lang="en-US" sz="1300" dirty="0"/>
          </a:p>
        </p:txBody>
      </p:sp>
      <p:sp>
        <p:nvSpPr>
          <p:cNvPr id="21" name="Shape 15"/>
          <p:cNvSpPr/>
          <p:nvPr/>
        </p:nvSpPr>
        <p:spPr>
          <a:xfrm>
            <a:off x="9052560" y="1691640"/>
            <a:ext cx="2560320" cy="3108960"/>
          </a:xfrm>
          <a:prstGeom prst="roundRect">
            <a:avLst>
              <a:gd name="adj" fmla="val 2857"/>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22" name="Shape 16"/>
          <p:cNvSpPr/>
          <p:nvPr/>
        </p:nvSpPr>
        <p:spPr>
          <a:xfrm>
            <a:off x="10021824" y="2011680"/>
            <a:ext cx="621792" cy="621792"/>
          </a:xfrm>
          <a:prstGeom prst="ellipse">
            <a:avLst/>
          </a:prstGeom>
          <a:solidFill>
            <a:srgbClr val="12284B"/>
          </a:solidFill>
          <a:ln w="12700">
            <a:solidFill>
              <a:srgbClr val="12284B"/>
            </a:solidFill>
            <a:prstDash val="solid"/>
          </a:ln>
        </p:spPr>
      </p:sp>
      <p:pic>
        <p:nvPicPr>
          <p:cNvPr id="23" name="Image 3" descr="C:\Users\Trey\AppData\Local\Temp\claude\c--Projects-astral-project-src-pages-theknowledgebase\594bbb08-08fe-467c-99d2-4fe53cb86141\scratchpad\brief14n\icons\sitemap_gold.png">    </p:cNvPr>
          <p:cNvPicPr>
            <a:picLocks noChangeAspect="1"/>
          </p:cNvPicPr>
          <p:nvPr/>
        </p:nvPicPr>
        <p:blipFill>
          <a:blip r:embed="rId4"/>
          <a:stretch>
            <a:fillRect/>
          </a:stretch>
        </p:blipFill>
        <p:spPr>
          <a:xfrm>
            <a:off x="10164836" y="2154692"/>
            <a:ext cx="335768" cy="335768"/>
          </a:xfrm>
          <a:prstGeom prst="rect">
            <a:avLst/>
          </a:prstGeom>
        </p:spPr>
      </p:pic>
      <p:sp>
        <p:nvSpPr>
          <p:cNvPr id="24" name="Text 17"/>
          <p:cNvSpPr txBox="1"/>
          <p:nvPr/>
        </p:nvSpPr>
        <p:spPr>
          <a:xfrm>
            <a:off x="9235440" y="2788920"/>
            <a:ext cx="2194560" cy="548640"/>
          </a:xfrm>
          <a:prstGeom prst="rect">
            <a:avLst/>
          </a:prstGeom>
          <a:noFill/>
          <a:ln/>
        </p:spPr>
        <p:txBody>
          <a:bodyPr wrap="square" lIns="0" tIns="0" rIns="0" bIns="0" rtlCol="0" anchor="ctr"/>
          <a:lstStyle/>
          <a:p>
            <a:pPr algn="ctr" indent="0" marL="0">
              <a:buNone/>
            </a:pPr>
            <a:r>
              <a:rPr lang="en-US" sz="1600" b="1" dirty="0">
                <a:solidFill>
                  <a:srgbClr val="12284B"/>
                </a:solidFill>
                <a:latin typeface="Calibri" pitchFamily="34" charset="0"/>
                <a:ea typeface="Calibri" pitchFamily="34" charset="-122"/>
                <a:cs typeface="Calibri" pitchFamily="34" charset="-120"/>
              </a:rPr>
              <a:t>No Prior Intel Required</a:t>
            </a:r>
            <a:endParaRPr lang="en-US" sz="1600" dirty="0"/>
          </a:p>
        </p:txBody>
      </p:sp>
      <p:sp>
        <p:nvSpPr>
          <p:cNvPr id="25" name="Text 18"/>
          <p:cNvSpPr txBox="1"/>
          <p:nvPr/>
        </p:nvSpPr>
        <p:spPr>
          <a:xfrm>
            <a:off x="9281160" y="3383280"/>
            <a:ext cx="2103120" cy="1325880"/>
          </a:xfrm>
          <a:prstGeom prst="rect">
            <a:avLst/>
          </a:prstGeom>
          <a:noFill/>
          <a:ln/>
        </p:spPr>
        <p:txBody>
          <a:bodyPr wrap="square" lIns="0" tIns="0" rIns="0" bIns="0" rtlCol="0" anchor="t"/>
          <a:lstStyle/>
          <a:p>
            <a:pPr algn="ctr" indent="0" marL="0">
              <a:buNone/>
            </a:pPr>
            <a:r>
              <a:rPr lang="en-US" sz="1300" dirty="0">
                <a:solidFill>
                  <a:srgbClr val="5C6B82"/>
                </a:solidFill>
                <a:latin typeface="Calibri" pitchFamily="34" charset="0"/>
                <a:ea typeface="Calibri" pitchFamily="34" charset="-122"/>
                <a:cs typeface="Calibri" pitchFamily="34" charset="-120"/>
              </a:rPr>
              <a:t>Intelligence training comes after you commission</a:t>
            </a:r>
            <a:endParaRPr lang="en-US" sz="1300" dirty="0"/>
          </a:p>
        </p:txBody>
      </p:sp>
      <p:sp>
        <p:nvSpPr>
          <p:cNvPr id="26" name="Shape 19"/>
          <p:cNvSpPr/>
          <p:nvPr/>
        </p:nvSpPr>
        <p:spPr>
          <a:xfrm>
            <a:off x="548640" y="5074920"/>
            <a:ext cx="11064240" cy="1051560"/>
          </a:xfrm>
          <a:prstGeom prst="roundRect">
            <a:avLst>
              <a:gd name="adj" fmla="val 3478"/>
            </a:avLst>
          </a:prstGeom>
          <a:solidFill>
            <a:srgbClr val="12284B"/>
          </a:solidFill>
          <a:ln w="12700">
            <a:solidFill>
              <a:srgbClr val="12284B"/>
            </a:solidFill>
            <a:prstDash val="solid"/>
          </a:ln>
        </p:spPr>
      </p:sp>
      <p:sp>
        <p:nvSpPr>
          <p:cNvPr id="27" name="Shape 20"/>
          <p:cNvSpPr/>
          <p:nvPr/>
        </p:nvSpPr>
        <p:spPr>
          <a:xfrm>
            <a:off x="777240" y="5303520"/>
            <a:ext cx="594360" cy="594360"/>
          </a:xfrm>
          <a:prstGeom prst="ellipse">
            <a:avLst/>
          </a:prstGeom>
          <a:solidFill>
            <a:srgbClr val="0B1B34"/>
          </a:solidFill>
          <a:ln w="12700">
            <a:solidFill>
              <a:srgbClr val="0B1B34"/>
            </a:solidFill>
            <a:prstDash val="solid"/>
          </a:ln>
        </p:spPr>
      </p:sp>
      <p:pic>
        <p:nvPicPr>
          <p:cNvPr id="28" name="Image 4" descr="C:\Users\Trey\AppData\Local\Temp\claude\c--Projects-astral-project-src-pages-theknowledgebase\594bbb08-08fe-467c-99d2-4fe53cb86141\scratchpad\brief14n\icons\medal_gold.png">    </p:cNvPr>
          <p:cNvPicPr>
            <a:picLocks noChangeAspect="1"/>
          </p:cNvPicPr>
          <p:nvPr/>
        </p:nvPicPr>
        <p:blipFill>
          <a:blip r:embed="rId5"/>
          <a:stretch>
            <a:fillRect/>
          </a:stretch>
        </p:blipFill>
        <p:spPr>
          <a:xfrm>
            <a:off x="913943" y="5440223"/>
            <a:ext cx="320954" cy="320954"/>
          </a:xfrm>
          <a:prstGeom prst="rect">
            <a:avLst/>
          </a:prstGeom>
        </p:spPr>
      </p:pic>
      <p:sp>
        <p:nvSpPr>
          <p:cNvPr id="29" name="Text 21"/>
          <p:cNvSpPr txBox="1"/>
          <p:nvPr/>
        </p:nvSpPr>
        <p:spPr>
          <a:xfrm>
            <a:off x="1600200" y="5138928"/>
            <a:ext cx="9784080" cy="9144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 Special Experience Identifier (SEI) is a code on your record that shows extra training or experience. You stay a 14N. An SEI never replaces your AFSC.</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84B"/>
        </a:solidFill>
      </p:bgPr>
    </p:bg>
    <p:spTree>
      <p:nvGrpSpPr>
        <p:cNvPr id="1" name=""/>
        <p:cNvGrpSpPr/>
        <p:nvPr/>
      </p:nvGrpSpPr>
      <p:grpSpPr>
        <a:xfrm>
          <a:off x="0" y="0"/>
          <a:ext cx="0" cy="0"/>
          <a:chOff x="0" y="0"/>
          <a:chExt cx="0" cy="0"/>
        </a:xfrm>
      </p:grpSpPr>
      <p:sp>
        <p:nvSpPr>
          <p:cNvPr id="3" name="Text 0"/>
          <p:cNvSpPr txBox="1"/>
          <p:nvPr/>
        </p:nvSpPr>
        <p:spPr>
          <a:xfrm>
            <a:off x="548640" y="365760"/>
            <a:ext cx="8229600" cy="320040"/>
          </a:xfrm>
          <a:prstGeom prst="rect">
            <a:avLst/>
          </a:prstGeom>
          <a:noFill/>
          <a:ln/>
        </p:spPr>
        <p:txBody>
          <a:bodyPr wrap="square" lIns="0" tIns="0" rIns="0" bIns="0" rtlCol="0" anchor="ctr"/>
          <a:lstStyle/>
          <a:p>
            <a:pPr indent="0" marL="0">
              <a:buNone/>
            </a:pPr>
            <a:r>
              <a:rPr lang="en-US" sz="1300" b="1" spc="300" kern="0" dirty="0">
                <a:solidFill>
                  <a:srgbClr val="FFC72C"/>
                </a:solidFill>
                <a:latin typeface="Calibri" pitchFamily="34" charset="0"/>
                <a:ea typeface="Calibri" pitchFamily="34" charset="-122"/>
                <a:cs typeface="Calibri" pitchFamily="34" charset="-120"/>
              </a:rPr>
              <a:t>FROM COMMISSIONING TO THE SQUADRON</a:t>
            </a:r>
            <a:endParaRPr lang="en-US" sz="1300" dirty="0"/>
          </a:p>
        </p:txBody>
      </p:sp>
      <p:sp>
        <p:nvSpPr>
          <p:cNvPr id="4"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training pipeline</a:t>
            </a:r>
            <a:endParaRPr lang="en-US" sz="3200" dirty="0"/>
          </a:p>
        </p:txBody>
      </p:sp>
      <p:sp>
        <p:nvSpPr>
          <p:cNvPr id="5" name="Text 2"/>
          <p:cNvSpPr txBox="1"/>
          <p:nvPr/>
        </p:nvSpPr>
        <p:spPr>
          <a:xfrm>
            <a:off x="11155680" y="6400800"/>
            <a:ext cx="731520" cy="274320"/>
          </a:xfrm>
          <a:prstGeom prst="rect">
            <a:avLst/>
          </a:prstGeom>
          <a:noFill/>
          <a:ln/>
        </p:spPr>
        <p:txBody>
          <a:bodyPr wrap="square" lIns="0" tIns="0" rIns="0" bIns="0" rtlCol="0" anchor="ctr"/>
          <a:lstStyle/>
          <a:p>
            <a:pPr algn="r" indent="0" marL="0">
              <a:buNone/>
            </a:pPr>
            <a:r>
              <a:rPr lang="en-US" sz="900" dirty="0">
                <a:solidFill>
                  <a:srgbClr val="8CA3C7"/>
                </a:solidFill>
                <a:latin typeface="Calibri" pitchFamily="34" charset="0"/>
                <a:ea typeface="Calibri" pitchFamily="34" charset="-122"/>
                <a:cs typeface="Calibri" pitchFamily="34" charset="-120"/>
              </a:rPr>
              <a:t>05</a:t>
            </a:r>
            <a:endParaRPr lang="en-US" sz="900" dirty="0"/>
          </a:p>
        </p:txBody>
      </p:sp>
      <p:sp>
        <p:nvSpPr>
          <p:cNvPr id="6" name="Shape 3"/>
          <p:cNvSpPr/>
          <p:nvPr/>
        </p:nvSpPr>
        <p:spPr>
          <a:xfrm>
            <a:off x="1931670" y="3063240"/>
            <a:ext cx="8298180" cy="0"/>
          </a:xfrm>
          <a:prstGeom prst="line">
            <a:avLst/>
          </a:prstGeom>
          <a:noFill/>
          <a:ln w="19050">
            <a:solidFill>
              <a:srgbClr val="8CA3C7"/>
            </a:solidFill>
            <a:prstDash val="dash"/>
          </a:ln>
        </p:spPr>
      </p:sp>
      <p:sp>
        <p:nvSpPr>
          <p:cNvPr id="7" name="Shape 4"/>
          <p:cNvSpPr/>
          <p:nvPr/>
        </p:nvSpPr>
        <p:spPr>
          <a:xfrm>
            <a:off x="1565910" y="2697480"/>
            <a:ext cx="731520" cy="731520"/>
          </a:xfrm>
          <a:prstGeom prst="ellipse">
            <a:avLst/>
          </a:prstGeom>
          <a:solidFill>
            <a:srgbClr val="0B1B34"/>
          </a:solidFill>
          <a:ln w="12700">
            <a:solidFill>
              <a:srgbClr val="0B1B34"/>
            </a:solidFill>
            <a:prstDash val="solid"/>
          </a:ln>
        </p:spPr>
      </p:sp>
      <p:pic>
        <p:nvPicPr>
          <p:cNvPr id="8" name="Image 0" descr="C:\Users\Trey\AppData\Local\Temp\claude\c--Projects-astral-project-src-pages-theknowledgebase\594bbb08-08fe-467c-99d2-4fe53cb86141\scratchpad\brief14n\icons\gradcap_gold.png">    </p:cNvPr>
          <p:cNvPicPr>
            <a:picLocks noChangeAspect="1"/>
          </p:cNvPicPr>
          <p:nvPr/>
        </p:nvPicPr>
        <p:blipFill>
          <a:blip r:embed="rId1"/>
          <a:stretch>
            <a:fillRect/>
          </a:stretch>
        </p:blipFill>
        <p:spPr>
          <a:xfrm>
            <a:off x="1734160" y="2865730"/>
            <a:ext cx="395021" cy="395021"/>
          </a:xfrm>
          <a:prstGeom prst="rect">
            <a:avLst/>
          </a:prstGeom>
        </p:spPr>
      </p:pic>
      <p:sp>
        <p:nvSpPr>
          <p:cNvPr id="9" name="Shape 5"/>
          <p:cNvSpPr/>
          <p:nvPr/>
        </p:nvSpPr>
        <p:spPr>
          <a:xfrm>
            <a:off x="2096262" y="3200400"/>
            <a:ext cx="274320" cy="274320"/>
          </a:xfrm>
          <a:prstGeom prst="ellipse">
            <a:avLst/>
          </a:prstGeom>
          <a:solidFill>
            <a:srgbClr val="FFC72C"/>
          </a:solidFill>
          <a:ln w="12700">
            <a:solidFill>
              <a:srgbClr val="12284B"/>
            </a:solidFill>
            <a:prstDash val="solid"/>
          </a:ln>
        </p:spPr>
      </p:sp>
      <p:sp>
        <p:nvSpPr>
          <p:cNvPr id="10" name="Text 6"/>
          <p:cNvSpPr txBox="1"/>
          <p:nvPr/>
        </p:nvSpPr>
        <p:spPr>
          <a:xfrm>
            <a:off x="2096262" y="3200400"/>
            <a:ext cx="274320" cy="274320"/>
          </a:xfrm>
          <a:prstGeom prst="rect">
            <a:avLst/>
          </a:prstGeom>
          <a:noFill/>
          <a:ln/>
        </p:spPr>
        <p:txBody>
          <a:bodyPr wrap="square" lIns="0" tIns="0" rIns="0" bIns="0" rtlCol="0" anchor="ctr"/>
          <a:lstStyle/>
          <a:p>
            <a:pPr algn="ctr" indent="0" marL="0">
              <a:buNone/>
            </a:pPr>
            <a:r>
              <a:rPr lang="en-US" sz="1000" b="1" dirty="0">
                <a:solidFill>
                  <a:srgbClr val="0B1B34"/>
                </a:solidFill>
                <a:latin typeface="Calibri" pitchFamily="34" charset="0"/>
                <a:ea typeface="Calibri" pitchFamily="34" charset="-122"/>
                <a:cs typeface="Calibri" pitchFamily="34" charset="-120"/>
              </a:rPr>
              <a:t>1</a:t>
            </a:r>
            <a:endParaRPr lang="en-US" sz="1000" dirty="0"/>
          </a:p>
        </p:txBody>
      </p:sp>
      <p:sp>
        <p:nvSpPr>
          <p:cNvPr id="11" name="Text 7"/>
          <p:cNvSpPr txBox="1"/>
          <p:nvPr/>
        </p:nvSpPr>
        <p:spPr>
          <a:xfrm>
            <a:off x="685800" y="3657600"/>
            <a:ext cx="249174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Commissioning</a:t>
            </a:r>
            <a:endParaRPr lang="en-US" sz="1700" dirty="0"/>
          </a:p>
        </p:txBody>
      </p:sp>
      <p:sp>
        <p:nvSpPr>
          <p:cNvPr id="12" name="Text 8"/>
          <p:cNvSpPr txBox="1"/>
          <p:nvPr/>
        </p:nvSpPr>
        <p:spPr>
          <a:xfrm>
            <a:off x="777240" y="4160520"/>
            <a:ext cx="2308860" cy="1188720"/>
          </a:xfrm>
          <a:prstGeom prst="rect">
            <a:avLst/>
          </a:prstGeom>
          <a:noFill/>
          <a:ln/>
        </p:spPr>
        <p:txBody>
          <a:bodyPr wrap="square" lIns="0" tIns="0" rIns="0" bIns="0" rtlCol="0" anchor="t"/>
          <a:lstStyle/>
          <a:p>
            <a:pPr algn="ctr" indent="0" marL="0">
              <a:buNone/>
            </a:pPr>
            <a:r>
              <a:rPr lang="en-US" sz="1300" dirty="0">
                <a:solidFill>
                  <a:srgbClr val="8CA3C7"/>
                </a:solidFill>
                <a:latin typeface="Calibri" pitchFamily="34" charset="0"/>
                <a:ea typeface="Calibri" pitchFamily="34" charset="-122"/>
                <a:cs typeface="Calibri" pitchFamily="34" charset="-120"/>
              </a:rPr>
              <a:t>AFROTC / OTS / USAFA</a:t>
            </a:r>
            <a:endParaRPr lang="en-US" sz="1300" dirty="0"/>
          </a:p>
        </p:txBody>
      </p:sp>
      <p:sp>
        <p:nvSpPr>
          <p:cNvPr id="13" name="Shape 9"/>
          <p:cNvSpPr/>
          <p:nvPr/>
        </p:nvSpPr>
        <p:spPr>
          <a:xfrm>
            <a:off x="4331970" y="2697480"/>
            <a:ext cx="731520" cy="731520"/>
          </a:xfrm>
          <a:prstGeom prst="ellipse">
            <a:avLst/>
          </a:prstGeom>
          <a:solidFill>
            <a:srgbClr val="0B1B34"/>
          </a:solidFill>
          <a:ln w="12700">
            <a:solidFill>
              <a:srgbClr val="0B1B34"/>
            </a:solidFill>
            <a:prstDash val="solid"/>
          </a:ln>
        </p:spPr>
      </p:sp>
      <p:pic>
        <p:nvPicPr>
          <p:cNvPr id="14" name="Image 1" descr="C:\Users\Trey\AppData\Local\Temp\claude\c--Projects-astral-project-src-pages-theknowledgebase\594bbb08-08fe-467c-99d2-4fe53cb86141\scratchpad\brief14n\icons\compass_gold.png">    </p:cNvPr>
          <p:cNvPicPr>
            <a:picLocks noChangeAspect="1"/>
          </p:cNvPicPr>
          <p:nvPr/>
        </p:nvPicPr>
        <p:blipFill>
          <a:blip r:embed="rId2"/>
          <a:stretch>
            <a:fillRect/>
          </a:stretch>
        </p:blipFill>
        <p:spPr>
          <a:xfrm>
            <a:off x="4500220" y="2865730"/>
            <a:ext cx="395021" cy="395021"/>
          </a:xfrm>
          <a:prstGeom prst="rect">
            <a:avLst/>
          </a:prstGeom>
        </p:spPr>
      </p:pic>
      <p:sp>
        <p:nvSpPr>
          <p:cNvPr id="15" name="Shape 10"/>
          <p:cNvSpPr/>
          <p:nvPr/>
        </p:nvSpPr>
        <p:spPr>
          <a:xfrm>
            <a:off x="4862322" y="3200400"/>
            <a:ext cx="274320" cy="274320"/>
          </a:xfrm>
          <a:prstGeom prst="ellipse">
            <a:avLst/>
          </a:prstGeom>
          <a:solidFill>
            <a:srgbClr val="FFC72C"/>
          </a:solidFill>
          <a:ln w="12700">
            <a:solidFill>
              <a:srgbClr val="12284B"/>
            </a:solidFill>
            <a:prstDash val="solid"/>
          </a:ln>
        </p:spPr>
      </p:sp>
      <p:sp>
        <p:nvSpPr>
          <p:cNvPr id="16" name="Text 11"/>
          <p:cNvSpPr txBox="1"/>
          <p:nvPr/>
        </p:nvSpPr>
        <p:spPr>
          <a:xfrm>
            <a:off x="4862322" y="3200400"/>
            <a:ext cx="274320" cy="274320"/>
          </a:xfrm>
          <a:prstGeom prst="rect">
            <a:avLst/>
          </a:prstGeom>
          <a:noFill/>
          <a:ln/>
        </p:spPr>
        <p:txBody>
          <a:bodyPr wrap="square" lIns="0" tIns="0" rIns="0" bIns="0" rtlCol="0" anchor="ctr"/>
          <a:lstStyle/>
          <a:p>
            <a:pPr algn="ctr" indent="0" marL="0">
              <a:buNone/>
            </a:pPr>
            <a:r>
              <a:rPr lang="en-US" sz="1000" b="1" dirty="0">
                <a:solidFill>
                  <a:srgbClr val="0B1B34"/>
                </a:solidFill>
                <a:latin typeface="Calibri" pitchFamily="34" charset="0"/>
                <a:ea typeface="Calibri" pitchFamily="34" charset="-122"/>
                <a:cs typeface="Calibri" pitchFamily="34" charset="-120"/>
              </a:rPr>
              <a:t>2</a:t>
            </a:r>
            <a:endParaRPr lang="en-US" sz="1000" dirty="0"/>
          </a:p>
        </p:txBody>
      </p:sp>
      <p:sp>
        <p:nvSpPr>
          <p:cNvPr id="17" name="Text 12"/>
          <p:cNvSpPr txBox="1"/>
          <p:nvPr/>
        </p:nvSpPr>
        <p:spPr>
          <a:xfrm>
            <a:off x="3451860" y="3657600"/>
            <a:ext cx="249174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Initial Skills Course</a:t>
            </a:r>
            <a:endParaRPr lang="en-US" sz="1700" dirty="0"/>
          </a:p>
        </p:txBody>
      </p:sp>
      <p:sp>
        <p:nvSpPr>
          <p:cNvPr id="18" name="Text 13"/>
          <p:cNvSpPr txBox="1"/>
          <p:nvPr/>
        </p:nvSpPr>
        <p:spPr>
          <a:xfrm>
            <a:off x="3543300" y="4160520"/>
            <a:ext cx="2308860" cy="1188720"/>
          </a:xfrm>
          <a:prstGeom prst="rect">
            <a:avLst/>
          </a:prstGeom>
          <a:noFill/>
          <a:ln/>
        </p:spPr>
        <p:txBody>
          <a:bodyPr wrap="square" lIns="0" tIns="0" rIns="0" bIns="0" rtlCol="0" anchor="t"/>
          <a:lstStyle/>
          <a:p>
            <a:pPr algn="ctr" indent="0" marL="0">
              <a:buNone/>
            </a:pPr>
            <a:r>
              <a:rPr lang="en-US" sz="1300" dirty="0">
                <a:solidFill>
                  <a:srgbClr val="8CA3C7"/>
                </a:solidFill>
                <a:latin typeface="Calibri" pitchFamily="34" charset="0"/>
                <a:ea typeface="Calibri" pitchFamily="34" charset="-122"/>
                <a:cs typeface="Calibri" pitchFamily="34" charset="-120"/>
              </a:rPr>
              <a:t>Intelligence Officer Initial Skills Course at Goodfellow AFB, Texas</a:t>
            </a:r>
            <a:endParaRPr lang="en-US" sz="1300" dirty="0"/>
          </a:p>
        </p:txBody>
      </p:sp>
      <p:sp>
        <p:nvSpPr>
          <p:cNvPr id="19" name="Shape 14"/>
          <p:cNvSpPr/>
          <p:nvPr/>
        </p:nvSpPr>
        <p:spPr>
          <a:xfrm>
            <a:off x="7098030" y="2697480"/>
            <a:ext cx="731520" cy="731520"/>
          </a:xfrm>
          <a:prstGeom prst="ellipse">
            <a:avLst/>
          </a:prstGeom>
          <a:solidFill>
            <a:srgbClr val="0B1B34"/>
          </a:solidFill>
          <a:ln w="12700">
            <a:solidFill>
              <a:srgbClr val="0B1B34"/>
            </a:solidFill>
            <a:prstDash val="solid"/>
          </a:ln>
        </p:spPr>
      </p:sp>
      <p:pic>
        <p:nvPicPr>
          <p:cNvPr id="20" name="Image 2" descr="C:\Users\Trey\AppData\Local\Temp\claude\c--Projects-astral-project-src-pages-theknowledgebase\594bbb08-08fe-467c-99d2-4fe53cb86141\scratchpad\brief14n\icons\sitemap_gold.png">    </p:cNvPr>
          <p:cNvPicPr>
            <a:picLocks noChangeAspect="1"/>
          </p:cNvPicPr>
          <p:nvPr/>
        </p:nvPicPr>
        <p:blipFill>
          <a:blip r:embed="rId3"/>
          <a:stretch>
            <a:fillRect/>
          </a:stretch>
        </p:blipFill>
        <p:spPr>
          <a:xfrm>
            <a:off x="7266280" y="2865730"/>
            <a:ext cx="395021" cy="395021"/>
          </a:xfrm>
          <a:prstGeom prst="rect">
            <a:avLst/>
          </a:prstGeom>
        </p:spPr>
      </p:pic>
      <p:sp>
        <p:nvSpPr>
          <p:cNvPr id="21" name="Shape 15"/>
          <p:cNvSpPr/>
          <p:nvPr/>
        </p:nvSpPr>
        <p:spPr>
          <a:xfrm>
            <a:off x="7628382" y="3200400"/>
            <a:ext cx="274320" cy="274320"/>
          </a:xfrm>
          <a:prstGeom prst="ellipse">
            <a:avLst/>
          </a:prstGeom>
          <a:solidFill>
            <a:srgbClr val="FFC72C"/>
          </a:solidFill>
          <a:ln w="12700">
            <a:solidFill>
              <a:srgbClr val="12284B"/>
            </a:solidFill>
            <a:prstDash val="solid"/>
          </a:ln>
        </p:spPr>
      </p:sp>
      <p:sp>
        <p:nvSpPr>
          <p:cNvPr id="22" name="Text 16"/>
          <p:cNvSpPr txBox="1"/>
          <p:nvPr/>
        </p:nvSpPr>
        <p:spPr>
          <a:xfrm>
            <a:off x="7628382" y="3200400"/>
            <a:ext cx="274320" cy="274320"/>
          </a:xfrm>
          <a:prstGeom prst="rect">
            <a:avLst/>
          </a:prstGeom>
          <a:noFill/>
          <a:ln/>
        </p:spPr>
        <p:txBody>
          <a:bodyPr wrap="square" lIns="0" tIns="0" rIns="0" bIns="0" rtlCol="0" anchor="ctr"/>
          <a:lstStyle/>
          <a:p>
            <a:pPr algn="ctr" indent="0" marL="0">
              <a:buNone/>
            </a:pPr>
            <a:r>
              <a:rPr lang="en-US" sz="1000" b="1" dirty="0">
                <a:solidFill>
                  <a:srgbClr val="0B1B34"/>
                </a:solidFill>
                <a:latin typeface="Calibri" pitchFamily="34" charset="0"/>
                <a:ea typeface="Calibri" pitchFamily="34" charset="-122"/>
                <a:cs typeface="Calibri" pitchFamily="34" charset="-120"/>
              </a:rPr>
              <a:t>3</a:t>
            </a:r>
            <a:endParaRPr lang="en-US" sz="1000" dirty="0"/>
          </a:p>
        </p:txBody>
      </p:sp>
      <p:sp>
        <p:nvSpPr>
          <p:cNvPr id="23" name="Text 17"/>
          <p:cNvSpPr txBox="1"/>
          <p:nvPr/>
        </p:nvSpPr>
        <p:spPr>
          <a:xfrm>
            <a:off x="6217920" y="3657600"/>
            <a:ext cx="249174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Mission Qualification</a:t>
            </a:r>
            <a:endParaRPr lang="en-US" sz="1700" dirty="0"/>
          </a:p>
        </p:txBody>
      </p:sp>
      <p:sp>
        <p:nvSpPr>
          <p:cNvPr id="24" name="Text 18"/>
          <p:cNvSpPr txBox="1"/>
          <p:nvPr/>
        </p:nvSpPr>
        <p:spPr>
          <a:xfrm>
            <a:off x="6309360" y="4160520"/>
            <a:ext cx="2308860" cy="1188720"/>
          </a:xfrm>
          <a:prstGeom prst="rect">
            <a:avLst/>
          </a:prstGeom>
          <a:noFill/>
          <a:ln/>
        </p:spPr>
        <p:txBody>
          <a:bodyPr wrap="square" lIns="0" tIns="0" rIns="0" bIns="0" rtlCol="0" anchor="t"/>
          <a:lstStyle/>
          <a:p>
            <a:pPr algn="ctr" indent="0" marL="0">
              <a:buNone/>
            </a:pPr>
            <a:r>
              <a:rPr lang="en-US" sz="1300" dirty="0">
                <a:solidFill>
                  <a:srgbClr val="8CA3C7"/>
                </a:solidFill>
                <a:latin typeface="Calibri" pitchFamily="34" charset="0"/>
                <a:ea typeface="Calibri" pitchFamily="34" charset="-122"/>
                <a:cs typeface="Calibri" pitchFamily="34" charset="-120"/>
              </a:rPr>
              <a:t>Training for your unit’s mission, before you are fully qualified</a:t>
            </a:r>
            <a:endParaRPr lang="en-US" sz="1300" dirty="0"/>
          </a:p>
        </p:txBody>
      </p:sp>
      <p:sp>
        <p:nvSpPr>
          <p:cNvPr id="25" name="Shape 19"/>
          <p:cNvSpPr/>
          <p:nvPr/>
        </p:nvSpPr>
        <p:spPr>
          <a:xfrm>
            <a:off x="9864090" y="2697480"/>
            <a:ext cx="731520" cy="731520"/>
          </a:xfrm>
          <a:prstGeom prst="ellipse">
            <a:avLst/>
          </a:prstGeom>
          <a:solidFill>
            <a:srgbClr val="FFC72C"/>
          </a:solidFill>
          <a:ln w="12700">
            <a:solidFill>
              <a:srgbClr val="FFC72C"/>
            </a:solidFill>
            <a:prstDash val="solid"/>
          </a:ln>
        </p:spPr>
      </p:sp>
      <p:pic>
        <p:nvPicPr>
          <p:cNvPr id="26" name="Image 3" descr="C:\Users\Trey\AppData\Local\Temp\claude\c--Projects-astral-project-src-pages-theknowledgebase\594bbb08-08fe-467c-99d2-4fe53cb86141\scratchpad\brief14n\icons\jet_navy.png">    </p:cNvPr>
          <p:cNvPicPr>
            <a:picLocks noChangeAspect="1"/>
          </p:cNvPicPr>
          <p:nvPr/>
        </p:nvPicPr>
        <p:blipFill>
          <a:blip r:embed="rId4"/>
          <a:stretch>
            <a:fillRect/>
          </a:stretch>
        </p:blipFill>
        <p:spPr>
          <a:xfrm>
            <a:off x="10032340" y="2865730"/>
            <a:ext cx="395021" cy="395021"/>
          </a:xfrm>
          <a:prstGeom prst="rect">
            <a:avLst/>
          </a:prstGeom>
        </p:spPr>
      </p:pic>
      <p:sp>
        <p:nvSpPr>
          <p:cNvPr id="27" name="Shape 20"/>
          <p:cNvSpPr/>
          <p:nvPr/>
        </p:nvSpPr>
        <p:spPr>
          <a:xfrm>
            <a:off x="10394442" y="3200400"/>
            <a:ext cx="274320" cy="274320"/>
          </a:xfrm>
          <a:prstGeom prst="ellipse">
            <a:avLst/>
          </a:prstGeom>
          <a:solidFill>
            <a:srgbClr val="FFC72C"/>
          </a:solidFill>
          <a:ln w="12700">
            <a:solidFill>
              <a:srgbClr val="12284B"/>
            </a:solidFill>
            <a:prstDash val="solid"/>
          </a:ln>
        </p:spPr>
      </p:sp>
      <p:sp>
        <p:nvSpPr>
          <p:cNvPr id="28" name="Text 21"/>
          <p:cNvSpPr txBox="1"/>
          <p:nvPr/>
        </p:nvSpPr>
        <p:spPr>
          <a:xfrm>
            <a:off x="10394442" y="3200400"/>
            <a:ext cx="274320" cy="274320"/>
          </a:xfrm>
          <a:prstGeom prst="rect">
            <a:avLst/>
          </a:prstGeom>
          <a:noFill/>
          <a:ln/>
        </p:spPr>
        <p:txBody>
          <a:bodyPr wrap="square" lIns="0" tIns="0" rIns="0" bIns="0" rtlCol="0" anchor="ctr"/>
          <a:lstStyle/>
          <a:p>
            <a:pPr algn="ctr" indent="0" marL="0">
              <a:buNone/>
            </a:pPr>
            <a:r>
              <a:rPr lang="en-US" sz="1000" b="1" dirty="0">
                <a:solidFill>
                  <a:srgbClr val="0B1B34"/>
                </a:solidFill>
                <a:latin typeface="Calibri" pitchFamily="34" charset="0"/>
                <a:ea typeface="Calibri" pitchFamily="34" charset="-122"/>
                <a:cs typeface="Calibri" pitchFamily="34" charset="-120"/>
              </a:rPr>
              <a:t>4</a:t>
            </a:r>
            <a:endParaRPr lang="en-US" sz="1000" dirty="0"/>
          </a:p>
        </p:txBody>
      </p:sp>
      <p:sp>
        <p:nvSpPr>
          <p:cNvPr id="29" name="Text 22"/>
          <p:cNvSpPr txBox="1"/>
          <p:nvPr/>
        </p:nvSpPr>
        <p:spPr>
          <a:xfrm>
            <a:off x="8983980" y="3657600"/>
            <a:ext cx="249174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First Assignment</a:t>
            </a:r>
            <a:endParaRPr lang="en-US" sz="1700" dirty="0"/>
          </a:p>
        </p:txBody>
      </p:sp>
      <p:sp>
        <p:nvSpPr>
          <p:cNvPr id="30" name="Text 23"/>
          <p:cNvSpPr txBox="1"/>
          <p:nvPr/>
        </p:nvSpPr>
        <p:spPr>
          <a:xfrm>
            <a:off x="9075420" y="4160520"/>
            <a:ext cx="2308860" cy="1188720"/>
          </a:xfrm>
          <a:prstGeom prst="rect">
            <a:avLst/>
          </a:prstGeom>
          <a:noFill/>
          <a:ln/>
        </p:spPr>
        <p:txBody>
          <a:bodyPr wrap="square" lIns="0" tIns="0" rIns="0" bIns="0" rtlCol="0" anchor="t"/>
          <a:lstStyle/>
          <a:p>
            <a:pPr algn="ctr" indent="0" marL="0">
              <a:buNone/>
            </a:pPr>
            <a:r>
              <a:rPr lang="en-US" sz="1300" dirty="0">
                <a:solidFill>
                  <a:srgbClr val="8CA3C7"/>
                </a:solidFill>
                <a:latin typeface="Calibri" pitchFamily="34" charset="0"/>
                <a:ea typeface="Calibri" pitchFamily="34" charset="-122"/>
                <a:cs typeface="Calibri" pitchFamily="34" charset="-120"/>
              </a:rPr>
              <a:t>Often an intelligence flight at a flying wing</a:t>
            </a:r>
            <a:endParaRPr lang="en-US" sz="1300" dirty="0"/>
          </a:p>
        </p:txBody>
      </p:sp>
      <p:sp>
        <p:nvSpPr>
          <p:cNvPr id="31" name="Text 24"/>
          <p:cNvSpPr txBox="1"/>
          <p:nvPr/>
        </p:nvSpPr>
        <p:spPr>
          <a:xfrm>
            <a:off x="548640" y="5852160"/>
            <a:ext cx="10972800" cy="457200"/>
          </a:xfrm>
          <a:prstGeom prst="rect">
            <a:avLst/>
          </a:prstGeom>
          <a:noFill/>
          <a:ln/>
        </p:spPr>
        <p:txBody>
          <a:bodyPr wrap="square" lIns="0" tIns="0" rIns="0" bIns="0" rtlCol="0" anchor="ctr"/>
          <a:lstStyle/>
          <a:p>
            <a:pPr indent="0" marL="0">
              <a:buNone/>
            </a:pPr>
            <a:r>
              <a:rPr lang="en-US" sz="1300" i="1" dirty="0">
                <a:solidFill>
                  <a:srgbClr val="8CA3C7"/>
                </a:solidFill>
                <a:latin typeface="Calibri" pitchFamily="34" charset="0"/>
                <a:ea typeface="Calibri" pitchFamily="34" charset="-122"/>
                <a:cs typeface="Calibri" pitchFamily="34" charset="-120"/>
              </a:rPr>
              <a:t>Goodfellow AFB, Texas runs nearly all Air Force intelligence training. A few courses are taught at other sites.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8229600" cy="320040"/>
          </a:xfrm>
          <a:prstGeom prst="rect">
            <a:avLst/>
          </a:prstGeom>
          <a:noFill/>
          <a:ln/>
        </p:spPr>
        <p:txBody>
          <a:bodyPr wrap="square" lIns="0" tIns="0" rIns="0" bIns="0" rtlCol="0" anchor="ctr"/>
          <a:lstStyle/>
          <a:p>
            <a:pPr indent="0" marL="0">
              <a:buNone/>
            </a:pPr>
            <a:r>
              <a:rPr lang="en-US" sz="1300" b="1" spc="300" kern="0" dirty="0">
                <a:solidFill>
                  <a:srgbClr val="FFC72C"/>
                </a:solidFill>
                <a:latin typeface="Calibri" pitchFamily="34" charset="0"/>
                <a:ea typeface="Calibri" pitchFamily="34" charset="-122"/>
                <a:cs typeface="Calibri" pitchFamily="34" charset="-120"/>
              </a:rPr>
              <a:t>WHY INTEL EXISTS</a:t>
            </a:r>
            <a:endParaRPr lang="en-US" sz="1300" dirty="0"/>
          </a:p>
        </p:txBody>
      </p:sp>
      <p:sp>
        <p:nvSpPr>
          <p:cNvPr id="4" name="Text 1"/>
          <p:cNvSpPr txBox="1"/>
          <p:nvPr/>
        </p:nvSpPr>
        <p:spPr>
          <a:xfrm>
            <a:off x="11155680" y="6400800"/>
            <a:ext cx="731520" cy="274320"/>
          </a:xfrm>
          <a:prstGeom prst="rect">
            <a:avLst/>
          </a:prstGeom>
          <a:noFill/>
          <a:ln/>
        </p:spPr>
        <p:txBody>
          <a:bodyPr wrap="square" lIns="0" tIns="0" rIns="0" bIns="0" rtlCol="0" anchor="ctr"/>
          <a:lstStyle/>
          <a:p>
            <a:pPr algn="r" indent="0" marL="0">
              <a:buNone/>
            </a:pPr>
            <a:r>
              <a:rPr lang="en-US" sz="900" dirty="0">
                <a:solidFill>
                  <a:srgbClr val="5C6B82"/>
                </a:solidFill>
                <a:latin typeface="Calibri" pitchFamily="34" charset="0"/>
                <a:ea typeface="Calibri" pitchFamily="34" charset="-122"/>
                <a:cs typeface="Calibri" pitchFamily="34" charset="-120"/>
              </a:rPr>
              <a:t>06</a:t>
            </a:r>
            <a:endParaRPr lang="en-US" sz="900" dirty="0"/>
          </a:p>
        </p:txBody>
      </p:sp>
      <p:sp>
        <p:nvSpPr>
          <p:cNvPr id="5" name="Text 2"/>
          <p:cNvSpPr txBox="1"/>
          <p:nvPr/>
        </p:nvSpPr>
        <p:spPr>
          <a:xfrm>
            <a:off x="548640" y="914400"/>
            <a:ext cx="6035040" cy="1737360"/>
          </a:xfrm>
          <a:prstGeom prst="rect">
            <a:avLst/>
          </a:prstGeom>
          <a:noFill/>
          <a:ln/>
        </p:spPr>
        <p:txBody>
          <a:bodyPr wrap="square" lIns="0" tIns="0" rIns="0" bIns="0" rtlCol="0" anchor="ctr"/>
          <a:lstStyle/>
          <a:p>
            <a:pPr indent="0" marL="0">
              <a:buNone/>
            </a:pPr>
            <a:r>
              <a:rPr lang="en-US" sz="3200" b="1" dirty="0">
                <a:solidFill>
                  <a:srgbClr val="12284B"/>
                </a:solidFill>
                <a:latin typeface="Cambria" pitchFamily="34" charset="0"/>
                <a:ea typeface="Cambria" pitchFamily="34" charset="-122"/>
                <a:cs typeface="Cambria" pitchFamily="34" charset="-120"/>
              </a:rPr>
              <a:t>Intelligence is how the Air Force knows what it doesn’t know</a:t>
            </a:r>
            <a:endParaRPr lang="en-US" sz="3200" dirty="0"/>
          </a:p>
        </p:txBody>
      </p:sp>
      <p:sp>
        <p:nvSpPr>
          <p:cNvPr id="6" name="Text 3"/>
          <p:cNvSpPr txBox="1"/>
          <p:nvPr/>
        </p:nvSpPr>
        <p:spPr>
          <a:xfrm>
            <a:off x="548640" y="2880360"/>
            <a:ext cx="5852160" cy="173736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The Air Force’s own description of the job is that 14N officers lead and perform intelligence activities across the full range of military operations. In practice, they turn a commander’s questions into collection requirements, task the sensors and sources that can answer them, and produce analysis the commander can act on.</a:t>
            </a:r>
            <a:endParaRPr lang="en-US" sz="1500" dirty="0"/>
          </a:p>
        </p:txBody>
      </p:sp>
      <p:sp>
        <p:nvSpPr>
          <p:cNvPr id="7" name="Shape 4"/>
          <p:cNvSpPr/>
          <p:nvPr/>
        </p:nvSpPr>
        <p:spPr>
          <a:xfrm>
            <a:off x="548640" y="4983480"/>
            <a:ext cx="566928" cy="566928"/>
          </a:xfrm>
          <a:prstGeom prst="ellipse">
            <a:avLst/>
          </a:prstGeom>
          <a:solidFill>
            <a:srgbClr val="12284B"/>
          </a:solidFill>
          <a:ln w="12700">
            <a:solidFill>
              <a:srgbClr val="12284B"/>
            </a:solidFill>
            <a:prstDash val="solid"/>
          </a:ln>
        </p:spPr>
      </p:sp>
      <p:pic>
        <p:nvPicPr>
          <p:cNvPr id="8" name="Image 0" descr="C:\Users\Trey\AppData\Local\Temp\claude\c--Projects-astral-project-src-pages-theknowledgebase\594bbb08-08fe-467c-99d2-4fe53cb86141\scratchpad\brief14n\icons\eye_gold.png">    </p:cNvPr>
          <p:cNvPicPr>
            <a:picLocks noChangeAspect="1"/>
          </p:cNvPicPr>
          <p:nvPr/>
        </p:nvPicPr>
        <p:blipFill>
          <a:blip r:embed="rId1"/>
          <a:stretch>
            <a:fillRect/>
          </a:stretch>
        </p:blipFill>
        <p:spPr>
          <a:xfrm>
            <a:off x="679033" y="5113873"/>
            <a:ext cx="306141" cy="306141"/>
          </a:xfrm>
          <a:prstGeom prst="rect">
            <a:avLst/>
          </a:prstGeom>
        </p:spPr>
      </p:pic>
      <p:sp>
        <p:nvSpPr>
          <p:cNvPr id="9" name="Text 5"/>
          <p:cNvSpPr txBox="1"/>
          <p:nvPr/>
        </p:nvSpPr>
        <p:spPr>
          <a:xfrm>
            <a:off x="365760" y="5623560"/>
            <a:ext cx="932688" cy="320040"/>
          </a:xfrm>
          <a:prstGeom prst="rect">
            <a:avLst/>
          </a:prstGeom>
          <a:noFill/>
          <a:ln/>
        </p:spPr>
        <p:txBody>
          <a:bodyPr wrap="square" lIns="0" tIns="0" rIns="0" bIns="0" rtlCol="0" anchor="t"/>
          <a:lstStyle/>
          <a:p>
            <a:pPr algn="ctr" indent="0" marL="0">
              <a:buNone/>
            </a:pPr>
            <a:r>
              <a:rPr lang="en-US" sz="1150" b="1" dirty="0">
                <a:solidFill>
                  <a:srgbClr val="12284B"/>
                </a:solidFill>
                <a:latin typeface="Calibri" pitchFamily="34" charset="0"/>
                <a:ea typeface="Calibri" pitchFamily="34" charset="-122"/>
                <a:cs typeface="Calibri" pitchFamily="34" charset="-120"/>
              </a:rPr>
              <a:t>Collect</a:t>
            </a:r>
            <a:endParaRPr lang="en-US" sz="1150" dirty="0"/>
          </a:p>
        </p:txBody>
      </p:sp>
      <p:sp>
        <p:nvSpPr>
          <p:cNvPr id="10" name="Shape 6"/>
          <p:cNvSpPr/>
          <p:nvPr/>
        </p:nvSpPr>
        <p:spPr>
          <a:xfrm>
            <a:off x="1280160" y="5175504"/>
            <a:ext cx="822960" cy="201168"/>
          </a:xfrm>
          <a:prstGeom prst="rightArrow">
            <a:avLst/>
          </a:prstGeom>
          <a:solidFill>
            <a:srgbClr val="FFC72C"/>
          </a:solidFill>
          <a:ln w="12700">
            <a:solidFill>
              <a:srgbClr val="FFC72C"/>
            </a:solidFill>
            <a:prstDash val="solid"/>
          </a:ln>
        </p:spPr>
      </p:sp>
      <p:sp>
        <p:nvSpPr>
          <p:cNvPr id="11" name="Shape 7"/>
          <p:cNvSpPr/>
          <p:nvPr/>
        </p:nvSpPr>
        <p:spPr>
          <a:xfrm>
            <a:off x="2468880" y="4983480"/>
            <a:ext cx="566928" cy="566928"/>
          </a:xfrm>
          <a:prstGeom prst="ellipse">
            <a:avLst/>
          </a:prstGeom>
          <a:solidFill>
            <a:srgbClr val="12284B"/>
          </a:solidFill>
          <a:ln w="12700">
            <a:solidFill>
              <a:srgbClr val="12284B"/>
            </a:solidFill>
            <a:prstDash val="solid"/>
          </a:ln>
        </p:spPr>
      </p:sp>
      <p:pic>
        <p:nvPicPr>
          <p:cNvPr id="12" name="Image 1" descr="C:\Users\Trey\AppData\Local\Temp\claude\c--Projects-astral-project-src-pages-theknowledgebase\594bbb08-08fe-467c-99d2-4fe53cb86141\scratchpad\brief14n\icons\sitemap_gold.png">    </p:cNvPr>
          <p:cNvPicPr>
            <a:picLocks noChangeAspect="1"/>
          </p:cNvPicPr>
          <p:nvPr/>
        </p:nvPicPr>
        <p:blipFill>
          <a:blip r:embed="rId2"/>
          <a:stretch>
            <a:fillRect/>
          </a:stretch>
        </p:blipFill>
        <p:spPr>
          <a:xfrm>
            <a:off x="2599273" y="5113873"/>
            <a:ext cx="306141" cy="306141"/>
          </a:xfrm>
          <a:prstGeom prst="rect">
            <a:avLst/>
          </a:prstGeom>
        </p:spPr>
      </p:pic>
      <p:sp>
        <p:nvSpPr>
          <p:cNvPr id="13" name="Text 8"/>
          <p:cNvSpPr txBox="1"/>
          <p:nvPr/>
        </p:nvSpPr>
        <p:spPr>
          <a:xfrm>
            <a:off x="2286000" y="5623560"/>
            <a:ext cx="932688" cy="320040"/>
          </a:xfrm>
          <a:prstGeom prst="rect">
            <a:avLst/>
          </a:prstGeom>
          <a:noFill/>
          <a:ln/>
        </p:spPr>
        <p:txBody>
          <a:bodyPr wrap="square" lIns="0" tIns="0" rIns="0" bIns="0" rtlCol="0" anchor="t"/>
          <a:lstStyle/>
          <a:p>
            <a:pPr algn="ctr" indent="0" marL="0">
              <a:buNone/>
            </a:pPr>
            <a:r>
              <a:rPr lang="en-US" sz="1150" b="1" dirty="0">
                <a:solidFill>
                  <a:srgbClr val="12284B"/>
                </a:solidFill>
                <a:latin typeface="Calibri" pitchFamily="34" charset="0"/>
                <a:ea typeface="Calibri" pitchFamily="34" charset="-122"/>
                <a:cs typeface="Calibri" pitchFamily="34" charset="-120"/>
              </a:rPr>
              <a:t>Analyze</a:t>
            </a:r>
            <a:endParaRPr lang="en-US" sz="1150" dirty="0"/>
          </a:p>
        </p:txBody>
      </p:sp>
      <p:sp>
        <p:nvSpPr>
          <p:cNvPr id="14" name="Shape 9"/>
          <p:cNvSpPr/>
          <p:nvPr/>
        </p:nvSpPr>
        <p:spPr>
          <a:xfrm>
            <a:off x="3200400" y="5175504"/>
            <a:ext cx="822960" cy="201168"/>
          </a:xfrm>
          <a:prstGeom prst="rightArrow">
            <a:avLst/>
          </a:prstGeom>
          <a:solidFill>
            <a:srgbClr val="FFC72C"/>
          </a:solidFill>
          <a:ln w="12700">
            <a:solidFill>
              <a:srgbClr val="FFC72C"/>
            </a:solidFill>
            <a:prstDash val="solid"/>
          </a:ln>
        </p:spPr>
      </p:sp>
      <p:sp>
        <p:nvSpPr>
          <p:cNvPr id="15" name="Shape 10"/>
          <p:cNvSpPr/>
          <p:nvPr/>
        </p:nvSpPr>
        <p:spPr>
          <a:xfrm>
            <a:off x="4389120" y="4983480"/>
            <a:ext cx="566928" cy="566928"/>
          </a:xfrm>
          <a:prstGeom prst="ellipse">
            <a:avLst/>
          </a:prstGeom>
          <a:solidFill>
            <a:srgbClr val="12284B"/>
          </a:solidFill>
          <a:ln w="12700">
            <a:solidFill>
              <a:srgbClr val="12284B"/>
            </a:solidFill>
            <a:prstDash val="solid"/>
          </a:ln>
        </p:spPr>
      </p:sp>
      <p:pic>
        <p:nvPicPr>
          <p:cNvPr id="16" name="Image 2" descr="C:\Users\Trey\AppData\Local\Temp\claude\c--Projects-astral-project-src-pages-theknowledgebase\594bbb08-08fe-467c-99d2-4fe53cb86141\scratchpad\brief14n\icons\shield_gold.png">    </p:cNvPr>
          <p:cNvPicPr>
            <a:picLocks noChangeAspect="1"/>
          </p:cNvPicPr>
          <p:nvPr/>
        </p:nvPicPr>
        <p:blipFill>
          <a:blip r:embed="rId3"/>
          <a:stretch>
            <a:fillRect/>
          </a:stretch>
        </p:blipFill>
        <p:spPr>
          <a:xfrm>
            <a:off x="4519513" y="5113873"/>
            <a:ext cx="306141" cy="306141"/>
          </a:xfrm>
          <a:prstGeom prst="rect">
            <a:avLst/>
          </a:prstGeom>
        </p:spPr>
      </p:pic>
      <p:sp>
        <p:nvSpPr>
          <p:cNvPr id="17" name="Text 11"/>
          <p:cNvSpPr txBox="1"/>
          <p:nvPr/>
        </p:nvSpPr>
        <p:spPr>
          <a:xfrm>
            <a:off x="4206240" y="5623560"/>
            <a:ext cx="932688" cy="320040"/>
          </a:xfrm>
          <a:prstGeom prst="rect">
            <a:avLst/>
          </a:prstGeom>
          <a:noFill/>
          <a:ln/>
        </p:spPr>
        <p:txBody>
          <a:bodyPr wrap="square" lIns="0" tIns="0" rIns="0" bIns="0" rtlCol="0" anchor="t"/>
          <a:lstStyle/>
          <a:p>
            <a:pPr algn="ctr" indent="0" marL="0">
              <a:buNone/>
            </a:pPr>
            <a:r>
              <a:rPr lang="en-US" sz="1150" b="1" dirty="0">
                <a:solidFill>
                  <a:srgbClr val="12284B"/>
                </a:solidFill>
                <a:latin typeface="Calibri" pitchFamily="34" charset="0"/>
                <a:ea typeface="Calibri" pitchFamily="34" charset="-122"/>
                <a:cs typeface="Calibri" pitchFamily="34" charset="-120"/>
              </a:rPr>
              <a:t>Decide</a:t>
            </a:r>
            <a:endParaRPr lang="en-US" sz="1150" dirty="0"/>
          </a:p>
        </p:txBody>
      </p:sp>
      <p:sp>
        <p:nvSpPr>
          <p:cNvPr id="18" name="Shape 12"/>
          <p:cNvSpPr/>
          <p:nvPr/>
        </p:nvSpPr>
        <p:spPr>
          <a:xfrm>
            <a:off x="7040880" y="1097280"/>
            <a:ext cx="4572000" cy="5029200"/>
          </a:xfrm>
          <a:prstGeom prst="roundRect">
            <a:avLst>
              <a:gd name="adj" fmla="val 1000"/>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19" name="Shape 13"/>
          <p:cNvSpPr/>
          <p:nvPr/>
        </p:nvSpPr>
        <p:spPr>
          <a:xfrm>
            <a:off x="7360920" y="1417320"/>
            <a:ext cx="640080" cy="640080"/>
          </a:xfrm>
          <a:prstGeom prst="ellipse">
            <a:avLst/>
          </a:prstGeom>
          <a:solidFill>
            <a:srgbClr val="12284B"/>
          </a:solidFill>
          <a:ln w="12700">
            <a:solidFill>
              <a:srgbClr val="12284B"/>
            </a:solidFill>
            <a:prstDash val="solid"/>
          </a:ln>
        </p:spPr>
      </p:sp>
      <p:pic>
        <p:nvPicPr>
          <p:cNvPr id="20" name="Image 3" descr="C:\Users\Trey\AppData\Local\Temp\claude\c--Projects-astral-project-src-pages-theknowledgebase\594bbb08-08fe-467c-99d2-4fe53cb86141\scratchpad\brief14n\icons\compass_gold.png">    </p:cNvPr>
          <p:cNvPicPr>
            <a:picLocks noChangeAspect="1"/>
          </p:cNvPicPr>
          <p:nvPr/>
        </p:nvPicPr>
        <p:blipFill>
          <a:blip r:embed="rId4"/>
          <a:stretch>
            <a:fillRect/>
          </a:stretch>
        </p:blipFill>
        <p:spPr>
          <a:xfrm>
            <a:off x="7508138" y="1564538"/>
            <a:ext cx="345643" cy="345643"/>
          </a:xfrm>
          <a:prstGeom prst="rect">
            <a:avLst/>
          </a:prstGeom>
        </p:spPr>
      </p:pic>
      <p:sp>
        <p:nvSpPr>
          <p:cNvPr id="21" name="Text 14"/>
          <p:cNvSpPr txBox="1"/>
          <p:nvPr/>
        </p:nvSpPr>
        <p:spPr>
          <a:xfrm>
            <a:off x="7360920" y="2286000"/>
            <a:ext cx="3931920" cy="640080"/>
          </a:xfrm>
          <a:prstGeom prst="rect">
            <a:avLst/>
          </a:prstGeom>
          <a:noFill/>
          <a:ln/>
        </p:spPr>
        <p:txBody>
          <a:bodyPr wrap="square" lIns="0" tIns="0" rIns="0" bIns="0" rtlCol="0" anchor="ctr"/>
          <a:lstStyle/>
          <a:p>
            <a:pPr indent="0" marL="0">
              <a:buNone/>
            </a:pPr>
            <a:r>
              <a:rPr lang="en-US" sz="3600" b="1" dirty="0">
                <a:solidFill>
                  <a:srgbClr val="12284B"/>
                </a:solidFill>
                <a:latin typeface="Cambria" pitchFamily="34" charset="0"/>
                <a:ea typeface="Cambria" pitchFamily="34" charset="-122"/>
                <a:cs typeface="Cambria" pitchFamily="34" charset="-120"/>
              </a:rPr>
              <a:t>OODA</a:t>
            </a:r>
            <a:endParaRPr lang="en-US" sz="3600" dirty="0"/>
          </a:p>
        </p:txBody>
      </p:sp>
      <p:sp>
        <p:nvSpPr>
          <p:cNvPr id="22" name="Text 15"/>
          <p:cNvSpPr txBox="1"/>
          <p:nvPr/>
        </p:nvSpPr>
        <p:spPr>
          <a:xfrm>
            <a:off x="7360920" y="2926080"/>
            <a:ext cx="4023360" cy="365760"/>
          </a:xfrm>
          <a:prstGeom prst="rect">
            <a:avLst/>
          </a:prstGeom>
          <a:noFill/>
          <a:ln/>
        </p:spPr>
        <p:txBody>
          <a:bodyPr wrap="square" lIns="0" tIns="0" rIns="0" bIns="0" rtlCol="0" anchor="t"/>
          <a:lstStyle/>
          <a:p>
            <a:pPr indent="0" marL="0">
              <a:buNone/>
            </a:pPr>
            <a:r>
              <a:rPr lang="en-US" sz="1400" i="1" dirty="0">
                <a:solidFill>
                  <a:srgbClr val="5C6B82"/>
                </a:solidFill>
                <a:latin typeface="Calibri" pitchFamily="34" charset="0"/>
                <a:ea typeface="Calibri" pitchFamily="34" charset="-122"/>
                <a:cs typeface="Calibri" pitchFamily="34" charset="-120"/>
              </a:rPr>
              <a:t>Observe → Orient → Decide → Act</a:t>
            </a:r>
            <a:endParaRPr lang="en-US" sz="1400" dirty="0"/>
          </a:p>
        </p:txBody>
      </p:sp>
      <p:sp>
        <p:nvSpPr>
          <p:cNvPr id="23" name="Text 16"/>
          <p:cNvSpPr txBox="1"/>
          <p:nvPr/>
        </p:nvSpPr>
        <p:spPr>
          <a:xfrm>
            <a:off x="7360920" y="3520440"/>
            <a:ext cx="3977640" cy="2468880"/>
          </a:xfrm>
          <a:prstGeom prst="rect">
            <a:avLst/>
          </a:prstGeom>
          <a:noFill/>
          <a:ln/>
        </p:spPr>
        <p:txBody>
          <a:bodyPr wrap="square" lIns="0" tIns="0" rIns="0" bIns="0" rtlCol="0" anchor="t"/>
          <a:lstStyle/>
          <a:p>
            <a:pPr indent="0" marL="0">
              <a:buNone/>
            </a:pPr>
            <a:r>
              <a:rPr lang="en-US" sz="1400" dirty="0">
                <a:solidFill>
                  <a:srgbClr val="1B2430"/>
                </a:solidFill>
                <a:latin typeface="Calibri" pitchFamily="34" charset="0"/>
                <a:ea typeface="Calibri" pitchFamily="34" charset="-122"/>
                <a:cs typeface="Calibri" pitchFamily="34" charset="-120"/>
              </a:rPr>
              <a:t>A decision cycle described by Air Force Colonel John Boyd. Air Force doctrine defines decision advantage as the ability to make better, faster, and more effective decisions than an adversary. Intelligence exists to help give commanders that advantage.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8229600" cy="320040"/>
          </a:xfrm>
          <a:prstGeom prst="rect">
            <a:avLst/>
          </a:prstGeom>
          <a:noFill/>
          <a:ln/>
        </p:spPr>
        <p:txBody>
          <a:bodyPr wrap="square" lIns="0" tIns="0" rIns="0" bIns="0" rtlCol="0" anchor="ctr"/>
          <a:lstStyle/>
          <a:p>
            <a:pPr indent="0" marL="0">
              <a:buNone/>
            </a:pPr>
            <a:r>
              <a:rPr lang="en-US" sz="1300" b="1" spc="300" kern="0" dirty="0">
                <a:solidFill>
                  <a:srgbClr val="FFC72C"/>
                </a:solidFill>
                <a:latin typeface="Calibri" pitchFamily="34" charset="0"/>
                <a:ea typeface="Calibri" pitchFamily="34" charset="-122"/>
                <a:cs typeface="Calibri" pitchFamily="34" charset="-120"/>
              </a:rPr>
              <a:t>TWO TRACKS, ONE TEAM</a:t>
            </a:r>
            <a:endParaRPr lang="en-US" sz="1300" dirty="0"/>
          </a:p>
        </p:txBody>
      </p:sp>
      <p:sp>
        <p:nvSpPr>
          <p:cNvPr id="4"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200" b="1" dirty="0">
                <a:solidFill>
                  <a:srgbClr val="12284B"/>
                </a:solidFill>
                <a:latin typeface="Cambria" pitchFamily="34" charset="0"/>
                <a:ea typeface="Cambria" pitchFamily="34" charset="-122"/>
                <a:cs typeface="Cambria" pitchFamily="34" charset="-120"/>
              </a:rPr>
              <a:t>The officer role, and the team beside it</a:t>
            </a:r>
            <a:endParaRPr lang="en-US" sz="3200" dirty="0"/>
          </a:p>
        </p:txBody>
      </p:sp>
      <p:sp>
        <p:nvSpPr>
          <p:cNvPr id="5" name="Text 2"/>
          <p:cNvSpPr txBox="1"/>
          <p:nvPr/>
        </p:nvSpPr>
        <p:spPr>
          <a:xfrm>
            <a:off x="11155680" y="6400800"/>
            <a:ext cx="731520" cy="274320"/>
          </a:xfrm>
          <a:prstGeom prst="rect">
            <a:avLst/>
          </a:prstGeom>
          <a:noFill/>
          <a:ln/>
        </p:spPr>
        <p:txBody>
          <a:bodyPr wrap="square" lIns="0" tIns="0" rIns="0" bIns="0" rtlCol="0" anchor="ctr"/>
          <a:lstStyle/>
          <a:p>
            <a:pPr algn="r" indent="0" marL="0">
              <a:buNone/>
            </a:pPr>
            <a:r>
              <a:rPr lang="en-US" sz="900" dirty="0">
                <a:solidFill>
                  <a:srgbClr val="5C6B82"/>
                </a:solidFill>
                <a:latin typeface="Calibri" pitchFamily="34" charset="0"/>
                <a:ea typeface="Calibri" pitchFamily="34" charset="-122"/>
                <a:cs typeface="Calibri" pitchFamily="34" charset="-120"/>
              </a:rPr>
              <a:t>07</a:t>
            </a:r>
            <a:endParaRPr lang="en-US" sz="900" dirty="0"/>
          </a:p>
        </p:txBody>
      </p:sp>
      <p:sp>
        <p:nvSpPr>
          <p:cNvPr id="6" name="Shape 3"/>
          <p:cNvSpPr/>
          <p:nvPr/>
        </p:nvSpPr>
        <p:spPr>
          <a:xfrm>
            <a:off x="548640" y="1737360"/>
            <a:ext cx="5349240" cy="4297680"/>
          </a:xfrm>
          <a:prstGeom prst="roundRect">
            <a:avLst>
              <a:gd name="adj" fmla="val 1064"/>
            </a:avLst>
          </a:prstGeom>
          <a:solidFill>
            <a:srgbClr val="12284B"/>
          </a:solidFill>
          <a:ln w="12700">
            <a:solidFill>
              <a:srgbClr val="12284B"/>
            </a:solidFill>
            <a:prstDash val="solid"/>
          </a:ln>
        </p:spPr>
      </p:sp>
      <p:sp>
        <p:nvSpPr>
          <p:cNvPr id="7" name="Shape 4"/>
          <p:cNvSpPr/>
          <p:nvPr/>
        </p:nvSpPr>
        <p:spPr>
          <a:xfrm>
            <a:off x="868680" y="2057400"/>
            <a:ext cx="658368" cy="658368"/>
          </a:xfrm>
          <a:prstGeom prst="ellipse">
            <a:avLst/>
          </a:prstGeom>
          <a:solidFill>
            <a:srgbClr val="0B1B34"/>
          </a:solidFill>
          <a:ln w="12700">
            <a:solidFill>
              <a:srgbClr val="0B1B34"/>
            </a:solidFill>
            <a:prstDash val="solid"/>
          </a:ln>
        </p:spPr>
      </p:sp>
      <p:pic>
        <p:nvPicPr>
          <p:cNvPr id="8" name="Image 0" descr="C:\Users\Trey\AppData\Local\Temp\claude\c--Projects-astral-project-src-pages-theknowledgebase\594bbb08-08fe-467c-99d2-4fe53cb86141\scratchpad\brief14n\icons\usertie_gold.png">    </p:cNvPr>
          <p:cNvPicPr>
            <a:picLocks noChangeAspect="1"/>
          </p:cNvPicPr>
          <p:nvPr/>
        </p:nvPicPr>
        <p:blipFill>
          <a:blip r:embed="rId1"/>
          <a:stretch>
            <a:fillRect/>
          </a:stretch>
        </p:blipFill>
        <p:spPr>
          <a:xfrm>
            <a:off x="1020105" y="2208825"/>
            <a:ext cx="355519" cy="355519"/>
          </a:xfrm>
          <a:prstGeom prst="rect">
            <a:avLst/>
          </a:prstGeom>
        </p:spPr>
      </p:pic>
      <p:sp>
        <p:nvSpPr>
          <p:cNvPr id="9" name="Text 5"/>
          <p:cNvSpPr txBox="1"/>
          <p:nvPr/>
        </p:nvSpPr>
        <p:spPr>
          <a:xfrm>
            <a:off x="1737360" y="2029968"/>
            <a:ext cx="397764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Officer — 14N</a:t>
            </a:r>
            <a:endParaRPr lang="en-US" sz="1800" dirty="0"/>
          </a:p>
        </p:txBody>
      </p:sp>
      <p:sp>
        <p:nvSpPr>
          <p:cNvPr id="10" name="Text 6"/>
          <p:cNvSpPr txBox="1"/>
          <p:nvPr/>
        </p:nvSpPr>
        <p:spPr>
          <a:xfrm>
            <a:off x="1737360" y="2441448"/>
            <a:ext cx="3977640" cy="320040"/>
          </a:xfrm>
          <a:prstGeom prst="rect">
            <a:avLst/>
          </a:prstGeom>
          <a:noFill/>
          <a:ln/>
        </p:spPr>
        <p:txBody>
          <a:bodyPr wrap="square" lIns="0" tIns="0" rIns="0" bIns="0" rtlCol="0" anchor="ctr"/>
          <a:lstStyle/>
          <a:p>
            <a:pPr indent="0" marL="0">
              <a:buNone/>
            </a:pPr>
            <a:r>
              <a:rPr lang="en-US" sz="1300" i="1" dirty="0">
                <a:solidFill>
                  <a:srgbClr val="8CA3C7"/>
                </a:solidFill>
                <a:latin typeface="Calibri" pitchFamily="34" charset="0"/>
                <a:ea typeface="Calibri" pitchFamily="34" charset="-122"/>
                <a:cs typeface="Calibri" pitchFamily="34" charset="-120"/>
              </a:rPr>
              <a:t>Intelligence Officer</a:t>
            </a:r>
            <a:endParaRPr lang="en-US" sz="1300" dirty="0"/>
          </a:p>
        </p:txBody>
      </p:sp>
      <p:sp>
        <p:nvSpPr>
          <p:cNvPr id="11" name="Text 7"/>
          <p:cNvSpPr txBox="1"/>
          <p:nvPr/>
        </p:nvSpPr>
        <p:spPr>
          <a:xfrm>
            <a:off x="914400" y="3108960"/>
            <a:ext cx="4617720" cy="274320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Leads Airmen through the intelligence process</a:t>
            </a:r>
            <a:endParaRPr lang="en-US" sz="1450" dirty="0"/>
          </a:p>
          <a:p>
            <a:pPr marL="342900" indent="-342900">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Directs collection and produces fused, all-source analysis</a:t>
            </a:r>
            <a:endParaRPr lang="en-US" sz="1450" dirty="0"/>
          </a:p>
          <a:p>
            <a:pPr marL="342900" indent="-342900">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Briefs commanders and aircrew</a:t>
            </a:r>
            <a:endParaRPr lang="en-US" sz="1450" dirty="0"/>
          </a:p>
        </p:txBody>
      </p:sp>
      <p:sp>
        <p:nvSpPr>
          <p:cNvPr id="12" name="Shape 8"/>
          <p:cNvSpPr/>
          <p:nvPr/>
        </p:nvSpPr>
        <p:spPr>
          <a:xfrm>
            <a:off x="6263640" y="1737360"/>
            <a:ext cx="5349240" cy="4297680"/>
          </a:xfrm>
          <a:prstGeom prst="roundRect">
            <a:avLst>
              <a:gd name="adj" fmla="val 1064"/>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13" name="Shape 9"/>
          <p:cNvSpPr/>
          <p:nvPr/>
        </p:nvSpPr>
        <p:spPr>
          <a:xfrm>
            <a:off x="6583680" y="2057400"/>
            <a:ext cx="658368" cy="658368"/>
          </a:xfrm>
          <a:prstGeom prst="ellipse">
            <a:avLst/>
          </a:prstGeom>
          <a:solidFill>
            <a:srgbClr val="12284B"/>
          </a:solidFill>
          <a:ln w="12700">
            <a:solidFill>
              <a:srgbClr val="12284B"/>
            </a:solidFill>
            <a:prstDash val="solid"/>
          </a:ln>
        </p:spPr>
      </p:sp>
      <p:pic>
        <p:nvPicPr>
          <p:cNvPr id="14" name="Image 1" descr="C:\Users\Trey\AppData\Local\Temp\claude\c--Projects-astral-project-src-pages-theknowledgebase\594bbb08-08fe-467c-99d2-4fe53cb86141\scratchpad\brief14n\icons\users_gold.png">    </p:cNvPr>
          <p:cNvPicPr>
            <a:picLocks noChangeAspect="1"/>
          </p:cNvPicPr>
          <p:nvPr/>
        </p:nvPicPr>
        <p:blipFill>
          <a:blip r:embed="rId2"/>
          <a:stretch>
            <a:fillRect/>
          </a:stretch>
        </p:blipFill>
        <p:spPr>
          <a:xfrm>
            <a:off x="6735105" y="2208825"/>
            <a:ext cx="355519" cy="355519"/>
          </a:xfrm>
          <a:prstGeom prst="rect">
            <a:avLst/>
          </a:prstGeom>
        </p:spPr>
      </p:pic>
      <p:sp>
        <p:nvSpPr>
          <p:cNvPr id="15" name="Text 10"/>
          <p:cNvSpPr txBox="1"/>
          <p:nvPr/>
        </p:nvSpPr>
        <p:spPr>
          <a:xfrm>
            <a:off x="7452360" y="2029968"/>
            <a:ext cx="3977640" cy="411480"/>
          </a:xfrm>
          <a:prstGeom prst="rect">
            <a:avLst/>
          </a:prstGeom>
          <a:noFill/>
          <a:ln/>
        </p:spPr>
        <p:txBody>
          <a:bodyPr wrap="square" lIns="0" tIns="0" rIns="0" bIns="0" rtlCol="0" anchor="ctr"/>
          <a:lstStyle/>
          <a:p>
            <a:pPr indent="0" marL="0">
              <a:buNone/>
            </a:pPr>
            <a:r>
              <a:rPr lang="en-US" sz="1800" b="1" dirty="0">
                <a:solidFill>
                  <a:srgbClr val="12284B"/>
                </a:solidFill>
                <a:latin typeface="Calibri" pitchFamily="34" charset="0"/>
                <a:ea typeface="Calibri" pitchFamily="34" charset="-122"/>
                <a:cs typeface="Calibri" pitchFamily="34" charset="-120"/>
              </a:rPr>
              <a:t>Enlisted team — 1N-series</a:t>
            </a:r>
            <a:endParaRPr lang="en-US" sz="1800" dirty="0"/>
          </a:p>
        </p:txBody>
      </p:sp>
      <p:sp>
        <p:nvSpPr>
          <p:cNvPr id="16" name="Text 11"/>
          <p:cNvSpPr txBox="1"/>
          <p:nvPr/>
        </p:nvSpPr>
        <p:spPr>
          <a:xfrm>
            <a:off x="7452360" y="2441448"/>
            <a:ext cx="3977640" cy="320040"/>
          </a:xfrm>
          <a:prstGeom prst="rect">
            <a:avLst/>
          </a:prstGeom>
          <a:noFill/>
          <a:ln/>
        </p:spPr>
        <p:txBody>
          <a:bodyPr wrap="square" lIns="0" tIns="0" rIns="0" bIns="0" rtlCol="0" anchor="ctr"/>
          <a:lstStyle/>
          <a:p>
            <a:pPr indent="0" marL="0">
              <a:buNone/>
            </a:pPr>
            <a:r>
              <a:rPr lang="en-US" sz="1300" i="1" dirty="0">
                <a:solidFill>
                  <a:srgbClr val="5C6B82"/>
                </a:solidFill>
                <a:latin typeface="Calibri" pitchFamily="34" charset="0"/>
                <a:ea typeface="Calibri" pitchFamily="34" charset="-122"/>
                <a:cs typeface="Calibri" pitchFamily="34" charset="-120"/>
              </a:rPr>
              <a:t>All-source analysts and discipline specialists</a:t>
            </a:r>
            <a:endParaRPr lang="en-US" sz="1300" dirty="0"/>
          </a:p>
        </p:txBody>
      </p:sp>
      <p:sp>
        <p:nvSpPr>
          <p:cNvPr id="17" name="Text 12"/>
          <p:cNvSpPr txBox="1"/>
          <p:nvPr/>
        </p:nvSpPr>
        <p:spPr>
          <a:xfrm>
            <a:off x="6629400" y="3108960"/>
            <a:ext cx="4617720" cy="274320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1N0X1 All-Source Intelligence Analyst builds the fused picture the unit works from</a:t>
            </a:r>
            <a:endParaRPr lang="en-US" sz="1450" dirty="0"/>
          </a:p>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Specialists work individual disciplines: geospatial (1N1), signals (1N2), language (1N3), cyber (1N4), human intelligence (1N7), and targeting (1N8)</a:t>
            </a:r>
            <a:endParaRPr lang="en-US" sz="1450" dirty="0"/>
          </a:p>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The all-source analyst job requires a Top Secret clearance (Tier 5 investigation)</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B34"/>
        </a:solidFill>
      </p:bgPr>
    </p:bg>
    <p:spTree>
      <p:nvGrpSpPr>
        <p:cNvPr id="1" name=""/>
        <p:cNvGrpSpPr/>
        <p:nvPr/>
      </p:nvGrpSpPr>
      <p:grpSpPr>
        <a:xfrm>
          <a:off x="0" y="0"/>
          <a:ext cx="0" cy="0"/>
          <a:chOff x="0" y="0"/>
          <a:chExt cx="0" cy="0"/>
        </a:xfrm>
      </p:grpSpPr>
      <p:sp>
        <p:nvSpPr>
          <p:cNvPr id="3" name="Text 0"/>
          <p:cNvSpPr txBox="1"/>
          <p:nvPr/>
        </p:nvSpPr>
        <p:spPr>
          <a:xfrm>
            <a:off x="548640" y="365760"/>
            <a:ext cx="8229600" cy="320040"/>
          </a:xfrm>
          <a:prstGeom prst="rect">
            <a:avLst/>
          </a:prstGeom>
          <a:noFill/>
          <a:ln/>
        </p:spPr>
        <p:txBody>
          <a:bodyPr wrap="square" lIns="0" tIns="0" rIns="0" bIns="0" rtlCol="0" anchor="ctr"/>
          <a:lstStyle/>
          <a:p>
            <a:pPr indent="0" marL="0">
              <a:buNone/>
            </a:pPr>
            <a:r>
              <a:rPr lang="en-US" sz="1300" b="1" spc="300" kern="0" dirty="0">
                <a:solidFill>
                  <a:srgbClr val="FFC72C"/>
                </a:solidFill>
                <a:latin typeface="Calibri" pitchFamily="34" charset="0"/>
                <a:ea typeface="Calibri" pitchFamily="34" charset="-122"/>
                <a:cs typeface="Calibri" pitchFamily="34" charset="-120"/>
              </a:rPr>
              <a:t>RAW DATA → USABLE INTEL</a:t>
            </a:r>
            <a:endParaRPr lang="en-US" sz="1300" dirty="0"/>
          </a:p>
        </p:txBody>
      </p:sp>
      <p:sp>
        <p:nvSpPr>
          <p:cNvPr id="4"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five main collection disciplines (“INTs”)</a:t>
            </a:r>
            <a:endParaRPr lang="en-US" sz="3200" dirty="0"/>
          </a:p>
        </p:txBody>
      </p:sp>
      <p:sp>
        <p:nvSpPr>
          <p:cNvPr id="5" name="Text 2"/>
          <p:cNvSpPr txBox="1"/>
          <p:nvPr/>
        </p:nvSpPr>
        <p:spPr>
          <a:xfrm>
            <a:off x="11155680" y="6400800"/>
            <a:ext cx="731520" cy="274320"/>
          </a:xfrm>
          <a:prstGeom prst="rect">
            <a:avLst/>
          </a:prstGeom>
          <a:noFill/>
          <a:ln/>
        </p:spPr>
        <p:txBody>
          <a:bodyPr wrap="square" lIns="0" tIns="0" rIns="0" bIns="0" rtlCol="0" anchor="ctr"/>
          <a:lstStyle/>
          <a:p>
            <a:pPr algn="r" indent="0" marL="0">
              <a:buNone/>
            </a:pPr>
            <a:r>
              <a:rPr lang="en-US" sz="900" dirty="0">
                <a:solidFill>
                  <a:srgbClr val="8CA3C7"/>
                </a:solidFill>
                <a:latin typeface="Calibri" pitchFamily="34" charset="0"/>
                <a:ea typeface="Calibri" pitchFamily="34" charset="-122"/>
                <a:cs typeface="Calibri" pitchFamily="34" charset="-120"/>
              </a:rPr>
              <a:t>08</a:t>
            </a:r>
            <a:endParaRPr lang="en-US" sz="900" dirty="0"/>
          </a:p>
        </p:txBody>
      </p:sp>
      <p:sp>
        <p:nvSpPr>
          <p:cNvPr id="6" name="Text 3"/>
          <p:cNvSpPr txBox="1"/>
          <p:nvPr/>
        </p:nvSpPr>
        <p:spPr>
          <a:xfrm>
            <a:off x="548640" y="1417320"/>
            <a:ext cx="11064240" cy="365760"/>
          </a:xfrm>
          <a:prstGeom prst="rect">
            <a:avLst/>
          </a:prstGeom>
          <a:noFill/>
          <a:ln/>
        </p:spPr>
        <p:txBody>
          <a:bodyPr wrap="square" lIns="0" tIns="0" rIns="0" bIns="0" rtlCol="0" anchor="t"/>
          <a:lstStyle/>
          <a:p>
            <a:pPr indent="0" marL="0">
              <a:buNone/>
            </a:pPr>
            <a:r>
              <a:rPr lang="en-US" sz="1400" i="1" dirty="0">
                <a:solidFill>
                  <a:srgbClr val="8CA3C7"/>
                </a:solidFill>
                <a:latin typeface="Calibri" pitchFamily="34" charset="0"/>
                <a:ea typeface="Calibri" pitchFamily="34" charset="-122"/>
                <a:cs typeface="Calibri" pitchFamily="34" charset="-120"/>
              </a:rPr>
              <a:t>Officers direct collection and fuse what comes back into one picture. Many enlisted specialties are built around these disciplines.</a:t>
            </a:r>
            <a:endParaRPr lang="en-US" sz="1400" dirty="0"/>
          </a:p>
        </p:txBody>
      </p:sp>
      <p:sp>
        <p:nvSpPr>
          <p:cNvPr id="7" name="Shape 4"/>
          <p:cNvSpPr/>
          <p:nvPr/>
        </p:nvSpPr>
        <p:spPr>
          <a:xfrm>
            <a:off x="548640" y="2011680"/>
            <a:ext cx="2051914" cy="3931920"/>
          </a:xfrm>
          <a:prstGeom prst="roundRect">
            <a:avLst>
              <a:gd name="adj" fmla="val 3565"/>
            </a:avLst>
          </a:prstGeom>
          <a:solidFill>
            <a:srgbClr val="17325C"/>
          </a:solidFill>
          <a:ln w="12700">
            <a:solidFill>
              <a:srgbClr val="17325C"/>
            </a:solidFill>
            <a:prstDash val="solid"/>
          </a:ln>
        </p:spPr>
      </p:sp>
      <p:sp>
        <p:nvSpPr>
          <p:cNvPr id="8" name="Shape 5"/>
          <p:cNvSpPr/>
          <p:nvPr/>
        </p:nvSpPr>
        <p:spPr>
          <a:xfrm>
            <a:off x="1245413" y="2286000"/>
            <a:ext cx="658368" cy="658368"/>
          </a:xfrm>
          <a:prstGeom prst="ellipse">
            <a:avLst/>
          </a:prstGeom>
          <a:solidFill>
            <a:srgbClr val="0B1B34"/>
          </a:solidFill>
          <a:ln w="12700">
            <a:solidFill>
              <a:srgbClr val="0B1B34"/>
            </a:solidFill>
            <a:prstDash val="solid"/>
          </a:ln>
        </p:spPr>
      </p:sp>
      <p:pic>
        <p:nvPicPr>
          <p:cNvPr id="9" name="Image 0" descr="C:\Users\Trey\AppData\Local\Temp\claude\c--Projects-astral-project-src-pages-theknowledgebase\594bbb08-08fe-467c-99d2-4fe53cb86141\scratchpad\brief14n\icons\broadcast_gold.png">    </p:cNvPr>
          <p:cNvPicPr>
            <a:picLocks noChangeAspect="1"/>
          </p:cNvPicPr>
          <p:nvPr/>
        </p:nvPicPr>
        <p:blipFill>
          <a:blip r:embed="rId1"/>
          <a:stretch>
            <a:fillRect/>
          </a:stretch>
        </p:blipFill>
        <p:spPr>
          <a:xfrm>
            <a:off x="1396837" y="2437425"/>
            <a:ext cx="355519" cy="355519"/>
          </a:xfrm>
          <a:prstGeom prst="rect">
            <a:avLst/>
          </a:prstGeom>
        </p:spPr>
      </p:pic>
      <p:sp>
        <p:nvSpPr>
          <p:cNvPr id="10" name="Text 6"/>
          <p:cNvSpPr txBox="1"/>
          <p:nvPr/>
        </p:nvSpPr>
        <p:spPr>
          <a:xfrm>
            <a:off x="640080" y="3108960"/>
            <a:ext cx="1869034" cy="457200"/>
          </a:xfrm>
          <a:prstGeom prst="rect">
            <a:avLst/>
          </a:prstGeom>
          <a:noFill/>
          <a:ln/>
        </p:spPr>
        <p:txBody>
          <a:bodyPr wrap="square" lIns="0" tIns="0" rIns="0" bIns="0" rtlCol="0" anchor="ctr"/>
          <a:lstStyle/>
          <a:p>
            <a:pPr algn="ctr" indent="0" marL="0">
              <a:buNone/>
            </a:pPr>
            <a:r>
              <a:rPr lang="en-US" sz="2200" b="1" dirty="0">
                <a:solidFill>
                  <a:srgbClr val="FFC72C"/>
                </a:solidFill>
                <a:latin typeface="Cambria" pitchFamily="34" charset="0"/>
                <a:ea typeface="Cambria" pitchFamily="34" charset="-122"/>
                <a:cs typeface="Cambria" pitchFamily="34" charset="-120"/>
              </a:rPr>
              <a:t>SIGINT</a:t>
            </a:r>
            <a:endParaRPr lang="en-US" sz="2200" dirty="0"/>
          </a:p>
        </p:txBody>
      </p:sp>
      <p:sp>
        <p:nvSpPr>
          <p:cNvPr id="11" name="Text 7"/>
          <p:cNvSpPr txBox="1"/>
          <p:nvPr/>
        </p:nvSpPr>
        <p:spPr>
          <a:xfrm>
            <a:off x="685800" y="3611880"/>
            <a:ext cx="1777594"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Signals Intelligence</a:t>
            </a:r>
            <a:endParaRPr lang="en-US" sz="1300" dirty="0"/>
          </a:p>
        </p:txBody>
      </p:sp>
      <p:sp>
        <p:nvSpPr>
          <p:cNvPr id="12" name="Text 8"/>
          <p:cNvSpPr txBox="1"/>
          <p:nvPr/>
        </p:nvSpPr>
        <p:spPr>
          <a:xfrm>
            <a:off x="731520" y="4389120"/>
            <a:ext cx="1686154" cy="1463040"/>
          </a:xfrm>
          <a:prstGeom prst="rect">
            <a:avLst/>
          </a:prstGeom>
          <a:noFill/>
          <a:ln/>
        </p:spPr>
        <p:txBody>
          <a:bodyPr wrap="square" lIns="0" tIns="0" rIns="0" bIns="0" rtlCol="0" anchor="t"/>
          <a:lstStyle/>
          <a:p>
            <a:pPr algn="ctr" indent="0" marL="0">
              <a:buNone/>
            </a:pPr>
            <a:r>
              <a:rPr lang="en-US" sz="1250" dirty="0">
                <a:solidFill>
                  <a:srgbClr val="8CA3C7"/>
                </a:solidFill>
                <a:latin typeface="Calibri" pitchFamily="34" charset="0"/>
                <a:ea typeface="Calibri" pitchFamily="34" charset="-122"/>
                <a:cs typeface="Calibri" pitchFamily="34" charset="-120"/>
              </a:rPr>
              <a:t>Intercepted communications and electronic signals</a:t>
            </a:r>
            <a:endParaRPr lang="en-US" sz="1250" dirty="0"/>
          </a:p>
        </p:txBody>
      </p:sp>
      <p:sp>
        <p:nvSpPr>
          <p:cNvPr id="13" name="Shape 9"/>
          <p:cNvSpPr/>
          <p:nvPr/>
        </p:nvSpPr>
        <p:spPr>
          <a:xfrm>
            <a:off x="2801722" y="2011680"/>
            <a:ext cx="2051914" cy="3931920"/>
          </a:xfrm>
          <a:prstGeom prst="roundRect">
            <a:avLst>
              <a:gd name="adj" fmla="val 3565"/>
            </a:avLst>
          </a:prstGeom>
          <a:solidFill>
            <a:srgbClr val="17325C"/>
          </a:solidFill>
          <a:ln w="12700">
            <a:solidFill>
              <a:srgbClr val="17325C"/>
            </a:solidFill>
            <a:prstDash val="solid"/>
          </a:ln>
        </p:spPr>
      </p:sp>
      <p:sp>
        <p:nvSpPr>
          <p:cNvPr id="14" name="Shape 10"/>
          <p:cNvSpPr/>
          <p:nvPr/>
        </p:nvSpPr>
        <p:spPr>
          <a:xfrm>
            <a:off x="3498494" y="2286000"/>
            <a:ext cx="658368" cy="658368"/>
          </a:xfrm>
          <a:prstGeom prst="ellipse">
            <a:avLst/>
          </a:prstGeom>
          <a:solidFill>
            <a:srgbClr val="0B1B34"/>
          </a:solidFill>
          <a:ln w="12700">
            <a:solidFill>
              <a:srgbClr val="0B1B34"/>
            </a:solidFill>
            <a:prstDash val="solid"/>
          </a:ln>
        </p:spPr>
      </p:sp>
      <p:pic>
        <p:nvPicPr>
          <p:cNvPr id="15" name="Image 1" descr="C:\Users\Trey\AppData\Local\Temp\claude\c--Projects-astral-project-src-pages-theknowledgebase\594bbb08-08fe-467c-99d2-4fe53cb86141\scratchpad\brief14n\icons\satellite_gold.png">    </p:cNvPr>
          <p:cNvPicPr>
            <a:picLocks noChangeAspect="1"/>
          </p:cNvPicPr>
          <p:nvPr/>
        </p:nvPicPr>
        <p:blipFill>
          <a:blip r:embed="rId2"/>
          <a:stretch>
            <a:fillRect/>
          </a:stretch>
        </p:blipFill>
        <p:spPr>
          <a:xfrm>
            <a:off x="3649919" y="2437425"/>
            <a:ext cx="355519" cy="355519"/>
          </a:xfrm>
          <a:prstGeom prst="rect">
            <a:avLst/>
          </a:prstGeom>
        </p:spPr>
      </p:pic>
      <p:sp>
        <p:nvSpPr>
          <p:cNvPr id="16" name="Text 11"/>
          <p:cNvSpPr txBox="1"/>
          <p:nvPr/>
        </p:nvSpPr>
        <p:spPr>
          <a:xfrm>
            <a:off x="2893162" y="3108960"/>
            <a:ext cx="1869034" cy="457200"/>
          </a:xfrm>
          <a:prstGeom prst="rect">
            <a:avLst/>
          </a:prstGeom>
          <a:noFill/>
          <a:ln/>
        </p:spPr>
        <p:txBody>
          <a:bodyPr wrap="square" lIns="0" tIns="0" rIns="0" bIns="0" rtlCol="0" anchor="ctr"/>
          <a:lstStyle/>
          <a:p>
            <a:pPr algn="ctr" indent="0" marL="0">
              <a:buNone/>
            </a:pPr>
            <a:r>
              <a:rPr lang="en-US" sz="2200" b="1" dirty="0">
                <a:solidFill>
                  <a:srgbClr val="FFC72C"/>
                </a:solidFill>
                <a:latin typeface="Cambria" pitchFamily="34" charset="0"/>
                <a:ea typeface="Cambria" pitchFamily="34" charset="-122"/>
                <a:cs typeface="Cambria" pitchFamily="34" charset="-120"/>
              </a:rPr>
              <a:t>GEOINT</a:t>
            </a:r>
            <a:endParaRPr lang="en-US" sz="2200" dirty="0"/>
          </a:p>
        </p:txBody>
      </p:sp>
      <p:sp>
        <p:nvSpPr>
          <p:cNvPr id="17" name="Text 12"/>
          <p:cNvSpPr txBox="1"/>
          <p:nvPr/>
        </p:nvSpPr>
        <p:spPr>
          <a:xfrm>
            <a:off x="2938882" y="3611880"/>
            <a:ext cx="1777594"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Geospatial Intelligence</a:t>
            </a:r>
            <a:endParaRPr lang="en-US" sz="1300" dirty="0"/>
          </a:p>
        </p:txBody>
      </p:sp>
      <p:sp>
        <p:nvSpPr>
          <p:cNvPr id="18" name="Text 13"/>
          <p:cNvSpPr txBox="1"/>
          <p:nvPr/>
        </p:nvSpPr>
        <p:spPr>
          <a:xfrm>
            <a:off x="2984602" y="4389120"/>
            <a:ext cx="1686154" cy="1463040"/>
          </a:xfrm>
          <a:prstGeom prst="rect">
            <a:avLst/>
          </a:prstGeom>
          <a:noFill/>
          <a:ln/>
        </p:spPr>
        <p:txBody>
          <a:bodyPr wrap="square" lIns="0" tIns="0" rIns="0" bIns="0" rtlCol="0" anchor="t"/>
          <a:lstStyle/>
          <a:p>
            <a:pPr algn="ctr" indent="0" marL="0">
              <a:buNone/>
            </a:pPr>
            <a:r>
              <a:rPr lang="en-US" sz="1250" dirty="0">
                <a:solidFill>
                  <a:srgbClr val="8CA3C7"/>
                </a:solidFill>
                <a:latin typeface="Calibri" pitchFamily="34" charset="0"/>
                <a:ea typeface="Calibri" pitchFamily="34" charset="-122"/>
                <a:cs typeface="Calibri" pitchFamily="34" charset="-120"/>
              </a:rPr>
              <a:t>Imagery and mapping: satellites, drones, sensors</a:t>
            </a:r>
            <a:endParaRPr lang="en-US" sz="1250" dirty="0"/>
          </a:p>
        </p:txBody>
      </p:sp>
      <p:sp>
        <p:nvSpPr>
          <p:cNvPr id="19" name="Shape 14"/>
          <p:cNvSpPr/>
          <p:nvPr/>
        </p:nvSpPr>
        <p:spPr>
          <a:xfrm>
            <a:off x="5054803" y="2011680"/>
            <a:ext cx="2051914" cy="3931920"/>
          </a:xfrm>
          <a:prstGeom prst="roundRect">
            <a:avLst>
              <a:gd name="adj" fmla="val 3565"/>
            </a:avLst>
          </a:prstGeom>
          <a:solidFill>
            <a:srgbClr val="17325C"/>
          </a:solidFill>
          <a:ln w="12700">
            <a:solidFill>
              <a:srgbClr val="17325C"/>
            </a:solidFill>
            <a:prstDash val="solid"/>
          </a:ln>
        </p:spPr>
      </p:sp>
      <p:sp>
        <p:nvSpPr>
          <p:cNvPr id="20" name="Shape 15"/>
          <p:cNvSpPr/>
          <p:nvPr/>
        </p:nvSpPr>
        <p:spPr>
          <a:xfrm>
            <a:off x="5751576" y="2286000"/>
            <a:ext cx="658368" cy="658368"/>
          </a:xfrm>
          <a:prstGeom prst="ellipse">
            <a:avLst/>
          </a:prstGeom>
          <a:solidFill>
            <a:srgbClr val="0B1B34"/>
          </a:solidFill>
          <a:ln w="12700">
            <a:solidFill>
              <a:srgbClr val="0B1B34"/>
            </a:solidFill>
            <a:prstDash val="solid"/>
          </a:ln>
        </p:spPr>
      </p:sp>
      <p:pic>
        <p:nvPicPr>
          <p:cNvPr id="21" name="Image 2" descr="C:\Users\Trey\AppData\Local\Temp\claude\c--Projects-astral-project-src-pages-theknowledgebase\594bbb08-08fe-467c-99d2-4fe53cb86141\scratchpad\brief14n\icons\usersecret_gold.png">    </p:cNvPr>
          <p:cNvPicPr>
            <a:picLocks noChangeAspect="1"/>
          </p:cNvPicPr>
          <p:nvPr/>
        </p:nvPicPr>
        <p:blipFill>
          <a:blip r:embed="rId3"/>
          <a:stretch>
            <a:fillRect/>
          </a:stretch>
        </p:blipFill>
        <p:spPr>
          <a:xfrm>
            <a:off x="5903001" y="2437425"/>
            <a:ext cx="355519" cy="355519"/>
          </a:xfrm>
          <a:prstGeom prst="rect">
            <a:avLst/>
          </a:prstGeom>
        </p:spPr>
      </p:pic>
      <p:sp>
        <p:nvSpPr>
          <p:cNvPr id="22" name="Text 16"/>
          <p:cNvSpPr txBox="1"/>
          <p:nvPr/>
        </p:nvSpPr>
        <p:spPr>
          <a:xfrm>
            <a:off x="5146243" y="3108960"/>
            <a:ext cx="1869034" cy="457200"/>
          </a:xfrm>
          <a:prstGeom prst="rect">
            <a:avLst/>
          </a:prstGeom>
          <a:noFill/>
          <a:ln/>
        </p:spPr>
        <p:txBody>
          <a:bodyPr wrap="square" lIns="0" tIns="0" rIns="0" bIns="0" rtlCol="0" anchor="ctr"/>
          <a:lstStyle/>
          <a:p>
            <a:pPr algn="ctr" indent="0" marL="0">
              <a:buNone/>
            </a:pPr>
            <a:r>
              <a:rPr lang="en-US" sz="2200" b="1" dirty="0">
                <a:solidFill>
                  <a:srgbClr val="FFC72C"/>
                </a:solidFill>
                <a:latin typeface="Cambria" pitchFamily="34" charset="0"/>
                <a:ea typeface="Cambria" pitchFamily="34" charset="-122"/>
                <a:cs typeface="Cambria" pitchFamily="34" charset="-120"/>
              </a:rPr>
              <a:t>HUMINT</a:t>
            </a:r>
            <a:endParaRPr lang="en-US" sz="2200" dirty="0"/>
          </a:p>
        </p:txBody>
      </p:sp>
      <p:sp>
        <p:nvSpPr>
          <p:cNvPr id="23" name="Text 17"/>
          <p:cNvSpPr txBox="1"/>
          <p:nvPr/>
        </p:nvSpPr>
        <p:spPr>
          <a:xfrm>
            <a:off x="5191963" y="3611880"/>
            <a:ext cx="1777594"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Human Intelligence</a:t>
            </a:r>
            <a:endParaRPr lang="en-US" sz="1300" dirty="0"/>
          </a:p>
        </p:txBody>
      </p:sp>
      <p:sp>
        <p:nvSpPr>
          <p:cNvPr id="24" name="Text 18"/>
          <p:cNvSpPr txBox="1"/>
          <p:nvPr/>
        </p:nvSpPr>
        <p:spPr>
          <a:xfrm>
            <a:off x="5237683" y="4389120"/>
            <a:ext cx="1686154" cy="1463040"/>
          </a:xfrm>
          <a:prstGeom prst="rect">
            <a:avLst/>
          </a:prstGeom>
          <a:noFill/>
          <a:ln/>
        </p:spPr>
        <p:txBody>
          <a:bodyPr wrap="square" lIns="0" tIns="0" rIns="0" bIns="0" rtlCol="0" anchor="t"/>
          <a:lstStyle/>
          <a:p>
            <a:pPr algn="ctr" indent="0" marL="0">
              <a:buNone/>
            </a:pPr>
            <a:r>
              <a:rPr lang="en-US" sz="1250" dirty="0">
                <a:solidFill>
                  <a:srgbClr val="8CA3C7"/>
                </a:solidFill>
                <a:latin typeface="Calibri" pitchFamily="34" charset="0"/>
                <a:ea typeface="Calibri" pitchFamily="34" charset="-122"/>
                <a:cs typeface="Calibri" pitchFamily="34" charset="-120"/>
              </a:rPr>
              <a:t>Information from human sources</a:t>
            </a:r>
            <a:endParaRPr lang="en-US" sz="1250" dirty="0"/>
          </a:p>
        </p:txBody>
      </p:sp>
      <p:sp>
        <p:nvSpPr>
          <p:cNvPr id="25" name="Shape 19"/>
          <p:cNvSpPr/>
          <p:nvPr/>
        </p:nvSpPr>
        <p:spPr>
          <a:xfrm>
            <a:off x="7307885" y="2011680"/>
            <a:ext cx="2051914" cy="3931920"/>
          </a:xfrm>
          <a:prstGeom prst="roundRect">
            <a:avLst>
              <a:gd name="adj" fmla="val 3565"/>
            </a:avLst>
          </a:prstGeom>
          <a:solidFill>
            <a:srgbClr val="17325C"/>
          </a:solidFill>
          <a:ln w="12700">
            <a:solidFill>
              <a:srgbClr val="17325C"/>
            </a:solidFill>
            <a:prstDash val="solid"/>
          </a:ln>
        </p:spPr>
      </p:sp>
      <p:sp>
        <p:nvSpPr>
          <p:cNvPr id="26" name="Shape 20"/>
          <p:cNvSpPr/>
          <p:nvPr/>
        </p:nvSpPr>
        <p:spPr>
          <a:xfrm>
            <a:off x="8004658" y="2286000"/>
            <a:ext cx="658368" cy="658368"/>
          </a:xfrm>
          <a:prstGeom prst="ellipse">
            <a:avLst/>
          </a:prstGeom>
          <a:solidFill>
            <a:srgbClr val="0B1B34"/>
          </a:solidFill>
          <a:ln w="12700">
            <a:solidFill>
              <a:srgbClr val="0B1B34"/>
            </a:solidFill>
            <a:prstDash val="solid"/>
          </a:ln>
        </p:spPr>
      </p:sp>
      <p:pic>
        <p:nvPicPr>
          <p:cNvPr id="27" name="Image 3" descr="C:\Users\Trey\AppData\Local\Temp\claude\c--Projects-astral-project-src-pages-theknowledgebase\594bbb08-08fe-467c-99d2-4fe53cb86141\scratchpad\brief14n\icons\wave_gold.png">    </p:cNvPr>
          <p:cNvPicPr>
            <a:picLocks noChangeAspect="1"/>
          </p:cNvPicPr>
          <p:nvPr/>
        </p:nvPicPr>
        <p:blipFill>
          <a:blip r:embed="rId4"/>
          <a:stretch>
            <a:fillRect/>
          </a:stretch>
        </p:blipFill>
        <p:spPr>
          <a:xfrm>
            <a:off x="8156082" y="2437425"/>
            <a:ext cx="355519" cy="355519"/>
          </a:xfrm>
          <a:prstGeom prst="rect">
            <a:avLst/>
          </a:prstGeom>
        </p:spPr>
      </p:pic>
      <p:sp>
        <p:nvSpPr>
          <p:cNvPr id="28" name="Text 21"/>
          <p:cNvSpPr txBox="1"/>
          <p:nvPr/>
        </p:nvSpPr>
        <p:spPr>
          <a:xfrm>
            <a:off x="7399325" y="3108960"/>
            <a:ext cx="1869034" cy="457200"/>
          </a:xfrm>
          <a:prstGeom prst="rect">
            <a:avLst/>
          </a:prstGeom>
          <a:noFill/>
          <a:ln/>
        </p:spPr>
        <p:txBody>
          <a:bodyPr wrap="square" lIns="0" tIns="0" rIns="0" bIns="0" rtlCol="0" anchor="ctr"/>
          <a:lstStyle/>
          <a:p>
            <a:pPr algn="ctr" indent="0" marL="0">
              <a:buNone/>
            </a:pPr>
            <a:r>
              <a:rPr lang="en-US" sz="2200" b="1" dirty="0">
                <a:solidFill>
                  <a:srgbClr val="FFC72C"/>
                </a:solidFill>
                <a:latin typeface="Cambria" pitchFamily="34" charset="0"/>
                <a:ea typeface="Cambria" pitchFamily="34" charset="-122"/>
                <a:cs typeface="Cambria" pitchFamily="34" charset="-120"/>
              </a:rPr>
              <a:t>MASINT</a:t>
            </a:r>
            <a:endParaRPr lang="en-US" sz="2200" dirty="0"/>
          </a:p>
        </p:txBody>
      </p:sp>
      <p:sp>
        <p:nvSpPr>
          <p:cNvPr id="29" name="Text 22"/>
          <p:cNvSpPr txBox="1"/>
          <p:nvPr/>
        </p:nvSpPr>
        <p:spPr>
          <a:xfrm>
            <a:off x="7445045" y="3611880"/>
            <a:ext cx="1777594"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Measurement &amp; Signature Intelligence</a:t>
            </a:r>
            <a:endParaRPr lang="en-US" sz="1300" dirty="0"/>
          </a:p>
        </p:txBody>
      </p:sp>
      <p:sp>
        <p:nvSpPr>
          <p:cNvPr id="30" name="Text 23"/>
          <p:cNvSpPr txBox="1"/>
          <p:nvPr/>
        </p:nvSpPr>
        <p:spPr>
          <a:xfrm>
            <a:off x="7490765" y="4389120"/>
            <a:ext cx="1686154" cy="1463040"/>
          </a:xfrm>
          <a:prstGeom prst="rect">
            <a:avLst/>
          </a:prstGeom>
          <a:noFill/>
          <a:ln/>
        </p:spPr>
        <p:txBody>
          <a:bodyPr wrap="square" lIns="0" tIns="0" rIns="0" bIns="0" rtlCol="0" anchor="t"/>
          <a:lstStyle/>
          <a:p>
            <a:pPr algn="ctr" indent="0" marL="0">
              <a:buNone/>
            </a:pPr>
            <a:r>
              <a:rPr lang="en-US" sz="1250" dirty="0">
                <a:solidFill>
                  <a:srgbClr val="8CA3C7"/>
                </a:solidFill>
                <a:latin typeface="Calibri" pitchFamily="34" charset="0"/>
                <a:ea typeface="Calibri" pitchFamily="34" charset="-122"/>
                <a:cs typeface="Calibri" pitchFamily="34" charset="-120"/>
              </a:rPr>
              <a:t>Technical signatures: radar, acoustic, nuclear</a:t>
            </a:r>
            <a:endParaRPr lang="en-US" sz="1250" dirty="0"/>
          </a:p>
        </p:txBody>
      </p:sp>
      <p:sp>
        <p:nvSpPr>
          <p:cNvPr id="31" name="Shape 24"/>
          <p:cNvSpPr/>
          <p:nvPr/>
        </p:nvSpPr>
        <p:spPr>
          <a:xfrm>
            <a:off x="9560966" y="2011680"/>
            <a:ext cx="2051914" cy="3931920"/>
          </a:xfrm>
          <a:prstGeom prst="roundRect">
            <a:avLst>
              <a:gd name="adj" fmla="val 3565"/>
            </a:avLst>
          </a:prstGeom>
          <a:solidFill>
            <a:srgbClr val="17325C"/>
          </a:solidFill>
          <a:ln w="12700">
            <a:solidFill>
              <a:srgbClr val="17325C"/>
            </a:solidFill>
            <a:prstDash val="solid"/>
          </a:ln>
        </p:spPr>
      </p:sp>
      <p:sp>
        <p:nvSpPr>
          <p:cNvPr id="32" name="Shape 25"/>
          <p:cNvSpPr/>
          <p:nvPr/>
        </p:nvSpPr>
        <p:spPr>
          <a:xfrm>
            <a:off x="10257739" y="2286000"/>
            <a:ext cx="658368" cy="658368"/>
          </a:xfrm>
          <a:prstGeom prst="ellipse">
            <a:avLst/>
          </a:prstGeom>
          <a:solidFill>
            <a:srgbClr val="0B1B34"/>
          </a:solidFill>
          <a:ln w="12700">
            <a:solidFill>
              <a:srgbClr val="0B1B34"/>
            </a:solidFill>
            <a:prstDash val="solid"/>
          </a:ln>
        </p:spPr>
      </p:sp>
      <p:pic>
        <p:nvPicPr>
          <p:cNvPr id="33" name="Image 4" descr="C:\Users\Trey\AppData\Local\Temp\claude\c--Projects-astral-project-src-pages-theknowledgebase\594bbb08-08fe-467c-99d2-4fe53cb86141\scratchpad\brief14n\icons\globe_gold.png">    </p:cNvPr>
          <p:cNvPicPr>
            <a:picLocks noChangeAspect="1"/>
          </p:cNvPicPr>
          <p:nvPr/>
        </p:nvPicPr>
        <p:blipFill>
          <a:blip r:embed="rId5"/>
          <a:stretch>
            <a:fillRect/>
          </a:stretch>
        </p:blipFill>
        <p:spPr>
          <a:xfrm>
            <a:off x="10409164" y="2437425"/>
            <a:ext cx="355519" cy="355519"/>
          </a:xfrm>
          <a:prstGeom prst="rect">
            <a:avLst/>
          </a:prstGeom>
        </p:spPr>
      </p:pic>
      <p:sp>
        <p:nvSpPr>
          <p:cNvPr id="34" name="Text 26"/>
          <p:cNvSpPr txBox="1"/>
          <p:nvPr/>
        </p:nvSpPr>
        <p:spPr>
          <a:xfrm>
            <a:off x="9652406" y="3108960"/>
            <a:ext cx="1869034" cy="457200"/>
          </a:xfrm>
          <a:prstGeom prst="rect">
            <a:avLst/>
          </a:prstGeom>
          <a:noFill/>
          <a:ln/>
        </p:spPr>
        <p:txBody>
          <a:bodyPr wrap="square" lIns="0" tIns="0" rIns="0" bIns="0" rtlCol="0" anchor="ctr"/>
          <a:lstStyle/>
          <a:p>
            <a:pPr algn="ctr" indent="0" marL="0">
              <a:buNone/>
            </a:pPr>
            <a:r>
              <a:rPr lang="en-US" sz="2200" b="1" dirty="0">
                <a:solidFill>
                  <a:srgbClr val="FFC72C"/>
                </a:solidFill>
                <a:latin typeface="Cambria" pitchFamily="34" charset="0"/>
                <a:ea typeface="Cambria" pitchFamily="34" charset="-122"/>
                <a:cs typeface="Cambria" pitchFamily="34" charset="-120"/>
              </a:rPr>
              <a:t>OSINT</a:t>
            </a:r>
            <a:endParaRPr lang="en-US" sz="2200" dirty="0"/>
          </a:p>
        </p:txBody>
      </p:sp>
      <p:sp>
        <p:nvSpPr>
          <p:cNvPr id="35" name="Text 27"/>
          <p:cNvSpPr txBox="1"/>
          <p:nvPr/>
        </p:nvSpPr>
        <p:spPr>
          <a:xfrm>
            <a:off x="9698126" y="3611880"/>
            <a:ext cx="1777594"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Open-Source Intelligence</a:t>
            </a:r>
            <a:endParaRPr lang="en-US" sz="1300" dirty="0"/>
          </a:p>
        </p:txBody>
      </p:sp>
      <p:sp>
        <p:nvSpPr>
          <p:cNvPr id="36" name="Text 28"/>
          <p:cNvSpPr txBox="1"/>
          <p:nvPr/>
        </p:nvSpPr>
        <p:spPr>
          <a:xfrm>
            <a:off x="9743846" y="4389120"/>
            <a:ext cx="1686154" cy="1463040"/>
          </a:xfrm>
          <a:prstGeom prst="rect">
            <a:avLst/>
          </a:prstGeom>
          <a:noFill/>
          <a:ln/>
        </p:spPr>
        <p:txBody>
          <a:bodyPr wrap="square" lIns="0" tIns="0" rIns="0" bIns="0" rtlCol="0" anchor="t"/>
          <a:lstStyle/>
          <a:p>
            <a:pPr algn="ctr" indent="0" marL="0">
              <a:buNone/>
            </a:pPr>
            <a:r>
              <a:rPr lang="en-US" sz="1250" dirty="0">
                <a:solidFill>
                  <a:srgbClr val="8CA3C7"/>
                </a:solidFill>
                <a:latin typeface="Calibri" pitchFamily="34" charset="0"/>
                <a:ea typeface="Calibri" pitchFamily="34" charset="-122"/>
                <a:cs typeface="Calibri" pitchFamily="34" charset="-120"/>
              </a:rPr>
              <a:t>Publicly available information, evaluated and analyzed</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8229600" cy="320040"/>
          </a:xfrm>
          <a:prstGeom prst="rect">
            <a:avLst/>
          </a:prstGeom>
          <a:noFill/>
          <a:ln/>
        </p:spPr>
        <p:txBody>
          <a:bodyPr wrap="square" lIns="0" tIns="0" rIns="0" bIns="0" rtlCol="0" anchor="ctr"/>
          <a:lstStyle/>
          <a:p>
            <a:pPr indent="0" marL="0">
              <a:buNone/>
            </a:pPr>
            <a:r>
              <a:rPr lang="en-US" sz="1300" b="1" spc="300" kern="0" dirty="0">
                <a:solidFill>
                  <a:srgbClr val="FFC72C"/>
                </a:solidFill>
                <a:latin typeface="Calibri" pitchFamily="34" charset="0"/>
                <a:ea typeface="Calibri" pitchFamily="34" charset="-122"/>
                <a:cs typeface="Calibri" pitchFamily="34" charset="-120"/>
              </a:rPr>
              <a:t>BEYOND THE BASELINE</a:t>
            </a:r>
            <a:endParaRPr lang="en-US" sz="1300" dirty="0"/>
          </a:p>
        </p:txBody>
      </p:sp>
      <p:sp>
        <p:nvSpPr>
          <p:cNvPr id="4"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200" b="1" dirty="0">
                <a:solidFill>
                  <a:srgbClr val="12284B"/>
                </a:solidFill>
                <a:latin typeface="Cambria" pitchFamily="34" charset="0"/>
                <a:ea typeface="Cambria" pitchFamily="34" charset="-122"/>
                <a:cs typeface="Cambria" pitchFamily="34" charset="-120"/>
              </a:rPr>
              <a:t>The four areas a 14N builds depth in</a:t>
            </a:r>
            <a:endParaRPr lang="en-US" sz="3200" dirty="0"/>
          </a:p>
        </p:txBody>
      </p:sp>
      <p:sp>
        <p:nvSpPr>
          <p:cNvPr id="5" name="Text 2"/>
          <p:cNvSpPr txBox="1"/>
          <p:nvPr/>
        </p:nvSpPr>
        <p:spPr>
          <a:xfrm>
            <a:off x="11155680" y="6400800"/>
            <a:ext cx="731520" cy="274320"/>
          </a:xfrm>
          <a:prstGeom prst="rect">
            <a:avLst/>
          </a:prstGeom>
          <a:noFill/>
          <a:ln/>
        </p:spPr>
        <p:txBody>
          <a:bodyPr wrap="square" lIns="0" tIns="0" rIns="0" bIns="0" rtlCol="0" anchor="ctr"/>
          <a:lstStyle/>
          <a:p>
            <a:pPr algn="r" indent="0" marL="0">
              <a:buNone/>
            </a:pPr>
            <a:r>
              <a:rPr lang="en-US" sz="900" dirty="0">
                <a:solidFill>
                  <a:srgbClr val="5C6B82"/>
                </a:solidFill>
                <a:latin typeface="Calibri" pitchFamily="34" charset="0"/>
                <a:ea typeface="Calibri" pitchFamily="34" charset="-122"/>
                <a:cs typeface="Calibri" pitchFamily="34" charset="-120"/>
              </a:rPr>
              <a:t>09</a:t>
            </a:r>
            <a:endParaRPr lang="en-US" sz="900" dirty="0"/>
          </a:p>
        </p:txBody>
      </p:sp>
      <p:sp>
        <p:nvSpPr>
          <p:cNvPr id="6" name="Shape 3"/>
          <p:cNvSpPr/>
          <p:nvPr/>
        </p:nvSpPr>
        <p:spPr>
          <a:xfrm>
            <a:off x="548640" y="1828800"/>
            <a:ext cx="2574036" cy="3840480"/>
          </a:xfrm>
          <a:prstGeom prst="roundRect">
            <a:avLst>
              <a:gd name="adj" fmla="val 2842"/>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7" name="Shape 4"/>
          <p:cNvSpPr/>
          <p:nvPr/>
        </p:nvSpPr>
        <p:spPr>
          <a:xfrm>
            <a:off x="822960" y="2103120"/>
            <a:ext cx="585216" cy="585216"/>
          </a:xfrm>
          <a:prstGeom prst="ellipse">
            <a:avLst/>
          </a:prstGeom>
          <a:solidFill>
            <a:srgbClr val="12284B"/>
          </a:solidFill>
          <a:ln w="12700">
            <a:solidFill>
              <a:srgbClr val="12284B"/>
            </a:solidFill>
            <a:prstDash val="solid"/>
          </a:ln>
        </p:spPr>
      </p:sp>
      <p:pic>
        <p:nvPicPr>
          <p:cNvPr id="8" name="Image 0" descr="C:\Users\Trey\AppData\Local\Temp\claude\c--Projects-astral-project-src-pages-theknowledgebase\594bbb08-08fe-467c-99d2-4fe53cb86141\scratchpad\brief14n\icons\clipboardcheck_gold.png">    </p:cNvPr>
          <p:cNvPicPr>
            <a:picLocks noChangeAspect="1"/>
          </p:cNvPicPr>
          <p:nvPr/>
        </p:nvPicPr>
        <p:blipFill>
          <a:blip r:embed="rId1"/>
          <a:stretch>
            <a:fillRect/>
          </a:stretch>
        </p:blipFill>
        <p:spPr>
          <a:xfrm>
            <a:off x="957560" y="2237720"/>
            <a:ext cx="316017" cy="316017"/>
          </a:xfrm>
          <a:prstGeom prst="rect">
            <a:avLst/>
          </a:prstGeom>
        </p:spPr>
      </p:pic>
      <p:sp>
        <p:nvSpPr>
          <p:cNvPr id="9" name="Text 5"/>
          <p:cNvSpPr txBox="1"/>
          <p:nvPr/>
        </p:nvSpPr>
        <p:spPr>
          <a:xfrm>
            <a:off x="822960" y="2880360"/>
            <a:ext cx="2025396" cy="640080"/>
          </a:xfrm>
          <a:prstGeom prst="rect">
            <a:avLst/>
          </a:prstGeom>
          <a:noFill/>
          <a:ln/>
        </p:spPr>
        <p:txBody>
          <a:bodyPr wrap="square" lIns="0" tIns="0" rIns="0" bIns="0" rtlCol="0" anchor="ctr"/>
          <a:lstStyle/>
          <a:p>
            <a:pPr indent="0" marL="0">
              <a:buNone/>
            </a:pPr>
            <a:r>
              <a:rPr lang="en-US" sz="1800" b="1" dirty="0">
                <a:solidFill>
                  <a:srgbClr val="12284B"/>
                </a:solidFill>
                <a:latin typeface="Calibri" pitchFamily="34" charset="0"/>
                <a:ea typeface="Calibri" pitchFamily="34" charset="-122"/>
                <a:cs typeface="Calibri" pitchFamily="34" charset="-120"/>
              </a:rPr>
              <a:t>Analysis</a:t>
            </a:r>
            <a:endParaRPr lang="en-US" sz="1800" dirty="0"/>
          </a:p>
        </p:txBody>
      </p:sp>
      <p:sp>
        <p:nvSpPr>
          <p:cNvPr id="10" name="Text 6"/>
          <p:cNvSpPr txBox="1"/>
          <p:nvPr/>
        </p:nvSpPr>
        <p:spPr>
          <a:xfrm>
            <a:off x="822960" y="3611880"/>
            <a:ext cx="2025396" cy="1920240"/>
          </a:xfrm>
          <a:prstGeom prst="rect">
            <a:avLst/>
          </a:prstGeom>
          <a:noFill/>
          <a:ln/>
        </p:spPr>
        <p:txBody>
          <a:bodyPr wrap="square" lIns="0" tIns="0" rIns="0" bIns="0" rtlCol="0" anchor="t"/>
          <a:lstStyle/>
          <a:p>
            <a:pPr indent="0" marL="0">
              <a:buNone/>
            </a:pPr>
            <a:r>
              <a:rPr lang="en-US" sz="1500" dirty="0">
                <a:solidFill>
                  <a:srgbClr val="5C6B82"/>
                </a:solidFill>
                <a:latin typeface="Calibri" pitchFamily="34" charset="0"/>
                <a:ea typeface="Calibri" pitchFamily="34" charset="-122"/>
                <a:cs typeface="Calibri" pitchFamily="34" charset="-120"/>
              </a:rPr>
              <a:t>Produces fused, all-source analysis that answers the commander’s priority intelligence requirements.</a:t>
            </a:r>
            <a:endParaRPr lang="en-US" sz="1500" dirty="0"/>
          </a:p>
        </p:txBody>
      </p:sp>
      <p:sp>
        <p:nvSpPr>
          <p:cNvPr id="11" name="Shape 7"/>
          <p:cNvSpPr/>
          <p:nvPr/>
        </p:nvSpPr>
        <p:spPr>
          <a:xfrm>
            <a:off x="3378708" y="1828800"/>
            <a:ext cx="2574036" cy="3840480"/>
          </a:xfrm>
          <a:prstGeom prst="roundRect">
            <a:avLst>
              <a:gd name="adj" fmla="val 2842"/>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12" name="Shape 8"/>
          <p:cNvSpPr/>
          <p:nvPr/>
        </p:nvSpPr>
        <p:spPr>
          <a:xfrm>
            <a:off x="3653028" y="2103120"/>
            <a:ext cx="585216" cy="585216"/>
          </a:xfrm>
          <a:prstGeom prst="ellipse">
            <a:avLst/>
          </a:prstGeom>
          <a:solidFill>
            <a:srgbClr val="12284B"/>
          </a:solidFill>
          <a:ln w="12700">
            <a:solidFill>
              <a:srgbClr val="12284B"/>
            </a:solidFill>
            <a:prstDash val="solid"/>
          </a:ln>
        </p:spPr>
      </p:sp>
      <p:pic>
        <p:nvPicPr>
          <p:cNvPr id="13" name="Image 1" descr="C:\Users\Trey\AppData\Local\Temp\claude\c--Projects-astral-project-src-pages-theknowledgebase\594bbb08-08fe-467c-99d2-4fe53cb86141\scratchpad\brief14n\icons\sitemap_gold.png">    </p:cNvPr>
          <p:cNvPicPr>
            <a:picLocks noChangeAspect="1"/>
          </p:cNvPicPr>
          <p:nvPr/>
        </p:nvPicPr>
        <p:blipFill>
          <a:blip r:embed="rId2"/>
          <a:stretch>
            <a:fillRect/>
          </a:stretch>
        </p:blipFill>
        <p:spPr>
          <a:xfrm>
            <a:off x="3787628" y="2237720"/>
            <a:ext cx="316017" cy="316017"/>
          </a:xfrm>
          <a:prstGeom prst="rect">
            <a:avLst/>
          </a:prstGeom>
        </p:spPr>
      </p:pic>
      <p:sp>
        <p:nvSpPr>
          <p:cNvPr id="14" name="Text 9"/>
          <p:cNvSpPr txBox="1"/>
          <p:nvPr/>
        </p:nvSpPr>
        <p:spPr>
          <a:xfrm>
            <a:off x="3653028" y="2880360"/>
            <a:ext cx="2025396" cy="640080"/>
          </a:xfrm>
          <a:prstGeom prst="rect">
            <a:avLst/>
          </a:prstGeom>
          <a:noFill/>
          <a:ln/>
        </p:spPr>
        <p:txBody>
          <a:bodyPr wrap="square" lIns="0" tIns="0" rIns="0" bIns="0" rtlCol="0" anchor="ctr"/>
          <a:lstStyle/>
          <a:p>
            <a:pPr indent="0" marL="0">
              <a:buNone/>
            </a:pPr>
            <a:r>
              <a:rPr lang="en-US" sz="1800" b="1" dirty="0">
                <a:solidFill>
                  <a:srgbClr val="12284B"/>
                </a:solidFill>
                <a:latin typeface="Calibri" pitchFamily="34" charset="0"/>
                <a:ea typeface="Calibri" pitchFamily="34" charset="-122"/>
                <a:cs typeface="Calibri" pitchFamily="34" charset="-120"/>
              </a:rPr>
              <a:t>Collection</a:t>
            </a:r>
            <a:endParaRPr lang="en-US" sz="1800" dirty="0"/>
          </a:p>
        </p:txBody>
      </p:sp>
      <p:sp>
        <p:nvSpPr>
          <p:cNvPr id="15" name="Text 10"/>
          <p:cNvSpPr txBox="1"/>
          <p:nvPr/>
        </p:nvSpPr>
        <p:spPr>
          <a:xfrm>
            <a:off x="3653028" y="3611880"/>
            <a:ext cx="2025396" cy="1920240"/>
          </a:xfrm>
          <a:prstGeom prst="rect">
            <a:avLst/>
          </a:prstGeom>
          <a:noFill/>
          <a:ln/>
        </p:spPr>
        <p:txBody>
          <a:bodyPr wrap="square" lIns="0" tIns="0" rIns="0" bIns="0" rtlCol="0" anchor="t"/>
          <a:lstStyle/>
          <a:p>
            <a:pPr indent="0" marL="0">
              <a:buNone/>
            </a:pPr>
            <a:r>
              <a:rPr lang="en-US" sz="1500" dirty="0">
                <a:solidFill>
                  <a:srgbClr val="5C6B82"/>
                </a:solidFill>
                <a:latin typeface="Calibri" pitchFamily="34" charset="0"/>
                <a:ea typeface="Calibri" pitchFamily="34" charset="-122"/>
                <a:cs typeface="Calibri" pitchFamily="34" charset="-120"/>
              </a:rPr>
              <a:t>Turns intelligence requirements into collection requirements, then tasks and monitors the sensors and sources that answer them.</a:t>
            </a:r>
            <a:endParaRPr lang="en-US" sz="1500" dirty="0"/>
          </a:p>
        </p:txBody>
      </p:sp>
      <p:sp>
        <p:nvSpPr>
          <p:cNvPr id="16" name="Shape 11"/>
          <p:cNvSpPr/>
          <p:nvPr/>
        </p:nvSpPr>
        <p:spPr>
          <a:xfrm>
            <a:off x="6208776" y="1828800"/>
            <a:ext cx="2574036" cy="3840480"/>
          </a:xfrm>
          <a:prstGeom prst="roundRect">
            <a:avLst>
              <a:gd name="adj" fmla="val 2842"/>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17" name="Shape 12"/>
          <p:cNvSpPr/>
          <p:nvPr/>
        </p:nvSpPr>
        <p:spPr>
          <a:xfrm>
            <a:off x="6483096" y="2103120"/>
            <a:ext cx="585216" cy="585216"/>
          </a:xfrm>
          <a:prstGeom prst="ellipse">
            <a:avLst/>
          </a:prstGeom>
          <a:solidFill>
            <a:srgbClr val="12284B"/>
          </a:solidFill>
          <a:ln w="12700">
            <a:solidFill>
              <a:srgbClr val="12284B"/>
            </a:solidFill>
            <a:prstDash val="solid"/>
          </a:ln>
        </p:spPr>
      </p:sp>
      <p:pic>
        <p:nvPicPr>
          <p:cNvPr id="18" name="Image 2" descr="C:\Users\Trey\AppData\Local\Temp\claude\c--Projects-astral-project-src-pages-theknowledgebase\594bbb08-08fe-467c-99d2-4fe53cb86141\scratchpad\brief14n\icons\crosshairs_gold.png">    </p:cNvPr>
          <p:cNvPicPr>
            <a:picLocks noChangeAspect="1"/>
          </p:cNvPicPr>
          <p:nvPr/>
        </p:nvPicPr>
        <p:blipFill>
          <a:blip r:embed="rId3"/>
          <a:stretch>
            <a:fillRect/>
          </a:stretch>
        </p:blipFill>
        <p:spPr>
          <a:xfrm>
            <a:off x="6617696" y="2237720"/>
            <a:ext cx="316017" cy="316017"/>
          </a:xfrm>
          <a:prstGeom prst="rect">
            <a:avLst/>
          </a:prstGeom>
        </p:spPr>
      </p:pic>
      <p:sp>
        <p:nvSpPr>
          <p:cNvPr id="19" name="Text 13"/>
          <p:cNvSpPr txBox="1"/>
          <p:nvPr/>
        </p:nvSpPr>
        <p:spPr>
          <a:xfrm>
            <a:off x="6483096" y="2880360"/>
            <a:ext cx="2025396" cy="640080"/>
          </a:xfrm>
          <a:prstGeom prst="rect">
            <a:avLst/>
          </a:prstGeom>
          <a:noFill/>
          <a:ln/>
        </p:spPr>
        <p:txBody>
          <a:bodyPr wrap="square" lIns="0" tIns="0" rIns="0" bIns="0" rtlCol="0" anchor="ctr"/>
          <a:lstStyle/>
          <a:p>
            <a:pPr indent="0" marL="0">
              <a:buNone/>
            </a:pPr>
            <a:r>
              <a:rPr lang="en-US" sz="1800" b="1" dirty="0">
                <a:solidFill>
                  <a:srgbClr val="12284B"/>
                </a:solidFill>
                <a:latin typeface="Calibri" pitchFamily="34" charset="0"/>
                <a:ea typeface="Calibri" pitchFamily="34" charset="-122"/>
                <a:cs typeface="Calibri" pitchFamily="34" charset="-120"/>
              </a:rPr>
              <a:t>Targeting</a:t>
            </a:r>
            <a:endParaRPr lang="en-US" sz="1800" dirty="0"/>
          </a:p>
        </p:txBody>
      </p:sp>
      <p:sp>
        <p:nvSpPr>
          <p:cNvPr id="20" name="Text 14"/>
          <p:cNvSpPr txBox="1"/>
          <p:nvPr/>
        </p:nvSpPr>
        <p:spPr>
          <a:xfrm>
            <a:off x="6483096" y="3611880"/>
            <a:ext cx="2025396" cy="1920240"/>
          </a:xfrm>
          <a:prstGeom prst="rect">
            <a:avLst/>
          </a:prstGeom>
          <a:noFill/>
          <a:ln/>
        </p:spPr>
        <p:txBody>
          <a:bodyPr wrap="square" lIns="0" tIns="0" rIns="0" bIns="0" rtlCol="0" anchor="t"/>
          <a:lstStyle/>
          <a:p>
            <a:pPr indent="0" marL="0">
              <a:buNone/>
            </a:pPr>
            <a:r>
              <a:rPr lang="en-US" sz="1500" dirty="0">
                <a:solidFill>
                  <a:srgbClr val="5C6B82"/>
                </a:solidFill>
                <a:latin typeface="Calibri" pitchFamily="34" charset="0"/>
                <a:ea typeface="Calibri" pitchFamily="34" charset="-122"/>
                <a:cs typeface="Calibri" pitchFamily="34" charset="-120"/>
              </a:rPr>
              <a:t>Develops targets, matches weapons to them, and assesses the results afterward. Kinetic and non-kinetic.</a:t>
            </a:r>
            <a:endParaRPr lang="en-US" sz="1500" dirty="0"/>
          </a:p>
        </p:txBody>
      </p:sp>
      <p:sp>
        <p:nvSpPr>
          <p:cNvPr id="21" name="Shape 15"/>
          <p:cNvSpPr/>
          <p:nvPr/>
        </p:nvSpPr>
        <p:spPr>
          <a:xfrm>
            <a:off x="9038844" y="1828800"/>
            <a:ext cx="2574036" cy="3840480"/>
          </a:xfrm>
          <a:prstGeom prst="roundRect">
            <a:avLst>
              <a:gd name="adj" fmla="val 2842"/>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22" name="Shape 16"/>
          <p:cNvSpPr/>
          <p:nvPr/>
        </p:nvSpPr>
        <p:spPr>
          <a:xfrm>
            <a:off x="9313164" y="2103120"/>
            <a:ext cx="585216" cy="585216"/>
          </a:xfrm>
          <a:prstGeom prst="ellipse">
            <a:avLst/>
          </a:prstGeom>
          <a:solidFill>
            <a:srgbClr val="12284B"/>
          </a:solidFill>
          <a:ln w="12700">
            <a:solidFill>
              <a:srgbClr val="12284B"/>
            </a:solidFill>
            <a:prstDash val="solid"/>
          </a:ln>
        </p:spPr>
      </p:sp>
      <p:pic>
        <p:nvPicPr>
          <p:cNvPr id="23" name="Image 3" descr="C:\Users\Trey\AppData\Local\Temp\claude\c--Projects-astral-project-src-pages-theknowledgebase\594bbb08-08fe-467c-99d2-4fe53cb86141\scratchpad\brief14n\icons\broadcast_gold.png">    </p:cNvPr>
          <p:cNvPicPr>
            <a:picLocks noChangeAspect="1"/>
          </p:cNvPicPr>
          <p:nvPr/>
        </p:nvPicPr>
        <p:blipFill>
          <a:blip r:embed="rId4"/>
          <a:stretch>
            <a:fillRect/>
          </a:stretch>
        </p:blipFill>
        <p:spPr>
          <a:xfrm>
            <a:off x="9447764" y="2237720"/>
            <a:ext cx="316017" cy="316017"/>
          </a:xfrm>
          <a:prstGeom prst="rect">
            <a:avLst/>
          </a:prstGeom>
        </p:spPr>
      </p:pic>
      <p:sp>
        <p:nvSpPr>
          <p:cNvPr id="24" name="Text 17"/>
          <p:cNvSpPr txBox="1"/>
          <p:nvPr/>
        </p:nvSpPr>
        <p:spPr>
          <a:xfrm>
            <a:off x="9313164" y="2880360"/>
            <a:ext cx="2025396" cy="640080"/>
          </a:xfrm>
          <a:prstGeom prst="rect">
            <a:avLst/>
          </a:prstGeom>
          <a:noFill/>
          <a:ln/>
        </p:spPr>
        <p:txBody>
          <a:bodyPr wrap="square" lIns="0" tIns="0" rIns="0" bIns="0" rtlCol="0" anchor="ctr"/>
          <a:lstStyle/>
          <a:p>
            <a:pPr indent="0" marL="0">
              <a:buNone/>
            </a:pPr>
            <a:r>
              <a:rPr lang="en-US" sz="1800" b="1" dirty="0">
                <a:solidFill>
                  <a:srgbClr val="12284B"/>
                </a:solidFill>
                <a:latin typeface="Calibri" pitchFamily="34" charset="0"/>
                <a:ea typeface="Calibri" pitchFamily="34" charset="-122"/>
                <a:cs typeface="Calibri" pitchFamily="34" charset="-120"/>
              </a:rPr>
              <a:t>Sensing Grid Activities</a:t>
            </a:r>
            <a:endParaRPr lang="en-US" sz="1800" dirty="0"/>
          </a:p>
        </p:txBody>
      </p:sp>
      <p:sp>
        <p:nvSpPr>
          <p:cNvPr id="25" name="Text 18"/>
          <p:cNvSpPr txBox="1"/>
          <p:nvPr/>
        </p:nvSpPr>
        <p:spPr>
          <a:xfrm>
            <a:off x="9313164" y="3611880"/>
            <a:ext cx="2025396" cy="1920240"/>
          </a:xfrm>
          <a:prstGeom prst="rect">
            <a:avLst/>
          </a:prstGeom>
          <a:noFill/>
          <a:ln/>
        </p:spPr>
        <p:txBody>
          <a:bodyPr wrap="square" lIns="0" tIns="0" rIns="0" bIns="0" rtlCol="0" anchor="t"/>
          <a:lstStyle/>
          <a:p>
            <a:pPr indent="0" marL="0">
              <a:buNone/>
            </a:pPr>
            <a:r>
              <a:rPr lang="en-US" sz="1500" dirty="0">
                <a:solidFill>
                  <a:srgbClr val="5C6B82"/>
                </a:solidFill>
                <a:latin typeface="Calibri" pitchFamily="34" charset="0"/>
                <a:ea typeface="Calibri" pitchFamily="34" charset="-122"/>
                <a:cs typeface="Calibri" pitchFamily="34" charset="-120"/>
              </a:rPr>
              <a:t>Sensing, analyzing, and sharing information across a connected network, using cloud tools and machine intelligence to move faster.</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675120" y="0"/>
            <a:ext cx="5516575" cy="6858000"/>
          </a:xfrm>
          <a:prstGeom prst="rect">
            <a:avLst/>
          </a:prstGeom>
          <a:solidFill>
            <a:srgbClr val="0B1B34"/>
          </a:solidFill>
          <a:ln w="12700">
            <a:solidFill>
              <a:srgbClr val="0B1B34"/>
            </a:solidFill>
            <a:prstDash val="solid"/>
          </a:ln>
        </p:spPr>
      </p:sp>
      <p:sp>
        <p:nvSpPr>
          <p:cNvPr id="4" name="Text 1"/>
          <p:cNvSpPr txBox="1"/>
          <p:nvPr/>
        </p:nvSpPr>
        <p:spPr>
          <a:xfrm>
            <a:off x="548640" y="365760"/>
            <a:ext cx="5486400" cy="320040"/>
          </a:xfrm>
          <a:prstGeom prst="rect">
            <a:avLst/>
          </a:prstGeom>
          <a:noFill/>
          <a:ln/>
        </p:spPr>
        <p:txBody>
          <a:bodyPr wrap="square" lIns="0" tIns="0" rIns="0" bIns="0" rtlCol="0" anchor="ctr"/>
          <a:lstStyle/>
          <a:p>
            <a:pPr indent="0" marL="0">
              <a:buNone/>
            </a:pPr>
            <a:r>
              <a:rPr lang="en-US" sz="1300" b="1" spc="300" kern="0" dirty="0">
                <a:solidFill>
                  <a:srgbClr val="FFC72C"/>
                </a:solidFill>
                <a:latin typeface="Calibri" pitchFamily="34" charset="0"/>
                <a:ea typeface="Calibri" pitchFamily="34" charset="-122"/>
                <a:cs typeface="Calibri" pitchFamily="34" charset="-120"/>
              </a:rPr>
              <a:t>PUTTING IT TOGETHER</a:t>
            </a:r>
            <a:endParaRPr lang="en-US" sz="1300" dirty="0"/>
          </a:p>
        </p:txBody>
      </p:sp>
      <p:sp>
        <p:nvSpPr>
          <p:cNvPr id="5" name="Text 2"/>
          <p:cNvSpPr txBox="1"/>
          <p:nvPr/>
        </p:nvSpPr>
        <p:spPr>
          <a:xfrm>
            <a:off x="548640" y="658368"/>
            <a:ext cx="5943600" cy="1188720"/>
          </a:xfrm>
          <a:prstGeom prst="rect">
            <a:avLst/>
          </a:prstGeom>
          <a:noFill/>
          <a:ln/>
        </p:spPr>
        <p:txBody>
          <a:bodyPr wrap="square" lIns="0" tIns="0" rIns="0" bIns="0" rtlCol="0" anchor="ctr"/>
          <a:lstStyle/>
          <a:p>
            <a:pPr indent="0" marL="0">
              <a:buNone/>
            </a:pPr>
            <a:r>
              <a:rPr lang="en-US" sz="3000" b="1" dirty="0">
                <a:solidFill>
                  <a:srgbClr val="12284B"/>
                </a:solidFill>
                <a:latin typeface="Cambria" pitchFamily="34" charset="0"/>
                <a:ea typeface="Cambria" pitchFamily="34" charset="-122"/>
                <a:cs typeface="Cambria" pitchFamily="34" charset="-120"/>
              </a:rPr>
              <a:t>All-source analysis: the real job</a:t>
            </a:r>
            <a:endParaRPr lang="en-US" sz="3000" dirty="0"/>
          </a:p>
        </p:txBody>
      </p:sp>
      <p:sp>
        <p:nvSpPr>
          <p:cNvPr id="6" name="Text 3"/>
          <p:cNvSpPr txBox="1"/>
          <p:nvPr/>
        </p:nvSpPr>
        <p:spPr>
          <a:xfrm>
            <a:off x="548640" y="2011680"/>
            <a:ext cx="5760720" cy="155448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No single INT tells the whole story. All-source analysis weighs partial, sometimes conflicting reports from every discipline and produces one assessment a commander can trust.</a:t>
            </a:r>
            <a:endParaRPr lang="en-US" sz="1500" dirty="0"/>
          </a:p>
        </p:txBody>
      </p:sp>
      <p:sp>
        <p:nvSpPr>
          <p:cNvPr id="7" name="Shape 4"/>
          <p:cNvSpPr/>
          <p:nvPr/>
        </p:nvSpPr>
        <p:spPr>
          <a:xfrm>
            <a:off x="548640" y="3831336"/>
            <a:ext cx="292608" cy="292608"/>
          </a:xfrm>
          <a:prstGeom prst="roundRect">
            <a:avLst>
              <a:gd name="adj" fmla="val 15625"/>
            </a:avLst>
          </a:prstGeom>
          <a:solidFill>
            <a:srgbClr val="12284B"/>
          </a:solidFill>
          <a:ln w="12700">
            <a:solidFill>
              <a:srgbClr val="12284B"/>
            </a:solidFill>
            <a:prstDash val="solid"/>
          </a:ln>
        </p:spPr>
      </p:sp>
      <p:sp>
        <p:nvSpPr>
          <p:cNvPr id="8" name="Text 5"/>
          <p:cNvSpPr txBox="1"/>
          <p:nvPr/>
        </p:nvSpPr>
        <p:spPr>
          <a:xfrm>
            <a:off x="548640" y="38313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6"/>
          <p:cNvSpPr txBox="1"/>
          <p:nvPr/>
        </p:nvSpPr>
        <p:spPr>
          <a:xfrm>
            <a:off x="1005840" y="3794760"/>
            <a:ext cx="5303520" cy="68580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Cross-check sources against each other for confidence, not just volume</a:t>
            </a:r>
            <a:endParaRPr lang="en-US" sz="1350" dirty="0"/>
          </a:p>
        </p:txBody>
      </p:sp>
      <p:sp>
        <p:nvSpPr>
          <p:cNvPr id="10" name="Shape 7"/>
          <p:cNvSpPr/>
          <p:nvPr/>
        </p:nvSpPr>
        <p:spPr>
          <a:xfrm>
            <a:off x="548640" y="4608576"/>
            <a:ext cx="292608" cy="292608"/>
          </a:xfrm>
          <a:prstGeom prst="roundRect">
            <a:avLst>
              <a:gd name="adj" fmla="val 15625"/>
            </a:avLst>
          </a:prstGeom>
          <a:solidFill>
            <a:srgbClr val="12284B"/>
          </a:solidFill>
          <a:ln w="12700">
            <a:solidFill>
              <a:srgbClr val="12284B"/>
            </a:solidFill>
            <a:prstDash val="solid"/>
          </a:ln>
        </p:spPr>
      </p:sp>
      <p:sp>
        <p:nvSpPr>
          <p:cNvPr id="11" name="Text 8"/>
          <p:cNvSpPr txBox="1"/>
          <p:nvPr/>
        </p:nvSpPr>
        <p:spPr>
          <a:xfrm>
            <a:off x="548640" y="460857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9"/>
          <p:cNvSpPr txBox="1"/>
          <p:nvPr/>
        </p:nvSpPr>
        <p:spPr>
          <a:xfrm>
            <a:off x="1005840" y="4572000"/>
            <a:ext cx="5303520" cy="68580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Flag gaps and uncertainties: possible bad information, or missing information</a:t>
            </a:r>
            <a:endParaRPr lang="en-US" sz="1350" dirty="0"/>
          </a:p>
        </p:txBody>
      </p:sp>
      <p:sp>
        <p:nvSpPr>
          <p:cNvPr id="13" name="Shape 10"/>
          <p:cNvSpPr/>
          <p:nvPr/>
        </p:nvSpPr>
        <p:spPr>
          <a:xfrm>
            <a:off x="548640" y="5385816"/>
            <a:ext cx="292608" cy="292608"/>
          </a:xfrm>
          <a:prstGeom prst="roundRect">
            <a:avLst>
              <a:gd name="adj" fmla="val 15625"/>
            </a:avLst>
          </a:prstGeom>
          <a:solidFill>
            <a:srgbClr val="12284B"/>
          </a:solidFill>
          <a:ln w="12700">
            <a:solidFill>
              <a:srgbClr val="12284B"/>
            </a:solidFill>
            <a:prstDash val="solid"/>
          </a:ln>
        </p:spPr>
      </p:sp>
      <p:sp>
        <p:nvSpPr>
          <p:cNvPr id="14" name="Text 11"/>
          <p:cNvSpPr txBox="1"/>
          <p:nvPr/>
        </p:nvSpPr>
        <p:spPr>
          <a:xfrm>
            <a:off x="548640" y="53858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5" name="Text 12"/>
          <p:cNvSpPr txBox="1"/>
          <p:nvPr/>
        </p:nvSpPr>
        <p:spPr>
          <a:xfrm>
            <a:off x="1005840" y="5349240"/>
            <a:ext cx="5303520" cy="68580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Package findings for the audience: a wing commander needs different detail than a strike planner</a:t>
            </a:r>
            <a:endParaRPr lang="en-US" sz="1350" dirty="0"/>
          </a:p>
        </p:txBody>
      </p:sp>
      <p:sp>
        <p:nvSpPr>
          <p:cNvPr id="16" name="Shape 13"/>
          <p:cNvSpPr/>
          <p:nvPr/>
        </p:nvSpPr>
        <p:spPr>
          <a:xfrm flipH="1">
            <a:off x="9418320" y="1417320"/>
            <a:ext cx="914" cy="1828800"/>
          </a:xfrm>
          <a:prstGeom prst="line">
            <a:avLst/>
          </a:prstGeom>
          <a:noFill/>
          <a:ln w="12700">
            <a:solidFill>
              <a:srgbClr val="8CA3C7"/>
            </a:solidFill>
            <a:prstDash val="dash"/>
          </a:ln>
        </p:spPr>
      </p:sp>
      <p:sp>
        <p:nvSpPr>
          <p:cNvPr id="17" name="Shape 14"/>
          <p:cNvSpPr/>
          <p:nvPr/>
        </p:nvSpPr>
        <p:spPr>
          <a:xfrm>
            <a:off x="9107424" y="1106424"/>
            <a:ext cx="621792" cy="621792"/>
          </a:xfrm>
          <a:prstGeom prst="ellipse">
            <a:avLst/>
          </a:prstGeom>
          <a:solidFill>
            <a:srgbClr val="12284B"/>
          </a:solidFill>
          <a:ln w="12700">
            <a:solidFill>
              <a:srgbClr val="12284B"/>
            </a:solidFill>
            <a:prstDash val="solid"/>
          </a:ln>
        </p:spPr>
      </p:sp>
      <p:pic>
        <p:nvPicPr>
          <p:cNvPr id="18" name="Image 0" descr="C:\Users\Trey\AppData\Local\Temp\claude\c--Projects-astral-project-src-pages-theknowledgebase\594bbb08-08fe-467c-99d2-4fe53cb86141\scratchpad\brief14n\icons\broadcast_gold.png">    </p:cNvPr>
          <p:cNvPicPr>
            <a:picLocks noChangeAspect="1"/>
          </p:cNvPicPr>
          <p:nvPr/>
        </p:nvPicPr>
        <p:blipFill>
          <a:blip r:embed="rId1"/>
          <a:stretch>
            <a:fillRect/>
          </a:stretch>
        </p:blipFill>
        <p:spPr>
          <a:xfrm>
            <a:off x="9250436" y="1249436"/>
            <a:ext cx="335768" cy="335768"/>
          </a:xfrm>
          <a:prstGeom prst="rect">
            <a:avLst/>
          </a:prstGeom>
        </p:spPr>
      </p:pic>
      <p:sp>
        <p:nvSpPr>
          <p:cNvPr id="19" name="Shape 15"/>
          <p:cNvSpPr/>
          <p:nvPr/>
        </p:nvSpPr>
        <p:spPr>
          <a:xfrm flipH="1">
            <a:off x="9418320" y="2680990"/>
            <a:ext cx="1739292" cy="565130"/>
          </a:xfrm>
          <a:prstGeom prst="line">
            <a:avLst/>
          </a:prstGeom>
          <a:noFill/>
          <a:ln w="12700">
            <a:solidFill>
              <a:srgbClr val="8CA3C7"/>
            </a:solidFill>
            <a:prstDash val="dash"/>
          </a:ln>
        </p:spPr>
      </p:sp>
      <p:sp>
        <p:nvSpPr>
          <p:cNvPr id="20" name="Shape 16"/>
          <p:cNvSpPr/>
          <p:nvPr/>
        </p:nvSpPr>
        <p:spPr>
          <a:xfrm>
            <a:off x="10846716" y="2370094"/>
            <a:ext cx="621792" cy="621792"/>
          </a:xfrm>
          <a:prstGeom prst="ellipse">
            <a:avLst/>
          </a:prstGeom>
          <a:solidFill>
            <a:srgbClr val="12284B"/>
          </a:solidFill>
          <a:ln w="12700">
            <a:solidFill>
              <a:srgbClr val="12284B"/>
            </a:solidFill>
            <a:prstDash val="solid"/>
          </a:ln>
        </p:spPr>
      </p:sp>
      <p:pic>
        <p:nvPicPr>
          <p:cNvPr id="21" name="Image 1" descr="C:\Users\Trey\AppData\Local\Temp\claude\c--Projects-astral-project-src-pages-theknowledgebase\594bbb08-08fe-467c-99d2-4fe53cb86141\scratchpad\brief14n\icons\satellite_gold.png">    </p:cNvPr>
          <p:cNvPicPr>
            <a:picLocks noChangeAspect="1"/>
          </p:cNvPicPr>
          <p:nvPr/>
        </p:nvPicPr>
        <p:blipFill>
          <a:blip r:embed="rId2"/>
          <a:stretch>
            <a:fillRect/>
          </a:stretch>
        </p:blipFill>
        <p:spPr>
          <a:xfrm>
            <a:off x="10989728" y="2513106"/>
            <a:ext cx="335768" cy="335768"/>
          </a:xfrm>
          <a:prstGeom prst="rect">
            <a:avLst/>
          </a:prstGeom>
        </p:spPr>
      </p:pic>
      <p:sp>
        <p:nvSpPr>
          <p:cNvPr id="22" name="Shape 17"/>
          <p:cNvSpPr/>
          <p:nvPr/>
        </p:nvSpPr>
        <p:spPr>
          <a:xfrm>
            <a:off x="9418320" y="3246120"/>
            <a:ext cx="1074942" cy="1479530"/>
          </a:xfrm>
          <a:prstGeom prst="line">
            <a:avLst/>
          </a:prstGeom>
          <a:noFill/>
          <a:ln w="12700">
            <a:solidFill>
              <a:srgbClr val="8CA3C7"/>
            </a:solidFill>
            <a:prstDash val="dash"/>
          </a:ln>
        </p:spPr>
      </p:sp>
      <p:sp>
        <p:nvSpPr>
          <p:cNvPr id="23" name="Shape 18"/>
          <p:cNvSpPr/>
          <p:nvPr/>
        </p:nvSpPr>
        <p:spPr>
          <a:xfrm>
            <a:off x="10182366" y="4414754"/>
            <a:ext cx="621792" cy="621792"/>
          </a:xfrm>
          <a:prstGeom prst="ellipse">
            <a:avLst/>
          </a:prstGeom>
          <a:solidFill>
            <a:srgbClr val="12284B"/>
          </a:solidFill>
          <a:ln w="12700">
            <a:solidFill>
              <a:srgbClr val="12284B"/>
            </a:solidFill>
            <a:prstDash val="solid"/>
          </a:ln>
        </p:spPr>
      </p:sp>
      <p:pic>
        <p:nvPicPr>
          <p:cNvPr id="24" name="Image 2" descr="C:\Users\Trey\AppData\Local\Temp\claude\c--Projects-astral-project-src-pages-theknowledgebase\594bbb08-08fe-467c-99d2-4fe53cb86141\scratchpad\brief14n\icons\usersecret_gold.png">    </p:cNvPr>
          <p:cNvPicPr>
            <a:picLocks noChangeAspect="1"/>
          </p:cNvPicPr>
          <p:nvPr/>
        </p:nvPicPr>
        <p:blipFill>
          <a:blip r:embed="rId3"/>
          <a:stretch>
            <a:fillRect/>
          </a:stretch>
        </p:blipFill>
        <p:spPr>
          <a:xfrm>
            <a:off x="10325378" y="4557766"/>
            <a:ext cx="335768" cy="335768"/>
          </a:xfrm>
          <a:prstGeom prst="rect">
            <a:avLst/>
          </a:prstGeom>
        </p:spPr>
      </p:pic>
      <p:sp>
        <p:nvSpPr>
          <p:cNvPr id="25" name="Shape 19"/>
          <p:cNvSpPr/>
          <p:nvPr/>
        </p:nvSpPr>
        <p:spPr>
          <a:xfrm flipH="1">
            <a:off x="8343378" y="3246120"/>
            <a:ext cx="1074942" cy="1479530"/>
          </a:xfrm>
          <a:prstGeom prst="line">
            <a:avLst/>
          </a:prstGeom>
          <a:noFill/>
          <a:ln w="12700">
            <a:solidFill>
              <a:srgbClr val="8CA3C7"/>
            </a:solidFill>
            <a:prstDash val="dash"/>
          </a:ln>
        </p:spPr>
      </p:sp>
      <p:sp>
        <p:nvSpPr>
          <p:cNvPr id="26" name="Shape 20"/>
          <p:cNvSpPr/>
          <p:nvPr/>
        </p:nvSpPr>
        <p:spPr>
          <a:xfrm>
            <a:off x="8032482" y="4414754"/>
            <a:ext cx="621792" cy="621792"/>
          </a:xfrm>
          <a:prstGeom prst="ellipse">
            <a:avLst/>
          </a:prstGeom>
          <a:solidFill>
            <a:srgbClr val="12284B"/>
          </a:solidFill>
          <a:ln w="12700">
            <a:solidFill>
              <a:srgbClr val="12284B"/>
            </a:solidFill>
            <a:prstDash val="solid"/>
          </a:ln>
        </p:spPr>
      </p:sp>
      <p:pic>
        <p:nvPicPr>
          <p:cNvPr id="27" name="Image 3" descr="C:\Users\Trey\AppData\Local\Temp\claude\c--Projects-astral-project-src-pages-theknowledgebase\594bbb08-08fe-467c-99d2-4fe53cb86141\scratchpad\brief14n\icons\wave_gold.png">    </p:cNvPr>
          <p:cNvPicPr>
            <a:picLocks noChangeAspect="1"/>
          </p:cNvPicPr>
          <p:nvPr/>
        </p:nvPicPr>
        <p:blipFill>
          <a:blip r:embed="rId4"/>
          <a:stretch>
            <a:fillRect/>
          </a:stretch>
        </p:blipFill>
        <p:spPr>
          <a:xfrm>
            <a:off x="8175494" y="4557766"/>
            <a:ext cx="335768" cy="335768"/>
          </a:xfrm>
          <a:prstGeom prst="rect">
            <a:avLst/>
          </a:prstGeom>
        </p:spPr>
      </p:pic>
      <p:sp>
        <p:nvSpPr>
          <p:cNvPr id="28" name="Shape 21"/>
          <p:cNvSpPr/>
          <p:nvPr/>
        </p:nvSpPr>
        <p:spPr>
          <a:xfrm>
            <a:off x="7679028" y="2680990"/>
            <a:ext cx="1739292" cy="565130"/>
          </a:xfrm>
          <a:prstGeom prst="line">
            <a:avLst/>
          </a:prstGeom>
          <a:noFill/>
          <a:ln w="12700">
            <a:solidFill>
              <a:srgbClr val="8CA3C7"/>
            </a:solidFill>
            <a:prstDash val="dash"/>
          </a:ln>
        </p:spPr>
      </p:sp>
      <p:sp>
        <p:nvSpPr>
          <p:cNvPr id="29" name="Shape 22"/>
          <p:cNvSpPr/>
          <p:nvPr/>
        </p:nvSpPr>
        <p:spPr>
          <a:xfrm>
            <a:off x="7368132" y="2370094"/>
            <a:ext cx="621792" cy="621792"/>
          </a:xfrm>
          <a:prstGeom prst="ellipse">
            <a:avLst/>
          </a:prstGeom>
          <a:solidFill>
            <a:srgbClr val="12284B"/>
          </a:solidFill>
          <a:ln w="12700">
            <a:solidFill>
              <a:srgbClr val="12284B"/>
            </a:solidFill>
            <a:prstDash val="solid"/>
          </a:ln>
        </p:spPr>
      </p:sp>
      <p:pic>
        <p:nvPicPr>
          <p:cNvPr id="30" name="Image 4" descr="C:\Users\Trey\AppData\Local\Temp\claude\c--Projects-astral-project-src-pages-theknowledgebase\594bbb08-08fe-467c-99d2-4fe53cb86141\scratchpad\brief14n\icons\globe_gold.png">    </p:cNvPr>
          <p:cNvPicPr>
            <a:picLocks noChangeAspect="1"/>
          </p:cNvPicPr>
          <p:nvPr/>
        </p:nvPicPr>
        <p:blipFill>
          <a:blip r:embed="rId5"/>
          <a:stretch>
            <a:fillRect/>
          </a:stretch>
        </p:blipFill>
        <p:spPr>
          <a:xfrm>
            <a:off x="7511144" y="2513106"/>
            <a:ext cx="335768" cy="335768"/>
          </a:xfrm>
          <a:prstGeom prst="rect">
            <a:avLst/>
          </a:prstGeom>
        </p:spPr>
      </p:pic>
      <p:sp>
        <p:nvSpPr>
          <p:cNvPr id="31" name="Shape 23"/>
          <p:cNvSpPr/>
          <p:nvPr/>
        </p:nvSpPr>
        <p:spPr>
          <a:xfrm>
            <a:off x="8915400" y="2743200"/>
            <a:ext cx="1005840" cy="1005840"/>
          </a:xfrm>
          <a:prstGeom prst="ellipse">
            <a:avLst/>
          </a:prstGeom>
          <a:solidFill>
            <a:srgbClr val="FFC72C"/>
          </a:solidFill>
          <a:ln w="12700">
            <a:solidFill>
              <a:srgbClr val="FFC72C"/>
            </a:solidFill>
            <a:prstDash val="solid"/>
          </a:ln>
        </p:spPr>
      </p:sp>
      <p:pic>
        <p:nvPicPr>
          <p:cNvPr id="32" name="Image 5" descr="C:\Users\Trey\AppData\Local\Temp\claude\c--Projects-astral-project-src-pages-theknowledgebase\594bbb08-08fe-467c-99d2-4fe53cb86141\scratchpad\brief14n\icons\shield_gold.png">    </p:cNvPr>
          <p:cNvPicPr>
            <a:picLocks noChangeAspect="1"/>
          </p:cNvPicPr>
          <p:nvPr/>
        </p:nvPicPr>
        <p:blipFill>
          <a:blip r:embed="rId6"/>
          <a:stretch>
            <a:fillRect/>
          </a:stretch>
        </p:blipFill>
        <p:spPr>
          <a:xfrm>
            <a:off x="9144000" y="2971800"/>
            <a:ext cx="548640" cy="548640"/>
          </a:xfrm>
          <a:prstGeom prst="rect">
            <a:avLst/>
          </a:prstGeom>
        </p:spPr>
      </p:pic>
      <p:sp>
        <p:nvSpPr>
          <p:cNvPr id="33" name="Text 24"/>
          <p:cNvSpPr txBox="1"/>
          <p:nvPr/>
        </p:nvSpPr>
        <p:spPr>
          <a:xfrm>
            <a:off x="8503920" y="3840480"/>
            <a:ext cx="1828800" cy="457200"/>
          </a:xfrm>
          <a:prstGeom prst="rect">
            <a:avLst/>
          </a:prstGeom>
          <a:noFill/>
          <a:ln/>
        </p:spPr>
        <p:txBody>
          <a:bodyPr wrap="square" lIns="0" tIns="0" rIns="0" bIns="0" rtlCol="0" anchor="t"/>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FUSED PICTURE</a:t>
            </a:r>
            <a:endParaRPr lang="en-US" sz="1100" dirty="0"/>
          </a:p>
        </p:txBody>
      </p:sp>
      <p:sp>
        <p:nvSpPr>
          <p:cNvPr id="34" name="Text 25"/>
          <p:cNvSpPr txBox="1"/>
          <p:nvPr/>
        </p:nvSpPr>
        <p:spPr>
          <a:xfrm>
            <a:off x="11155680" y="6400800"/>
            <a:ext cx="731520" cy="274320"/>
          </a:xfrm>
          <a:prstGeom prst="rect">
            <a:avLst/>
          </a:prstGeom>
          <a:noFill/>
          <a:ln/>
        </p:spPr>
        <p:txBody>
          <a:bodyPr wrap="square" lIns="0" tIns="0" rIns="0" bIns="0" rtlCol="0" anchor="t"/>
          <a:lstStyle/>
          <a:p>
            <a:pPr algn="r" indent="0" marL="0">
              <a:buNone/>
            </a:pPr>
            <a:r>
              <a:rPr lang="en-US" sz="900" dirty="0">
                <a:solidFill>
                  <a:srgbClr val="8CA3C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84B"/>
        </a:solidFill>
      </p:bgPr>
    </p:bg>
    <p:spTree>
      <p:nvGrpSpPr>
        <p:cNvPr id="1" name=""/>
        <p:cNvGrpSpPr/>
        <p:nvPr/>
      </p:nvGrpSpPr>
      <p:grpSpPr>
        <a:xfrm>
          <a:off x="0" y="0"/>
          <a:ext cx="0" cy="0"/>
          <a:chOff x="0" y="0"/>
          <a:chExt cx="0" cy="0"/>
        </a:xfrm>
      </p:grpSpPr>
      <p:sp>
        <p:nvSpPr>
          <p:cNvPr id="3" name="Text 0"/>
          <p:cNvSpPr txBox="1"/>
          <p:nvPr/>
        </p:nvSpPr>
        <p:spPr>
          <a:xfrm>
            <a:off x="548640" y="365760"/>
            <a:ext cx="8229600" cy="320040"/>
          </a:xfrm>
          <a:prstGeom prst="rect">
            <a:avLst/>
          </a:prstGeom>
          <a:noFill/>
          <a:ln/>
        </p:spPr>
        <p:txBody>
          <a:bodyPr wrap="square" lIns="0" tIns="0" rIns="0" bIns="0" rtlCol="0" anchor="ctr"/>
          <a:lstStyle/>
          <a:p>
            <a:pPr indent="0" marL="0">
              <a:buNone/>
            </a:pPr>
            <a:r>
              <a:rPr lang="en-US" sz="1300" b="1" spc="300" kern="0" dirty="0">
                <a:solidFill>
                  <a:srgbClr val="FFC72C"/>
                </a:solidFill>
                <a:latin typeface="Calibri" pitchFamily="34" charset="0"/>
                <a:ea typeface="Calibri" pitchFamily="34" charset="-122"/>
                <a:cs typeface="Calibri" pitchFamily="34" charset="-120"/>
              </a:rPr>
              <a:t>ON THE JOB</a:t>
            </a:r>
            <a:endParaRPr lang="en-US" sz="1300" dirty="0"/>
          </a:p>
        </p:txBody>
      </p:sp>
      <p:sp>
        <p:nvSpPr>
          <p:cNvPr id="4"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day in the life</a:t>
            </a:r>
            <a:endParaRPr lang="en-US" sz="3200" dirty="0"/>
          </a:p>
        </p:txBody>
      </p:sp>
      <p:sp>
        <p:nvSpPr>
          <p:cNvPr id="5" name="Text 2"/>
          <p:cNvSpPr txBox="1"/>
          <p:nvPr/>
        </p:nvSpPr>
        <p:spPr>
          <a:xfrm>
            <a:off x="11155680" y="6400800"/>
            <a:ext cx="731520" cy="274320"/>
          </a:xfrm>
          <a:prstGeom prst="rect">
            <a:avLst/>
          </a:prstGeom>
          <a:noFill/>
          <a:ln/>
        </p:spPr>
        <p:txBody>
          <a:bodyPr wrap="square" lIns="0" tIns="0" rIns="0" bIns="0" rtlCol="0" anchor="ctr"/>
          <a:lstStyle/>
          <a:p>
            <a:pPr algn="r" indent="0" marL="0">
              <a:buNone/>
            </a:pPr>
            <a:r>
              <a:rPr lang="en-US" sz="900" dirty="0">
                <a:solidFill>
                  <a:srgbClr val="8CA3C7"/>
                </a:solidFill>
                <a:latin typeface="Calibri" pitchFamily="34" charset="0"/>
                <a:ea typeface="Calibri" pitchFamily="34" charset="-122"/>
                <a:cs typeface="Calibri" pitchFamily="34" charset="-120"/>
              </a:rPr>
              <a:t>11</a:t>
            </a:r>
            <a:endParaRPr lang="en-US" sz="900" dirty="0"/>
          </a:p>
        </p:txBody>
      </p:sp>
      <p:sp>
        <p:nvSpPr>
          <p:cNvPr id="6" name="Text 3"/>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400" i="1" dirty="0">
                <a:solidFill>
                  <a:srgbClr val="8CA3C7"/>
                </a:solidFill>
                <a:latin typeface="Calibri" pitchFamily="34" charset="0"/>
                <a:ea typeface="Calibri" pitchFamily="34" charset="-122"/>
                <a:cs typeface="Calibri" pitchFamily="34" charset="-120"/>
              </a:rPr>
              <a:t>At a flying wing, intelligence sits in the Operations Support Squadron under the Operations Group, and the day follows the flying schedule.</a:t>
            </a:r>
            <a:endParaRPr lang="en-US" sz="1400" dirty="0"/>
          </a:p>
        </p:txBody>
      </p:sp>
      <p:sp>
        <p:nvSpPr>
          <p:cNvPr id="7" name="Shape 4"/>
          <p:cNvSpPr/>
          <p:nvPr/>
        </p:nvSpPr>
        <p:spPr>
          <a:xfrm>
            <a:off x="548640" y="2148840"/>
            <a:ext cx="11064240" cy="896112"/>
          </a:xfrm>
          <a:prstGeom prst="roundRect">
            <a:avLst>
              <a:gd name="adj" fmla="val 4082"/>
            </a:avLst>
          </a:prstGeom>
          <a:solidFill>
            <a:srgbClr val="17325C"/>
          </a:solidFill>
          <a:ln w="12700">
            <a:solidFill>
              <a:srgbClr val="17325C"/>
            </a:solidFill>
            <a:prstDash val="solid"/>
          </a:ln>
        </p:spPr>
      </p:sp>
      <p:sp>
        <p:nvSpPr>
          <p:cNvPr id="8" name="Shape 5"/>
          <p:cNvSpPr/>
          <p:nvPr/>
        </p:nvSpPr>
        <p:spPr>
          <a:xfrm>
            <a:off x="777240" y="2304288"/>
            <a:ext cx="585216" cy="585216"/>
          </a:xfrm>
          <a:prstGeom prst="ellipse">
            <a:avLst/>
          </a:prstGeom>
          <a:solidFill>
            <a:srgbClr val="0B1B34"/>
          </a:solidFill>
          <a:ln w="12700">
            <a:solidFill>
              <a:srgbClr val="0B1B34"/>
            </a:solidFill>
            <a:prstDash val="solid"/>
          </a:ln>
        </p:spPr>
      </p:sp>
      <p:pic>
        <p:nvPicPr>
          <p:cNvPr id="9" name="Image 0" descr="C:\Users\Trey\AppData\Local\Temp\claude\c--Projects-astral-project-src-pages-theknowledgebase\594bbb08-08fe-467c-99d2-4fe53cb86141\scratchpad\brief14n\icons\clipboard_gold.png">    </p:cNvPr>
          <p:cNvPicPr>
            <a:picLocks noChangeAspect="1"/>
          </p:cNvPicPr>
          <p:nvPr/>
        </p:nvPicPr>
        <p:blipFill>
          <a:blip r:embed="rId1"/>
          <a:stretch>
            <a:fillRect/>
          </a:stretch>
        </p:blipFill>
        <p:spPr>
          <a:xfrm>
            <a:off x="911840" y="2438888"/>
            <a:ext cx="316017" cy="316017"/>
          </a:xfrm>
          <a:prstGeom prst="rect">
            <a:avLst/>
          </a:prstGeom>
        </p:spPr>
      </p:pic>
      <p:sp>
        <p:nvSpPr>
          <p:cNvPr id="10" name="Text 6"/>
          <p:cNvSpPr txBox="1"/>
          <p:nvPr/>
        </p:nvSpPr>
        <p:spPr>
          <a:xfrm>
            <a:off x="1600200" y="2148840"/>
            <a:ext cx="2834640" cy="89611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Pre-mission briefing</a:t>
            </a:r>
            <a:endParaRPr lang="en-US" sz="1600" dirty="0"/>
          </a:p>
        </p:txBody>
      </p:sp>
      <p:sp>
        <p:nvSpPr>
          <p:cNvPr id="11" name="Text 7"/>
          <p:cNvSpPr txBox="1"/>
          <p:nvPr/>
        </p:nvSpPr>
        <p:spPr>
          <a:xfrm>
            <a:off x="4572000" y="2148840"/>
            <a:ext cx="6812280" cy="896112"/>
          </a:xfrm>
          <a:prstGeom prst="rect">
            <a:avLst/>
          </a:prstGeom>
          <a:noFill/>
          <a:ln/>
        </p:spPr>
        <p:txBody>
          <a:bodyPr wrap="square" lIns="0" tIns="0" rIns="0" bIns="0" rtlCol="0" anchor="ctr"/>
          <a:lstStyle/>
          <a:p>
            <a:pPr indent="0" marL="0">
              <a:buNone/>
            </a:pPr>
            <a:r>
              <a:rPr lang="en-US" sz="1400" dirty="0">
                <a:solidFill>
                  <a:srgbClr val="DCE6F5"/>
                </a:solidFill>
                <a:latin typeface="Calibri" pitchFamily="34" charset="0"/>
                <a:ea typeface="Calibri" pitchFamily="34" charset="-122"/>
                <a:cs typeface="Calibri" pitchFamily="34" charset="-120"/>
              </a:rPr>
              <a:t>Walk aircrew through the current threat picture before they step to the jet.</a:t>
            </a:r>
            <a:endParaRPr lang="en-US" sz="1400" dirty="0"/>
          </a:p>
        </p:txBody>
      </p:sp>
      <p:sp>
        <p:nvSpPr>
          <p:cNvPr id="12" name="Shape 8"/>
          <p:cNvSpPr/>
          <p:nvPr/>
        </p:nvSpPr>
        <p:spPr>
          <a:xfrm>
            <a:off x="548640" y="3209544"/>
            <a:ext cx="11064240" cy="896112"/>
          </a:xfrm>
          <a:prstGeom prst="roundRect">
            <a:avLst>
              <a:gd name="adj" fmla="val 4082"/>
            </a:avLst>
          </a:prstGeom>
          <a:solidFill>
            <a:srgbClr val="17325C"/>
          </a:solidFill>
          <a:ln w="12700">
            <a:solidFill>
              <a:srgbClr val="17325C"/>
            </a:solidFill>
            <a:prstDash val="solid"/>
          </a:ln>
        </p:spPr>
      </p:sp>
      <p:sp>
        <p:nvSpPr>
          <p:cNvPr id="13" name="Shape 9"/>
          <p:cNvSpPr/>
          <p:nvPr/>
        </p:nvSpPr>
        <p:spPr>
          <a:xfrm>
            <a:off x="777240" y="3364992"/>
            <a:ext cx="585216" cy="585216"/>
          </a:xfrm>
          <a:prstGeom prst="ellipse">
            <a:avLst/>
          </a:prstGeom>
          <a:solidFill>
            <a:srgbClr val="0B1B34"/>
          </a:solidFill>
          <a:ln w="12700">
            <a:solidFill>
              <a:srgbClr val="0B1B34"/>
            </a:solidFill>
            <a:prstDash val="solid"/>
          </a:ln>
        </p:spPr>
      </p:sp>
      <p:pic>
        <p:nvPicPr>
          <p:cNvPr id="14" name="Image 1" descr="C:\Users\Trey\AppData\Local\Temp\claude\c--Projects-astral-project-src-pages-theknowledgebase\594bbb08-08fe-467c-99d2-4fe53cb86141\scratchpad\brief14n\icons\sitemap_gold.png">    </p:cNvPr>
          <p:cNvPicPr>
            <a:picLocks noChangeAspect="1"/>
          </p:cNvPicPr>
          <p:nvPr/>
        </p:nvPicPr>
        <p:blipFill>
          <a:blip r:embed="rId2"/>
          <a:stretch>
            <a:fillRect/>
          </a:stretch>
        </p:blipFill>
        <p:spPr>
          <a:xfrm>
            <a:off x="911840" y="3499592"/>
            <a:ext cx="316017" cy="316017"/>
          </a:xfrm>
          <a:prstGeom prst="rect">
            <a:avLst/>
          </a:prstGeom>
        </p:spPr>
      </p:pic>
      <p:sp>
        <p:nvSpPr>
          <p:cNvPr id="15" name="Text 10"/>
          <p:cNvSpPr txBox="1"/>
          <p:nvPr/>
        </p:nvSpPr>
        <p:spPr>
          <a:xfrm>
            <a:off x="1600200" y="3209544"/>
            <a:ext cx="2834640" cy="89611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All-source analysis</a:t>
            </a:r>
            <a:endParaRPr lang="en-US" sz="1600" dirty="0"/>
          </a:p>
        </p:txBody>
      </p:sp>
      <p:sp>
        <p:nvSpPr>
          <p:cNvPr id="16" name="Text 11"/>
          <p:cNvSpPr txBox="1"/>
          <p:nvPr/>
        </p:nvSpPr>
        <p:spPr>
          <a:xfrm>
            <a:off x="4572000" y="3209544"/>
            <a:ext cx="6812280" cy="896112"/>
          </a:xfrm>
          <a:prstGeom prst="rect">
            <a:avLst/>
          </a:prstGeom>
          <a:noFill/>
          <a:ln/>
        </p:spPr>
        <p:txBody>
          <a:bodyPr wrap="square" lIns="0" tIns="0" rIns="0" bIns="0" rtlCol="0" anchor="ctr"/>
          <a:lstStyle/>
          <a:p>
            <a:pPr indent="0" marL="0">
              <a:buNone/>
            </a:pPr>
            <a:r>
              <a:rPr lang="en-US" sz="1400" dirty="0">
                <a:solidFill>
                  <a:srgbClr val="DCE6F5"/>
                </a:solidFill>
                <a:latin typeface="Calibri" pitchFamily="34" charset="0"/>
                <a:ea typeface="Calibri" pitchFamily="34" charset="-122"/>
                <a:cs typeface="Calibri" pitchFamily="34" charset="-120"/>
              </a:rPr>
              <a:t>Fuse incoming reporting from across the disciplines into an updated assessment.</a:t>
            </a:r>
            <a:endParaRPr lang="en-US" sz="1400" dirty="0"/>
          </a:p>
        </p:txBody>
      </p:sp>
      <p:sp>
        <p:nvSpPr>
          <p:cNvPr id="17" name="Shape 12"/>
          <p:cNvSpPr/>
          <p:nvPr/>
        </p:nvSpPr>
        <p:spPr>
          <a:xfrm>
            <a:off x="548640" y="4270248"/>
            <a:ext cx="11064240" cy="896112"/>
          </a:xfrm>
          <a:prstGeom prst="roundRect">
            <a:avLst>
              <a:gd name="adj" fmla="val 4082"/>
            </a:avLst>
          </a:prstGeom>
          <a:solidFill>
            <a:srgbClr val="17325C"/>
          </a:solidFill>
          <a:ln w="12700">
            <a:solidFill>
              <a:srgbClr val="17325C"/>
            </a:solidFill>
            <a:prstDash val="solid"/>
          </a:ln>
        </p:spPr>
      </p:sp>
      <p:sp>
        <p:nvSpPr>
          <p:cNvPr id="18" name="Shape 13"/>
          <p:cNvSpPr/>
          <p:nvPr/>
        </p:nvSpPr>
        <p:spPr>
          <a:xfrm>
            <a:off x="777240" y="4425696"/>
            <a:ext cx="585216" cy="585216"/>
          </a:xfrm>
          <a:prstGeom prst="ellipse">
            <a:avLst/>
          </a:prstGeom>
          <a:solidFill>
            <a:srgbClr val="0B1B34"/>
          </a:solidFill>
          <a:ln w="12700">
            <a:solidFill>
              <a:srgbClr val="0B1B34"/>
            </a:solidFill>
            <a:prstDash val="solid"/>
          </a:ln>
        </p:spPr>
      </p:sp>
      <p:pic>
        <p:nvPicPr>
          <p:cNvPr id="19" name="Image 2" descr="C:\Users\Trey\AppData\Local\Temp\claude\c--Projects-astral-project-src-pages-theknowledgebase\594bbb08-08fe-467c-99d2-4fe53cb86141\scratchpad\brief14n\icons\users_gold.png">    </p:cNvPr>
          <p:cNvPicPr>
            <a:picLocks noChangeAspect="1"/>
          </p:cNvPicPr>
          <p:nvPr/>
        </p:nvPicPr>
        <p:blipFill>
          <a:blip r:embed="rId3"/>
          <a:stretch>
            <a:fillRect/>
          </a:stretch>
        </p:blipFill>
        <p:spPr>
          <a:xfrm>
            <a:off x="911840" y="4560296"/>
            <a:ext cx="316017" cy="316017"/>
          </a:xfrm>
          <a:prstGeom prst="rect">
            <a:avLst/>
          </a:prstGeom>
        </p:spPr>
      </p:pic>
      <p:sp>
        <p:nvSpPr>
          <p:cNvPr id="20" name="Text 14"/>
          <p:cNvSpPr txBox="1"/>
          <p:nvPr/>
        </p:nvSpPr>
        <p:spPr>
          <a:xfrm>
            <a:off x="1600200" y="4270248"/>
            <a:ext cx="2834640" cy="89611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Manage production</a:t>
            </a:r>
            <a:endParaRPr lang="en-US" sz="1600" dirty="0"/>
          </a:p>
        </p:txBody>
      </p:sp>
      <p:sp>
        <p:nvSpPr>
          <p:cNvPr id="21" name="Text 15"/>
          <p:cNvSpPr txBox="1"/>
          <p:nvPr/>
        </p:nvSpPr>
        <p:spPr>
          <a:xfrm>
            <a:off x="4572000" y="4270248"/>
            <a:ext cx="6812280" cy="896112"/>
          </a:xfrm>
          <a:prstGeom prst="rect">
            <a:avLst/>
          </a:prstGeom>
          <a:noFill/>
          <a:ln/>
        </p:spPr>
        <p:txBody>
          <a:bodyPr wrap="square" lIns="0" tIns="0" rIns="0" bIns="0" rtlCol="0" anchor="ctr"/>
          <a:lstStyle/>
          <a:p>
            <a:pPr indent="0" marL="0">
              <a:buNone/>
            </a:pPr>
            <a:r>
              <a:rPr lang="en-US" sz="1400" dirty="0">
                <a:solidFill>
                  <a:srgbClr val="DCE6F5"/>
                </a:solidFill>
                <a:latin typeface="Calibri" pitchFamily="34" charset="0"/>
                <a:ea typeface="Calibri" pitchFamily="34" charset="-122"/>
                <a:cs typeface="Calibri" pitchFamily="34" charset="-120"/>
              </a:rPr>
              <a:t>Direct the analysts who build the unit’s intelligence products.</a:t>
            </a:r>
            <a:endParaRPr lang="en-US" sz="1400" dirty="0"/>
          </a:p>
        </p:txBody>
      </p:sp>
      <p:sp>
        <p:nvSpPr>
          <p:cNvPr id="22" name="Shape 16"/>
          <p:cNvSpPr/>
          <p:nvPr/>
        </p:nvSpPr>
        <p:spPr>
          <a:xfrm>
            <a:off x="548640" y="5330952"/>
            <a:ext cx="11064240" cy="896112"/>
          </a:xfrm>
          <a:prstGeom prst="roundRect">
            <a:avLst>
              <a:gd name="adj" fmla="val 4082"/>
            </a:avLst>
          </a:prstGeom>
          <a:solidFill>
            <a:srgbClr val="17325C"/>
          </a:solidFill>
          <a:ln w="12700">
            <a:solidFill>
              <a:srgbClr val="17325C"/>
            </a:solidFill>
            <a:prstDash val="solid"/>
          </a:ln>
        </p:spPr>
      </p:sp>
      <p:sp>
        <p:nvSpPr>
          <p:cNvPr id="23" name="Shape 17"/>
          <p:cNvSpPr/>
          <p:nvPr/>
        </p:nvSpPr>
        <p:spPr>
          <a:xfrm>
            <a:off x="777240" y="5486400"/>
            <a:ext cx="585216" cy="585216"/>
          </a:xfrm>
          <a:prstGeom prst="ellipse">
            <a:avLst/>
          </a:prstGeom>
          <a:solidFill>
            <a:srgbClr val="0B1B34"/>
          </a:solidFill>
          <a:ln w="12700">
            <a:solidFill>
              <a:srgbClr val="0B1B34"/>
            </a:solidFill>
            <a:prstDash val="solid"/>
          </a:ln>
        </p:spPr>
      </p:sp>
      <p:pic>
        <p:nvPicPr>
          <p:cNvPr id="24" name="Image 3" descr="C:\Users\Trey\AppData\Local\Temp\claude\c--Projects-astral-project-src-pages-theknowledgebase\594bbb08-08fe-467c-99d2-4fe53cb86141\scratchpad\brief14n\icons\shield_gold.png">    </p:cNvPr>
          <p:cNvPicPr>
            <a:picLocks noChangeAspect="1"/>
          </p:cNvPicPr>
          <p:nvPr/>
        </p:nvPicPr>
        <p:blipFill>
          <a:blip r:embed="rId4"/>
          <a:stretch>
            <a:fillRect/>
          </a:stretch>
        </p:blipFill>
        <p:spPr>
          <a:xfrm>
            <a:off x="911840" y="5621000"/>
            <a:ext cx="316017" cy="316017"/>
          </a:xfrm>
          <a:prstGeom prst="rect">
            <a:avLst/>
          </a:prstGeom>
        </p:spPr>
      </p:pic>
      <p:sp>
        <p:nvSpPr>
          <p:cNvPr id="25" name="Text 18"/>
          <p:cNvSpPr txBox="1"/>
          <p:nvPr/>
        </p:nvSpPr>
        <p:spPr>
          <a:xfrm>
            <a:off x="1600200" y="5330952"/>
            <a:ext cx="2834640" cy="89611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Post-mission debrief</a:t>
            </a:r>
            <a:endParaRPr lang="en-US" sz="1600" dirty="0"/>
          </a:p>
        </p:txBody>
      </p:sp>
      <p:sp>
        <p:nvSpPr>
          <p:cNvPr id="26" name="Text 19"/>
          <p:cNvSpPr txBox="1"/>
          <p:nvPr/>
        </p:nvSpPr>
        <p:spPr>
          <a:xfrm>
            <a:off x="4572000" y="5330952"/>
            <a:ext cx="6812280" cy="896112"/>
          </a:xfrm>
          <a:prstGeom prst="rect">
            <a:avLst/>
          </a:prstGeom>
          <a:noFill/>
          <a:ln/>
        </p:spPr>
        <p:txBody>
          <a:bodyPr wrap="square" lIns="0" tIns="0" rIns="0" bIns="0" rtlCol="0" anchor="ctr"/>
          <a:lstStyle/>
          <a:p>
            <a:pPr indent="0" marL="0">
              <a:buNone/>
            </a:pPr>
            <a:r>
              <a:rPr lang="en-US" sz="1400" dirty="0">
                <a:solidFill>
                  <a:srgbClr val="DCE6F5"/>
                </a:solidFill>
                <a:latin typeface="Calibri" pitchFamily="34" charset="0"/>
                <a:ea typeface="Calibri" pitchFamily="34" charset="-122"/>
                <a:cs typeface="Calibri" pitchFamily="34" charset="-120"/>
              </a:rPr>
              <a:t>Capture what aircrew saw and feed it back into the picture.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8229600" cy="320040"/>
          </a:xfrm>
          <a:prstGeom prst="rect">
            <a:avLst/>
          </a:prstGeom>
          <a:noFill/>
          <a:ln/>
        </p:spPr>
        <p:txBody>
          <a:bodyPr wrap="square" lIns="0" tIns="0" rIns="0" bIns="0" rtlCol="0" anchor="ctr"/>
          <a:lstStyle/>
          <a:p>
            <a:pPr indent="0" marL="0">
              <a:buNone/>
            </a:pPr>
            <a:r>
              <a:rPr lang="en-US" sz="1300" b="1" spc="300" kern="0" dirty="0">
                <a:solidFill>
                  <a:srgbClr val="FFC72C"/>
                </a:solidFill>
                <a:latin typeface="Calibri" pitchFamily="34" charset="0"/>
                <a:ea typeface="Calibri" pitchFamily="34" charset="-122"/>
                <a:cs typeface="Calibri" pitchFamily="34" charset="-120"/>
              </a:rPr>
              <a:t>RECAP</a:t>
            </a:r>
            <a:endParaRPr lang="en-US" sz="1300" dirty="0"/>
          </a:p>
        </p:txBody>
      </p:sp>
      <p:sp>
        <p:nvSpPr>
          <p:cNvPr id="4"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200" b="1" dirty="0">
                <a:solidFill>
                  <a:srgbClr val="12284B"/>
                </a:solidFill>
                <a:latin typeface="Cambria" pitchFamily="34" charset="0"/>
                <a:ea typeface="Cambria" pitchFamily="34" charset="-122"/>
                <a:cs typeface="Cambria" pitchFamily="34" charset="-120"/>
              </a:rPr>
              <a:t>What we covered</a:t>
            </a:r>
            <a:endParaRPr lang="en-US" sz="3200" dirty="0"/>
          </a:p>
        </p:txBody>
      </p:sp>
      <p:sp>
        <p:nvSpPr>
          <p:cNvPr id="5" name="Text 2"/>
          <p:cNvSpPr txBox="1"/>
          <p:nvPr/>
        </p:nvSpPr>
        <p:spPr>
          <a:xfrm>
            <a:off x="11155680" y="6400800"/>
            <a:ext cx="731520" cy="274320"/>
          </a:xfrm>
          <a:prstGeom prst="rect">
            <a:avLst/>
          </a:prstGeom>
          <a:noFill/>
          <a:ln/>
        </p:spPr>
        <p:txBody>
          <a:bodyPr wrap="square" lIns="0" tIns="0" rIns="0" bIns="0" rtlCol="0" anchor="ctr"/>
          <a:lstStyle/>
          <a:p>
            <a:pPr algn="r" indent="0" marL="0">
              <a:buNone/>
            </a:pPr>
            <a:r>
              <a:rPr lang="en-US" sz="900" dirty="0">
                <a:solidFill>
                  <a:srgbClr val="5C6B82"/>
                </a:solidFill>
                <a:latin typeface="Calibri" pitchFamily="34" charset="0"/>
                <a:ea typeface="Calibri" pitchFamily="34" charset="-122"/>
                <a:cs typeface="Calibri" pitchFamily="34" charset="-120"/>
              </a:rPr>
              <a:t>12</a:t>
            </a:r>
            <a:endParaRPr lang="en-US" sz="900" dirty="0"/>
          </a:p>
        </p:txBody>
      </p:sp>
      <p:sp>
        <p:nvSpPr>
          <p:cNvPr id="6" name="Shape 3"/>
          <p:cNvSpPr/>
          <p:nvPr/>
        </p:nvSpPr>
        <p:spPr>
          <a:xfrm>
            <a:off x="859536" y="1956816"/>
            <a:ext cx="914" cy="4114800"/>
          </a:xfrm>
          <a:prstGeom prst="line">
            <a:avLst/>
          </a:prstGeom>
          <a:noFill/>
          <a:ln w="25400">
            <a:solidFill>
              <a:srgbClr val="12284B"/>
            </a:solidFill>
            <a:prstDash val="dash"/>
          </a:ln>
        </p:spPr>
      </p:sp>
      <p:sp>
        <p:nvSpPr>
          <p:cNvPr id="7" name="Shape 4"/>
          <p:cNvSpPr/>
          <p:nvPr/>
        </p:nvSpPr>
        <p:spPr>
          <a:xfrm>
            <a:off x="1417320" y="1600200"/>
            <a:ext cx="10195560" cy="713232"/>
          </a:xfrm>
          <a:prstGeom prst="roundRect">
            <a:avLst>
              <a:gd name="adj" fmla="val 7692"/>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8" name="Shape 5"/>
          <p:cNvSpPr/>
          <p:nvPr/>
        </p:nvSpPr>
        <p:spPr>
          <a:xfrm>
            <a:off x="566928" y="1664208"/>
            <a:ext cx="585216" cy="585216"/>
          </a:xfrm>
          <a:prstGeom prst="ellipse">
            <a:avLst/>
          </a:prstGeom>
          <a:solidFill>
            <a:srgbClr val="12284B"/>
          </a:solidFill>
          <a:ln w="12700">
            <a:solidFill>
              <a:srgbClr val="12284B"/>
            </a:solidFill>
            <a:prstDash val="solid"/>
          </a:ln>
        </p:spPr>
      </p:sp>
      <p:pic>
        <p:nvPicPr>
          <p:cNvPr id="9" name="Image 0" descr="C:\Users\Trey\AppData\Local\Temp\claude\c--Projects-astral-project-src-pages-theknowledgebase\594bbb08-08fe-467c-99d2-4fe53cb86141\scratchpad\brief14n\icons\compass_gold.png">    </p:cNvPr>
          <p:cNvPicPr>
            <a:picLocks noChangeAspect="1"/>
          </p:cNvPicPr>
          <p:nvPr/>
        </p:nvPicPr>
        <p:blipFill>
          <a:blip r:embed="rId1"/>
          <a:stretch>
            <a:fillRect/>
          </a:stretch>
        </p:blipFill>
        <p:spPr>
          <a:xfrm>
            <a:off x="701528" y="1798808"/>
            <a:ext cx="316017" cy="316017"/>
          </a:xfrm>
          <a:prstGeom prst="rect">
            <a:avLst/>
          </a:prstGeom>
        </p:spPr>
      </p:pic>
      <p:sp>
        <p:nvSpPr>
          <p:cNvPr id="10" name="Shape 6"/>
          <p:cNvSpPr/>
          <p:nvPr/>
        </p:nvSpPr>
        <p:spPr>
          <a:xfrm>
            <a:off x="1005840" y="1618488"/>
            <a:ext cx="237744" cy="237744"/>
          </a:xfrm>
          <a:prstGeom prst="ellipse">
            <a:avLst/>
          </a:prstGeom>
          <a:solidFill>
            <a:srgbClr val="FFC72C"/>
          </a:solidFill>
          <a:ln w="12700">
            <a:solidFill>
              <a:srgbClr val="FFFFFF"/>
            </a:solidFill>
            <a:prstDash val="solid"/>
          </a:ln>
        </p:spPr>
      </p:sp>
      <p:sp>
        <p:nvSpPr>
          <p:cNvPr id="11" name="Text 7"/>
          <p:cNvSpPr txBox="1"/>
          <p:nvPr/>
        </p:nvSpPr>
        <p:spPr>
          <a:xfrm>
            <a:off x="1005840" y="1618488"/>
            <a:ext cx="237744" cy="237744"/>
          </a:xfrm>
          <a:prstGeom prst="rect">
            <a:avLst/>
          </a:prstGeom>
          <a:noFill/>
          <a:ln/>
        </p:spPr>
        <p:txBody>
          <a:bodyPr wrap="square" lIns="0" tIns="0" rIns="0" bIns="0" rtlCol="0" anchor="ctr"/>
          <a:lstStyle/>
          <a:p>
            <a:pPr algn="ctr" indent="0" marL="0">
              <a:buNone/>
            </a:pPr>
            <a:r>
              <a:rPr lang="en-US" sz="900" b="1" dirty="0">
                <a:solidFill>
                  <a:srgbClr val="0B1B34"/>
                </a:solidFill>
                <a:latin typeface="Calibri" pitchFamily="34" charset="0"/>
                <a:ea typeface="Calibri" pitchFamily="34" charset="-122"/>
                <a:cs typeface="Calibri" pitchFamily="34" charset="-120"/>
              </a:rPr>
              <a:t>1</a:t>
            </a:r>
            <a:endParaRPr lang="en-US" sz="900" dirty="0"/>
          </a:p>
        </p:txBody>
      </p:sp>
      <p:sp>
        <p:nvSpPr>
          <p:cNvPr id="12" name="Text 8"/>
          <p:cNvSpPr txBox="1"/>
          <p:nvPr/>
        </p:nvSpPr>
        <p:spPr>
          <a:xfrm>
            <a:off x="1645920" y="1600200"/>
            <a:ext cx="2651760" cy="713232"/>
          </a:xfrm>
          <a:prstGeom prst="rect">
            <a:avLst/>
          </a:prstGeom>
          <a:noFill/>
          <a:ln/>
        </p:spPr>
        <p:txBody>
          <a:bodyPr wrap="square" lIns="0" tIns="0" rIns="0" bIns="0" rtlCol="0" anchor="ctr"/>
          <a:lstStyle/>
          <a:p>
            <a:pPr indent="0" marL="0">
              <a:buNone/>
            </a:pPr>
            <a:r>
              <a:rPr lang="en-US" sz="1600" b="1" dirty="0">
                <a:solidFill>
                  <a:srgbClr val="12284B"/>
                </a:solidFill>
                <a:latin typeface="Calibri" pitchFamily="34" charset="0"/>
                <a:ea typeface="Calibri" pitchFamily="34" charset="-122"/>
                <a:cs typeface="Calibri" pitchFamily="34" charset="-120"/>
              </a:rPr>
              <a:t>Main Role</a:t>
            </a:r>
            <a:endParaRPr lang="en-US" sz="1600" dirty="0"/>
          </a:p>
        </p:txBody>
      </p:sp>
      <p:sp>
        <p:nvSpPr>
          <p:cNvPr id="13" name="Text 9"/>
          <p:cNvSpPr txBox="1"/>
          <p:nvPr/>
        </p:nvSpPr>
        <p:spPr>
          <a:xfrm>
            <a:off x="4389120" y="1600200"/>
            <a:ext cx="7040880" cy="713232"/>
          </a:xfrm>
          <a:prstGeom prst="rect">
            <a:avLst/>
          </a:prstGeom>
          <a:noFill/>
          <a:ln/>
        </p:spPr>
        <p:txBody>
          <a:bodyPr wrap="square" lIns="0" tIns="0" rIns="0" bIns="0" rtlCol="0" anchor="ctr"/>
          <a:lstStyle/>
          <a:p>
            <a:pPr indent="0" marL="0">
              <a:buNone/>
            </a:pPr>
            <a:r>
              <a:rPr lang="en-US" sz="1350" dirty="0">
                <a:solidFill>
                  <a:srgbClr val="1B2430"/>
                </a:solidFill>
                <a:latin typeface="Calibri" pitchFamily="34" charset="0"/>
                <a:ea typeface="Calibri" pitchFamily="34" charset="-122"/>
                <a:cs typeface="Calibri" pitchFamily="34" charset="-120"/>
              </a:rPr>
              <a:t>Intelligence turns a commander’s questions into a picture they can act on.</a:t>
            </a:r>
            <a:endParaRPr lang="en-US" sz="1350" dirty="0"/>
          </a:p>
        </p:txBody>
      </p:sp>
      <p:sp>
        <p:nvSpPr>
          <p:cNvPr id="14" name="Shape 10"/>
          <p:cNvSpPr/>
          <p:nvPr/>
        </p:nvSpPr>
        <p:spPr>
          <a:xfrm>
            <a:off x="1417320" y="2423160"/>
            <a:ext cx="10195560" cy="713232"/>
          </a:xfrm>
          <a:prstGeom prst="roundRect">
            <a:avLst>
              <a:gd name="adj" fmla="val 7692"/>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15" name="Shape 11"/>
          <p:cNvSpPr/>
          <p:nvPr/>
        </p:nvSpPr>
        <p:spPr>
          <a:xfrm>
            <a:off x="566928" y="2487168"/>
            <a:ext cx="585216" cy="585216"/>
          </a:xfrm>
          <a:prstGeom prst="ellipse">
            <a:avLst/>
          </a:prstGeom>
          <a:solidFill>
            <a:srgbClr val="12284B"/>
          </a:solidFill>
          <a:ln w="12700">
            <a:solidFill>
              <a:srgbClr val="12284B"/>
            </a:solidFill>
            <a:prstDash val="solid"/>
          </a:ln>
        </p:spPr>
      </p:sp>
      <p:pic>
        <p:nvPicPr>
          <p:cNvPr id="16" name="Image 1" descr="C:\Users\Trey\AppData\Local\Temp\claude\c--Projects-astral-project-src-pages-theknowledgebase\594bbb08-08fe-467c-99d2-4fe53cb86141\scratchpad\brief14n\icons\globe_gold.png">    </p:cNvPr>
          <p:cNvPicPr>
            <a:picLocks noChangeAspect="1"/>
          </p:cNvPicPr>
          <p:nvPr/>
        </p:nvPicPr>
        <p:blipFill>
          <a:blip r:embed="rId2"/>
          <a:stretch>
            <a:fillRect/>
          </a:stretch>
        </p:blipFill>
        <p:spPr>
          <a:xfrm>
            <a:off x="701528" y="2621768"/>
            <a:ext cx="316017" cy="316017"/>
          </a:xfrm>
          <a:prstGeom prst="rect">
            <a:avLst/>
          </a:prstGeom>
        </p:spPr>
      </p:pic>
      <p:sp>
        <p:nvSpPr>
          <p:cNvPr id="17" name="Shape 12"/>
          <p:cNvSpPr/>
          <p:nvPr/>
        </p:nvSpPr>
        <p:spPr>
          <a:xfrm>
            <a:off x="1005840" y="2441448"/>
            <a:ext cx="237744" cy="237744"/>
          </a:xfrm>
          <a:prstGeom prst="ellipse">
            <a:avLst/>
          </a:prstGeom>
          <a:solidFill>
            <a:srgbClr val="FFC72C"/>
          </a:solidFill>
          <a:ln w="12700">
            <a:solidFill>
              <a:srgbClr val="FFFFFF"/>
            </a:solidFill>
            <a:prstDash val="solid"/>
          </a:ln>
        </p:spPr>
      </p:sp>
      <p:sp>
        <p:nvSpPr>
          <p:cNvPr id="18" name="Text 13"/>
          <p:cNvSpPr txBox="1"/>
          <p:nvPr/>
        </p:nvSpPr>
        <p:spPr>
          <a:xfrm>
            <a:off x="1005840" y="2441448"/>
            <a:ext cx="237744" cy="237744"/>
          </a:xfrm>
          <a:prstGeom prst="rect">
            <a:avLst/>
          </a:prstGeom>
          <a:noFill/>
          <a:ln/>
        </p:spPr>
        <p:txBody>
          <a:bodyPr wrap="square" lIns="0" tIns="0" rIns="0" bIns="0" rtlCol="0" anchor="ctr"/>
          <a:lstStyle/>
          <a:p>
            <a:pPr algn="ctr" indent="0" marL="0">
              <a:buNone/>
            </a:pPr>
            <a:r>
              <a:rPr lang="en-US" sz="900" b="1" dirty="0">
                <a:solidFill>
                  <a:srgbClr val="0B1B34"/>
                </a:solidFill>
                <a:latin typeface="Calibri" pitchFamily="34" charset="0"/>
                <a:ea typeface="Calibri" pitchFamily="34" charset="-122"/>
                <a:cs typeface="Calibri" pitchFamily="34" charset="-120"/>
              </a:rPr>
              <a:t>2</a:t>
            </a:r>
            <a:endParaRPr lang="en-US" sz="900" dirty="0"/>
          </a:p>
        </p:txBody>
      </p:sp>
      <p:sp>
        <p:nvSpPr>
          <p:cNvPr id="19" name="Text 14"/>
          <p:cNvSpPr txBox="1"/>
          <p:nvPr/>
        </p:nvSpPr>
        <p:spPr>
          <a:xfrm>
            <a:off x="1645920" y="2423160"/>
            <a:ext cx="2651760" cy="713232"/>
          </a:xfrm>
          <a:prstGeom prst="rect">
            <a:avLst/>
          </a:prstGeom>
          <a:noFill/>
          <a:ln/>
        </p:spPr>
        <p:txBody>
          <a:bodyPr wrap="square" lIns="0" tIns="0" rIns="0" bIns="0" rtlCol="0" anchor="ctr"/>
          <a:lstStyle/>
          <a:p>
            <a:pPr indent="0" marL="0">
              <a:buNone/>
            </a:pPr>
            <a:r>
              <a:rPr lang="en-US" sz="1600" b="1" dirty="0">
                <a:solidFill>
                  <a:srgbClr val="12284B"/>
                </a:solidFill>
                <a:latin typeface="Calibri" pitchFamily="34" charset="0"/>
                <a:ea typeface="Calibri" pitchFamily="34" charset="-122"/>
                <a:cs typeface="Calibri" pitchFamily="34" charset="-120"/>
              </a:rPr>
              <a:t>Specialization</a:t>
            </a:r>
            <a:endParaRPr lang="en-US" sz="1600" dirty="0"/>
          </a:p>
        </p:txBody>
      </p:sp>
      <p:sp>
        <p:nvSpPr>
          <p:cNvPr id="20" name="Text 15"/>
          <p:cNvSpPr txBox="1"/>
          <p:nvPr/>
        </p:nvSpPr>
        <p:spPr>
          <a:xfrm>
            <a:off x="4389120" y="2423160"/>
            <a:ext cx="7040880" cy="713232"/>
          </a:xfrm>
          <a:prstGeom prst="rect">
            <a:avLst/>
          </a:prstGeom>
          <a:noFill/>
          <a:ln/>
        </p:spPr>
        <p:txBody>
          <a:bodyPr wrap="square" lIns="0" tIns="0" rIns="0" bIns="0" rtlCol="0" anchor="ctr"/>
          <a:lstStyle/>
          <a:p>
            <a:pPr indent="0" marL="0">
              <a:buNone/>
            </a:pPr>
            <a:r>
              <a:rPr lang="en-US" sz="1350" dirty="0">
                <a:solidFill>
                  <a:srgbClr val="1B2430"/>
                </a:solidFill>
                <a:latin typeface="Calibri" pitchFamily="34" charset="0"/>
                <a:ea typeface="Calibri" pitchFamily="34" charset="-122"/>
                <a:cs typeface="Calibri" pitchFamily="34" charset="-120"/>
              </a:rPr>
              <a:t>Five INTs feed that picture, and a 14N builds depth in one of four areas.</a:t>
            </a:r>
            <a:endParaRPr lang="en-US" sz="1350" dirty="0"/>
          </a:p>
        </p:txBody>
      </p:sp>
      <p:sp>
        <p:nvSpPr>
          <p:cNvPr id="21" name="Shape 16"/>
          <p:cNvSpPr/>
          <p:nvPr/>
        </p:nvSpPr>
        <p:spPr>
          <a:xfrm>
            <a:off x="1417320" y="3246120"/>
            <a:ext cx="10195560" cy="713232"/>
          </a:xfrm>
          <a:prstGeom prst="roundRect">
            <a:avLst>
              <a:gd name="adj" fmla="val 7692"/>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22" name="Shape 17"/>
          <p:cNvSpPr/>
          <p:nvPr/>
        </p:nvSpPr>
        <p:spPr>
          <a:xfrm>
            <a:off x="566928" y="3310128"/>
            <a:ext cx="585216" cy="585216"/>
          </a:xfrm>
          <a:prstGeom prst="ellipse">
            <a:avLst/>
          </a:prstGeom>
          <a:solidFill>
            <a:srgbClr val="12284B"/>
          </a:solidFill>
          <a:ln w="12700">
            <a:solidFill>
              <a:srgbClr val="12284B"/>
            </a:solidFill>
            <a:prstDash val="solid"/>
          </a:ln>
        </p:spPr>
      </p:sp>
      <p:pic>
        <p:nvPicPr>
          <p:cNvPr id="23" name="Image 2" descr="C:\Users\Trey\AppData\Local\Temp\claude\c--Projects-astral-project-src-pages-theknowledgebase\594bbb08-08fe-467c-99d2-4fe53cb86141\scratchpad\brief14n\icons\gradcap_gold.png">    </p:cNvPr>
          <p:cNvPicPr>
            <a:picLocks noChangeAspect="1"/>
          </p:cNvPicPr>
          <p:nvPr/>
        </p:nvPicPr>
        <p:blipFill>
          <a:blip r:embed="rId3"/>
          <a:stretch>
            <a:fillRect/>
          </a:stretch>
        </p:blipFill>
        <p:spPr>
          <a:xfrm>
            <a:off x="701528" y="3444728"/>
            <a:ext cx="316017" cy="316017"/>
          </a:xfrm>
          <a:prstGeom prst="rect">
            <a:avLst/>
          </a:prstGeom>
        </p:spPr>
      </p:pic>
      <p:sp>
        <p:nvSpPr>
          <p:cNvPr id="24" name="Shape 18"/>
          <p:cNvSpPr/>
          <p:nvPr/>
        </p:nvSpPr>
        <p:spPr>
          <a:xfrm>
            <a:off x="1005840" y="3264408"/>
            <a:ext cx="237744" cy="237744"/>
          </a:xfrm>
          <a:prstGeom prst="ellipse">
            <a:avLst/>
          </a:prstGeom>
          <a:solidFill>
            <a:srgbClr val="FFC72C"/>
          </a:solidFill>
          <a:ln w="12700">
            <a:solidFill>
              <a:srgbClr val="FFFFFF"/>
            </a:solidFill>
            <a:prstDash val="solid"/>
          </a:ln>
        </p:spPr>
      </p:sp>
      <p:sp>
        <p:nvSpPr>
          <p:cNvPr id="25" name="Text 19"/>
          <p:cNvSpPr txBox="1"/>
          <p:nvPr/>
        </p:nvSpPr>
        <p:spPr>
          <a:xfrm>
            <a:off x="1005840" y="3264408"/>
            <a:ext cx="237744" cy="237744"/>
          </a:xfrm>
          <a:prstGeom prst="rect">
            <a:avLst/>
          </a:prstGeom>
          <a:noFill/>
          <a:ln/>
        </p:spPr>
        <p:txBody>
          <a:bodyPr wrap="square" lIns="0" tIns="0" rIns="0" bIns="0" rtlCol="0" anchor="ctr"/>
          <a:lstStyle/>
          <a:p>
            <a:pPr algn="ctr" indent="0" marL="0">
              <a:buNone/>
            </a:pPr>
            <a:r>
              <a:rPr lang="en-US" sz="900" b="1" dirty="0">
                <a:solidFill>
                  <a:srgbClr val="0B1B34"/>
                </a:solidFill>
                <a:latin typeface="Calibri" pitchFamily="34" charset="0"/>
                <a:ea typeface="Calibri" pitchFamily="34" charset="-122"/>
                <a:cs typeface="Calibri" pitchFamily="34" charset="-120"/>
              </a:rPr>
              <a:t>3</a:t>
            </a:r>
            <a:endParaRPr lang="en-US" sz="900" dirty="0"/>
          </a:p>
        </p:txBody>
      </p:sp>
      <p:sp>
        <p:nvSpPr>
          <p:cNvPr id="26" name="Text 20"/>
          <p:cNvSpPr txBox="1"/>
          <p:nvPr/>
        </p:nvSpPr>
        <p:spPr>
          <a:xfrm>
            <a:off x="1645920" y="3246120"/>
            <a:ext cx="2651760" cy="713232"/>
          </a:xfrm>
          <a:prstGeom prst="rect">
            <a:avLst/>
          </a:prstGeom>
          <a:noFill/>
          <a:ln/>
        </p:spPr>
        <p:txBody>
          <a:bodyPr wrap="square" lIns="0" tIns="0" rIns="0" bIns="0" rtlCol="0" anchor="ctr"/>
          <a:lstStyle/>
          <a:p>
            <a:pPr indent="0" marL="0">
              <a:buNone/>
            </a:pPr>
            <a:r>
              <a:rPr lang="en-US" sz="1600" b="1" dirty="0">
                <a:solidFill>
                  <a:srgbClr val="12284B"/>
                </a:solidFill>
                <a:latin typeface="Calibri" pitchFamily="34" charset="0"/>
                <a:ea typeface="Calibri" pitchFamily="34" charset="-122"/>
                <a:cs typeface="Calibri" pitchFamily="34" charset="-120"/>
              </a:rPr>
              <a:t>Becoming an Officer</a:t>
            </a:r>
            <a:endParaRPr lang="en-US" sz="1600" dirty="0"/>
          </a:p>
        </p:txBody>
      </p:sp>
      <p:sp>
        <p:nvSpPr>
          <p:cNvPr id="27" name="Text 21"/>
          <p:cNvSpPr txBox="1"/>
          <p:nvPr/>
        </p:nvSpPr>
        <p:spPr>
          <a:xfrm>
            <a:off x="4389120" y="3246120"/>
            <a:ext cx="7040880" cy="713232"/>
          </a:xfrm>
          <a:prstGeom prst="rect">
            <a:avLst/>
          </a:prstGeom>
          <a:noFill/>
          <a:ln/>
        </p:spPr>
        <p:txBody>
          <a:bodyPr wrap="square" lIns="0" tIns="0" rIns="0" bIns="0" rtlCol="0" anchor="ctr"/>
          <a:lstStyle/>
          <a:p>
            <a:pPr indent="0" marL="0">
              <a:buNone/>
            </a:pPr>
            <a:r>
              <a:rPr lang="en-US" sz="1350" dirty="0">
                <a:solidFill>
                  <a:srgbClr val="1B2430"/>
                </a:solidFill>
                <a:latin typeface="Calibri" pitchFamily="34" charset="0"/>
                <a:ea typeface="Calibri" pitchFamily="34" charset="-122"/>
                <a:cs typeface="Calibri" pitchFamily="34" charset="-120"/>
              </a:rPr>
              <a:t>A degree, citizenship, a Top Secret investigation, and training at Goodfellow.</a:t>
            </a:r>
            <a:endParaRPr lang="en-US" sz="1350" dirty="0"/>
          </a:p>
        </p:txBody>
      </p:sp>
      <p:sp>
        <p:nvSpPr>
          <p:cNvPr id="28" name="Shape 22"/>
          <p:cNvSpPr/>
          <p:nvPr/>
        </p:nvSpPr>
        <p:spPr>
          <a:xfrm>
            <a:off x="1417320" y="4069080"/>
            <a:ext cx="10195560" cy="713232"/>
          </a:xfrm>
          <a:prstGeom prst="roundRect">
            <a:avLst>
              <a:gd name="adj" fmla="val 7692"/>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29" name="Shape 23"/>
          <p:cNvSpPr/>
          <p:nvPr/>
        </p:nvSpPr>
        <p:spPr>
          <a:xfrm>
            <a:off x="566928" y="4133088"/>
            <a:ext cx="585216" cy="585216"/>
          </a:xfrm>
          <a:prstGeom prst="ellipse">
            <a:avLst/>
          </a:prstGeom>
          <a:solidFill>
            <a:srgbClr val="12284B"/>
          </a:solidFill>
          <a:ln w="12700">
            <a:solidFill>
              <a:srgbClr val="12284B"/>
            </a:solidFill>
            <a:prstDash val="solid"/>
          </a:ln>
        </p:spPr>
      </p:sp>
      <p:pic>
        <p:nvPicPr>
          <p:cNvPr id="30" name="Image 3" descr="C:\Users\Trey\AppData\Local\Temp\claude\c--Projects-astral-project-src-pages-theknowledgebase\594bbb08-08fe-467c-99d2-4fe53cb86141\scratchpad\brief14n\icons\users_gold.png">    </p:cNvPr>
          <p:cNvPicPr>
            <a:picLocks noChangeAspect="1"/>
          </p:cNvPicPr>
          <p:nvPr/>
        </p:nvPicPr>
        <p:blipFill>
          <a:blip r:embed="rId4"/>
          <a:stretch>
            <a:fillRect/>
          </a:stretch>
        </p:blipFill>
        <p:spPr>
          <a:xfrm>
            <a:off x="701528" y="4267688"/>
            <a:ext cx="316017" cy="316017"/>
          </a:xfrm>
          <a:prstGeom prst="rect">
            <a:avLst/>
          </a:prstGeom>
        </p:spPr>
      </p:pic>
      <p:sp>
        <p:nvSpPr>
          <p:cNvPr id="31" name="Shape 24"/>
          <p:cNvSpPr/>
          <p:nvPr/>
        </p:nvSpPr>
        <p:spPr>
          <a:xfrm>
            <a:off x="1005840" y="4087368"/>
            <a:ext cx="237744" cy="237744"/>
          </a:xfrm>
          <a:prstGeom prst="ellipse">
            <a:avLst/>
          </a:prstGeom>
          <a:solidFill>
            <a:srgbClr val="FFC72C"/>
          </a:solidFill>
          <a:ln w="12700">
            <a:solidFill>
              <a:srgbClr val="FFFFFF"/>
            </a:solidFill>
            <a:prstDash val="solid"/>
          </a:ln>
        </p:spPr>
      </p:sp>
      <p:sp>
        <p:nvSpPr>
          <p:cNvPr id="32" name="Text 25"/>
          <p:cNvSpPr txBox="1"/>
          <p:nvPr/>
        </p:nvSpPr>
        <p:spPr>
          <a:xfrm>
            <a:off x="1005840" y="4087368"/>
            <a:ext cx="237744" cy="237744"/>
          </a:xfrm>
          <a:prstGeom prst="rect">
            <a:avLst/>
          </a:prstGeom>
          <a:noFill/>
          <a:ln/>
        </p:spPr>
        <p:txBody>
          <a:bodyPr wrap="square" lIns="0" tIns="0" rIns="0" bIns="0" rtlCol="0" anchor="ctr"/>
          <a:lstStyle/>
          <a:p>
            <a:pPr algn="ctr" indent="0" marL="0">
              <a:buNone/>
            </a:pPr>
            <a:r>
              <a:rPr lang="en-US" sz="900" b="1" dirty="0">
                <a:solidFill>
                  <a:srgbClr val="0B1B34"/>
                </a:solidFill>
                <a:latin typeface="Calibri" pitchFamily="34" charset="0"/>
                <a:ea typeface="Calibri" pitchFamily="34" charset="-122"/>
                <a:cs typeface="Calibri" pitchFamily="34" charset="-120"/>
              </a:rPr>
              <a:t>4</a:t>
            </a:r>
            <a:endParaRPr lang="en-US" sz="900" dirty="0"/>
          </a:p>
        </p:txBody>
      </p:sp>
      <p:sp>
        <p:nvSpPr>
          <p:cNvPr id="33" name="Text 26"/>
          <p:cNvSpPr txBox="1"/>
          <p:nvPr/>
        </p:nvSpPr>
        <p:spPr>
          <a:xfrm>
            <a:off x="1645920" y="4069080"/>
            <a:ext cx="2651760" cy="713232"/>
          </a:xfrm>
          <a:prstGeom prst="rect">
            <a:avLst/>
          </a:prstGeom>
          <a:noFill/>
          <a:ln/>
        </p:spPr>
        <p:txBody>
          <a:bodyPr wrap="square" lIns="0" tIns="0" rIns="0" bIns="0" rtlCol="0" anchor="ctr"/>
          <a:lstStyle/>
          <a:p>
            <a:pPr indent="0" marL="0">
              <a:buNone/>
            </a:pPr>
            <a:r>
              <a:rPr lang="en-US" sz="1600" b="1" dirty="0">
                <a:solidFill>
                  <a:srgbClr val="12284B"/>
                </a:solidFill>
                <a:latin typeface="Calibri" pitchFamily="34" charset="0"/>
                <a:ea typeface="Calibri" pitchFamily="34" charset="-122"/>
                <a:cs typeface="Calibri" pitchFamily="34" charset="-120"/>
              </a:rPr>
              <a:t>The Team</a:t>
            </a:r>
            <a:endParaRPr lang="en-US" sz="1600" dirty="0"/>
          </a:p>
        </p:txBody>
      </p:sp>
      <p:sp>
        <p:nvSpPr>
          <p:cNvPr id="34" name="Text 27"/>
          <p:cNvSpPr txBox="1"/>
          <p:nvPr/>
        </p:nvSpPr>
        <p:spPr>
          <a:xfrm>
            <a:off x="4389120" y="4069080"/>
            <a:ext cx="7040880" cy="713232"/>
          </a:xfrm>
          <a:prstGeom prst="rect">
            <a:avLst/>
          </a:prstGeom>
          <a:noFill/>
          <a:ln/>
        </p:spPr>
        <p:txBody>
          <a:bodyPr wrap="square" lIns="0" tIns="0" rIns="0" bIns="0" rtlCol="0" anchor="ctr"/>
          <a:lstStyle/>
          <a:p>
            <a:pPr indent="0" marL="0">
              <a:buNone/>
            </a:pPr>
            <a:r>
              <a:rPr lang="en-US" sz="1350" dirty="0">
                <a:solidFill>
                  <a:srgbClr val="1B2430"/>
                </a:solidFill>
                <a:latin typeface="Calibri" pitchFamily="34" charset="0"/>
                <a:ea typeface="Calibri" pitchFamily="34" charset="-122"/>
                <a:cs typeface="Calibri" pitchFamily="34" charset="-120"/>
              </a:rPr>
              <a:t>Enlisted specialists work the disciplines. The officer leads them and fuses the results.</a:t>
            </a:r>
            <a:endParaRPr lang="en-US" sz="1350" dirty="0"/>
          </a:p>
        </p:txBody>
      </p:sp>
      <p:sp>
        <p:nvSpPr>
          <p:cNvPr id="35" name="Shape 28"/>
          <p:cNvSpPr/>
          <p:nvPr/>
        </p:nvSpPr>
        <p:spPr>
          <a:xfrm>
            <a:off x="1417320" y="4892040"/>
            <a:ext cx="10195560" cy="713232"/>
          </a:xfrm>
          <a:prstGeom prst="roundRect">
            <a:avLst>
              <a:gd name="adj" fmla="val 7692"/>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36" name="Shape 29"/>
          <p:cNvSpPr/>
          <p:nvPr/>
        </p:nvSpPr>
        <p:spPr>
          <a:xfrm>
            <a:off x="566928" y="4956048"/>
            <a:ext cx="585216" cy="585216"/>
          </a:xfrm>
          <a:prstGeom prst="ellipse">
            <a:avLst/>
          </a:prstGeom>
          <a:solidFill>
            <a:srgbClr val="12284B"/>
          </a:solidFill>
          <a:ln w="12700">
            <a:solidFill>
              <a:srgbClr val="12284B"/>
            </a:solidFill>
            <a:prstDash val="solid"/>
          </a:ln>
        </p:spPr>
      </p:sp>
      <p:pic>
        <p:nvPicPr>
          <p:cNvPr id="37" name="Image 4" descr="C:\Users\Trey\AppData\Local\Temp\claude\c--Projects-astral-project-src-pages-theknowledgebase\594bbb08-08fe-467c-99d2-4fe53cb86141\scratchpad\brief14n\icons\clipboard_gold.png">    </p:cNvPr>
          <p:cNvPicPr>
            <a:picLocks noChangeAspect="1"/>
          </p:cNvPicPr>
          <p:nvPr/>
        </p:nvPicPr>
        <p:blipFill>
          <a:blip r:embed="rId5"/>
          <a:stretch>
            <a:fillRect/>
          </a:stretch>
        </p:blipFill>
        <p:spPr>
          <a:xfrm>
            <a:off x="701528" y="5090648"/>
            <a:ext cx="316017" cy="316017"/>
          </a:xfrm>
          <a:prstGeom prst="rect">
            <a:avLst/>
          </a:prstGeom>
        </p:spPr>
      </p:pic>
      <p:sp>
        <p:nvSpPr>
          <p:cNvPr id="38" name="Shape 30"/>
          <p:cNvSpPr/>
          <p:nvPr/>
        </p:nvSpPr>
        <p:spPr>
          <a:xfrm>
            <a:off x="1005840" y="4910328"/>
            <a:ext cx="237744" cy="237744"/>
          </a:xfrm>
          <a:prstGeom prst="ellipse">
            <a:avLst/>
          </a:prstGeom>
          <a:solidFill>
            <a:srgbClr val="FFC72C"/>
          </a:solidFill>
          <a:ln w="12700">
            <a:solidFill>
              <a:srgbClr val="FFFFFF"/>
            </a:solidFill>
            <a:prstDash val="solid"/>
          </a:ln>
        </p:spPr>
      </p:sp>
      <p:sp>
        <p:nvSpPr>
          <p:cNvPr id="39" name="Text 31"/>
          <p:cNvSpPr txBox="1"/>
          <p:nvPr/>
        </p:nvSpPr>
        <p:spPr>
          <a:xfrm>
            <a:off x="1005840" y="4910328"/>
            <a:ext cx="237744" cy="237744"/>
          </a:xfrm>
          <a:prstGeom prst="rect">
            <a:avLst/>
          </a:prstGeom>
          <a:noFill/>
          <a:ln/>
        </p:spPr>
        <p:txBody>
          <a:bodyPr wrap="square" lIns="0" tIns="0" rIns="0" bIns="0" rtlCol="0" anchor="ctr"/>
          <a:lstStyle/>
          <a:p>
            <a:pPr algn="ctr" indent="0" marL="0">
              <a:buNone/>
            </a:pPr>
            <a:r>
              <a:rPr lang="en-US" sz="900" b="1" dirty="0">
                <a:solidFill>
                  <a:srgbClr val="0B1B34"/>
                </a:solidFill>
                <a:latin typeface="Calibri" pitchFamily="34" charset="0"/>
                <a:ea typeface="Calibri" pitchFamily="34" charset="-122"/>
                <a:cs typeface="Calibri" pitchFamily="34" charset="-120"/>
              </a:rPr>
              <a:t>5</a:t>
            </a:r>
            <a:endParaRPr lang="en-US" sz="900" dirty="0"/>
          </a:p>
        </p:txBody>
      </p:sp>
      <p:sp>
        <p:nvSpPr>
          <p:cNvPr id="40" name="Text 32"/>
          <p:cNvSpPr txBox="1"/>
          <p:nvPr/>
        </p:nvSpPr>
        <p:spPr>
          <a:xfrm>
            <a:off x="1645920" y="4892040"/>
            <a:ext cx="2651760" cy="713232"/>
          </a:xfrm>
          <a:prstGeom prst="rect">
            <a:avLst/>
          </a:prstGeom>
          <a:noFill/>
          <a:ln/>
        </p:spPr>
        <p:txBody>
          <a:bodyPr wrap="square" lIns="0" tIns="0" rIns="0" bIns="0" rtlCol="0" anchor="ctr"/>
          <a:lstStyle/>
          <a:p>
            <a:pPr indent="0" marL="0">
              <a:buNone/>
            </a:pPr>
            <a:r>
              <a:rPr lang="en-US" sz="1600" b="1" dirty="0">
                <a:solidFill>
                  <a:srgbClr val="12284B"/>
                </a:solidFill>
                <a:latin typeface="Calibri" pitchFamily="34" charset="0"/>
                <a:ea typeface="Calibri" pitchFamily="34" charset="-122"/>
                <a:cs typeface="Calibri" pitchFamily="34" charset="-120"/>
              </a:rPr>
              <a:t>A Day in the Life</a:t>
            </a:r>
            <a:endParaRPr lang="en-US" sz="1600" dirty="0"/>
          </a:p>
        </p:txBody>
      </p:sp>
      <p:sp>
        <p:nvSpPr>
          <p:cNvPr id="41" name="Text 33"/>
          <p:cNvSpPr txBox="1"/>
          <p:nvPr/>
        </p:nvSpPr>
        <p:spPr>
          <a:xfrm>
            <a:off x="4389120" y="4892040"/>
            <a:ext cx="7040880" cy="713232"/>
          </a:xfrm>
          <a:prstGeom prst="rect">
            <a:avLst/>
          </a:prstGeom>
          <a:noFill/>
          <a:ln/>
        </p:spPr>
        <p:txBody>
          <a:bodyPr wrap="square" lIns="0" tIns="0" rIns="0" bIns="0" rtlCol="0" anchor="ctr"/>
          <a:lstStyle/>
          <a:p>
            <a:pPr indent="0" marL="0">
              <a:buNone/>
            </a:pPr>
            <a:r>
              <a:rPr lang="en-US" sz="1350" dirty="0">
                <a:solidFill>
                  <a:srgbClr val="1B2430"/>
                </a:solidFill>
                <a:latin typeface="Calibri" pitchFamily="34" charset="0"/>
                <a:ea typeface="Calibri" pitchFamily="34" charset="-122"/>
                <a:cs typeface="Calibri" pitchFamily="34" charset="-120"/>
              </a:rPr>
              <a:t>Briefing aircrew before they fly and debriefing them when they land.</a:t>
            </a:r>
            <a:endParaRPr lang="en-US" sz="1350" dirty="0"/>
          </a:p>
        </p:txBody>
      </p:sp>
      <p:sp>
        <p:nvSpPr>
          <p:cNvPr id="42" name="Shape 34"/>
          <p:cNvSpPr/>
          <p:nvPr/>
        </p:nvSpPr>
        <p:spPr>
          <a:xfrm>
            <a:off x="1417320" y="5715000"/>
            <a:ext cx="10195560" cy="713232"/>
          </a:xfrm>
          <a:prstGeom prst="roundRect">
            <a:avLst>
              <a:gd name="adj" fmla="val 7692"/>
            </a:avLst>
          </a:prstGeom>
          <a:solidFill>
            <a:srgbClr val="F4F6FA"/>
          </a:solidFill>
          <a:ln w="12700">
            <a:solidFill>
              <a:srgbClr val="F4F6FA"/>
            </a:solidFill>
            <a:prstDash val="solid"/>
          </a:ln>
          <a:effectLst>
            <a:outerShdw sx="100000" sy="100000" kx="0" ky="0" algn="bl" rotWithShape="0" blurRad="101600" dist="38100" dir="5400000">
              <a:srgbClr val="0B1B34">
                <a:alpha val="30000"/>
              </a:srgbClr>
            </a:outerShdw>
          </a:effectLst>
        </p:spPr>
      </p:sp>
      <p:sp>
        <p:nvSpPr>
          <p:cNvPr id="43" name="Shape 35"/>
          <p:cNvSpPr/>
          <p:nvPr/>
        </p:nvSpPr>
        <p:spPr>
          <a:xfrm>
            <a:off x="566928" y="5779008"/>
            <a:ext cx="585216" cy="585216"/>
          </a:xfrm>
          <a:prstGeom prst="ellipse">
            <a:avLst/>
          </a:prstGeom>
          <a:solidFill>
            <a:srgbClr val="12284B"/>
          </a:solidFill>
          <a:ln w="12700">
            <a:solidFill>
              <a:srgbClr val="12284B"/>
            </a:solidFill>
            <a:prstDash val="solid"/>
          </a:ln>
        </p:spPr>
      </p:sp>
      <p:pic>
        <p:nvPicPr>
          <p:cNvPr id="44" name="Image 5" descr="C:\Users\Trey\AppData\Local\Temp\claude\c--Projects-astral-project-src-pages-theknowledgebase\594bbb08-08fe-467c-99d2-4fe53cb86141\scratchpad\brief14n\icons\medal_gold.png">    </p:cNvPr>
          <p:cNvPicPr>
            <a:picLocks noChangeAspect="1"/>
          </p:cNvPicPr>
          <p:nvPr/>
        </p:nvPicPr>
        <p:blipFill>
          <a:blip r:embed="rId6"/>
          <a:stretch>
            <a:fillRect/>
          </a:stretch>
        </p:blipFill>
        <p:spPr>
          <a:xfrm>
            <a:off x="701528" y="5913608"/>
            <a:ext cx="316017" cy="316017"/>
          </a:xfrm>
          <a:prstGeom prst="rect">
            <a:avLst/>
          </a:prstGeom>
        </p:spPr>
      </p:pic>
      <p:sp>
        <p:nvSpPr>
          <p:cNvPr id="45" name="Shape 36"/>
          <p:cNvSpPr/>
          <p:nvPr/>
        </p:nvSpPr>
        <p:spPr>
          <a:xfrm>
            <a:off x="1005840" y="5733288"/>
            <a:ext cx="237744" cy="237744"/>
          </a:xfrm>
          <a:prstGeom prst="ellipse">
            <a:avLst/>
          </a:prstGeom>
          <a:solidFill>
            <a:srgbClr val="FFC72C"/>
          </a:solidFill>
          <a:ln w="12700">
            <a:solidFill>
              <a:srgbClr val="FFFFFF"/>
            </a:solidFill>
            <a:prstDash val="solid"/>
          </a:ln>
        </p:spPr>
      </p:sp>
      <p:sp>
        <p:nvSpPr>
          <p:cNvPr id="46" name="Text 37"/>
          <p:cNvSpPr txBox="1"/>
          <p:nvPr/>
        </p:nvSpPr>
        <p:spPr>
          <a:xfrm>
            <a:off x="1005840" y="5733288"/>
            <a:ext cx="237744" cy="237744"/>
          </a:xfrm>
          <a:prstGeom prst="rect">
            <a:avLst/>
          </a:prstGeom>
          <a:noFill/>
          <a:ln/>
        </p:spPr>
        <p:txBody>
          <a:bodyPr wrap="square" lIns="0" tIns="0" rIns="0" bIns="0" rtlCol="0" anchor="ctr"/>
          <a:lstStyle/>
          <a:p>
            <a:pPr algn="ctr" indent="0" marL="0">
              <a:buNone/>
            </a:pPr>
            <a:r>
              <a:rPr lang="en-US" sz="900" b="1" dirty="0">
                <a:solidFill>
                  <a:srgbClr val="0B1B34"/>
                </a:solidFill>
                <a:latin typeface="Calibri" pitchFamily="34" charset="0"/>
                <a:ea typeface="Calibri" pitchFamily="34" charset="-122"/>
                <a:cs typeface="Calibri" pitchFamily="34" charset="-120"/>
              </a:rPr>
              <a:t>6</a:t>
            </a:r>
            <a:endParaRPr lang="en-US" sz="900" dirty="0"/>
          </a:p>
        </p:txBody>
      </p:sp>
      <p:sp>
        <p:nvSpPr>
          <p:cNvPr id="47" name="Text 38"/>
          <p:cNvSpPr txBox="1"/>
          <p:nvPr/>
        </p:nvSpPr>
        <p:spPr>
          <a:xfrm>
            <a:off x="1645920" y="5715000"/>
            <a:ext cx="2651760" cy="713232"/>
          </a:xfrm>
          <a:prstGeom prst="rect">
            <a:avLst/>
          </a:prstGeom>
          <a:noFill/>
          <a:ln/>
        </p:spPr>
        <p:txBody>
          <a:bodyPr wrap="square" lIns="0" tIns="0" rIns="0" bIns="0" rtlCol="0" anchor="ctr"/>
          <a:lstStyle/>
          <a:p>
            <a:pPr indent="0" marL="0">
              <a:buNone/>
            </a:pPr>
            <a:r>
              <a:rPr lang="en-US" sz="1600" b="1" dirty="0">
                <a:solidFill>
                  <a:srgbClr val="12284B"/>
                </a:solidFill>
                <a:latin typeface="Calibri" pitchFamily="34" charset="0"/>
                <a:ea typeface="Calibri" pitchFamily="34" charset="-122"/>
                <a:cs typeface="Calibri" pitchFamily="34" charset="-120"/>
              </a:rPr>
              <a:t>Career &amp; Impact</a:t>
            </a:r>
            <a:endParaRPr lang="en-US" sz="1600" dirty="0"/>
          </a:p>
        </p:txBody>
      </p:sp>
      <p:sp>
        <p:nvSpPr>
          <p:cNvPr id="48" name="Text 39"/>
          <p:cNvSpPr txBox="1"/>
          <p:nvPr/>
        </p:nvSpPr>
        <p:spPr>
          <a:xfrm>
            <a:off x="4389120" y="5715000"/>
            <a:ext cx="7040880" cy="713232"/>
          </a:xfrm>
          <a:prstGeom prst="rect">
            <a:avLst/>
          </a:prstGeom>
          <a:noFill/>
          <a:ln/>
        </p:spPr>
        <p:txBody>
          <a:bodyPr wrap="square" lIns="0" tIns="0" rIns="0" bIns="0" rtlCol="0" anchor="ctr"/>
          <a:lstStyle/>
          <a:p>
            <a:pPr indent="0" marL="0">
              <a:buNone/>
            </a:pPr>
            <a:r>
              <a:rPr lang="en-US" sz="1350" dirty="0">
                <a:solidFill>
                  <a:srgbClr val="1B2430"/>
                </a:solidFill>
                <a:latin typeface="Calibri" pitchFamily="34" charset="0"/>
                <a:ea typeface="Calibri" pitchFamily="34" charset="-122"/>
                <a:cs typeface="Calibri" pitchFamily="34" charset="-120"/>
              </a:rPr>
              <a:t>From a flying squadron to national agencies, one connected picture.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2834640" cy="6858000"/>
          </a:xfrm>
          <a:prstGeom prst="rect">
            <a:avLst/>
          </a:prstGeom>
          <a:solidFill>
            <a:srgbClr val="0B1B34"/>
          </a:solidFill>
          <a:ln w="12700">
            <a:solidFill>
              <a:srgbClr val="0B1B34"/>
            </a:solidFill>
            <a:prstDash val="solid"/>
          </a:ln>
        </p:spPr>
      </p:sp>
      <p:sp>
        <p:nvSpPr>
          <p:cNvPr id="4" name="Text 1"/>
          <p:cNvSpPr txBox="1"/>
          <p:nvPr/>
        </p:nvSpPr>
        <p:spPr>
          <a:xfrm>
            <a:off x="411480" y="411480"/>
            <a:ext cx="2194560" cy="320040"/>
          </a:xfrm>
          <a:prstGeom prst="rect">
            <a:avLst/>
          </a:prstGeom>
          <a:noFill/>
          <a:ln/>
        </p:spPr>
        <p:txBody>
          <a:bodyPr wrap="square" lIns="0" tIns="0" rIns="0" bIns="0" rtlCol="0" anchor="ctr"/>
          <a:lstStyle/>
          <a:p>
            <a:pPr indent="0" marL="0">
              <a:buNone/>
            </a:pPr>
            <a:r>
              <a:rPr lang="en-US" sz="1300" b="1" spc="300" kern="0" dirty="0">
                <a:solidFill>
                  <a:srgbClr val="FFC72C"/>
                </a:solidFill>
                <a:latin typeface="Calibri" pitchFamily="34" charset="0"/>
                <a:ea typeface="Calibri" pitchFamily="34" charset="-122"/>
                <a:cs typeface="Calibri" pitchFamily="34" charset="-120"/>
              </a:rPr>
              <a:t>FURTHER READING</a:t>
            </a:r>
            <a:endParaRPr lang="en-US" sz="1300" dirty="0"/>
          </a:p>
        </p:txBody>
      </p:sp>
      <p:sp>
        <p:nvSpPr>
          <p:cNvPr id="5" name="Text 2"/>
          <p:cNvSpPr txBox="1"/>
          <p:nvPr/>
        </p:nvSpPr>
        <p:spPr>
          <a:xfrm>
            <a:off x="411480" y="777240"/>
            <a:ext cx="219456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Sources</a:t>
            </a:r>
            <a:endParaRPr lang="en-US" sz="3000" dirty="0"/>
          </a:p>
        </p:txBody>
      </p:sp>
      <p:sp>
        <p:nvSpPr>
          <p:cNvPr id="6" name="Text 3"/>
          <p:cNvSpPr txBox="1"/>
          <p:nvPr/>
        </p:nvSpPr>
        <p:spPr>
          <a:xfrm>
            <a:off x="411480" y="1691640"/>
            <a:ext cx="2103120" cy="4754880"/>
          </a:xfrm>
          <a:prstGeom prst="rect">
            <a:avLst/>
          </a:prstGeom>
          <a:noFill/>
          <a:ln/>
        </p:spPr>
        <p:txBody>
          <a:bodyPr wrap="square" lIns="0" tIns="0" rIns="0" bIns="0" rtlCol="0" anchor="t"/>
          <a:lstStyle/>
          <a:p>
            <a:pPr indent="0" marL="0">
              <a:buNone/>
            </a:pPr>
            <a:r>
              <a:rPr lang="en-US" sz="1200" dirty="0">
                <a:solidFill>
                  <a:srgbClr val="DCE6F5"/>
                </a:solidFill>
                <a:latin typeface="Calibri" pitchFamily="34" charset="0"/>
                <a:ea typeface="Calibri" pitchFamily="34" charset="-122"/>
                <a:cs typeface="Calibri" pitchFamily="34" charset="-120"/>
              </a:rPr>
              <a:t>Every fact in this brief traces to one of these. The number in each speaker note, such as [Source 1], points to the same number here.</a:t>
            </a:r>
            <a:endParaRPr lang="en-US" sz="1200" dirty="0"/>
          </a:p>
          <a:p>
            <a:pPr indent="0" marL="0">
              <a:buNone/>
            </a:pPr>
            <a:endParaRPr lang="en-US" sz="1200" dirty="0"/>
          </a:p>
          <a:p>
            <a:pPr indent="0" marL="0">
              <a:buNone/>
            </a:pPr>
            <a:r>
              <a:rPr lang="en-US" sz="1200" dirty="0">
                <a:solidFill>
                  <a:srgbClr val="DCE6F5"/>
                </a:solidFill>
                <a:latin typeface="Calibri" pitchFamily="34" charset="0"/>
                <a:ea typeface="Calibri" pitchFamily="34" charset="-122"/>
                <a:cs typeface="Calibri" pitchFamily="34" charset="-120"/>
              </a:rPr>
              <a:t>Full titles and complete links are in the speaker notes for this slide, and on the 14N Brief page of the site.</a:t>
            </a:r>
            <a:endParaRPr lang="en-US" sz="1200" dirty="0"/>
          </a:p>
          <a:p>
            <a:pPr indent="0" marL="0">
              <a:buNone/>
            </a:pPr>
            <a:endParaRPr lang="en-US" sz="1200" dirty="0"/>
          </a:p>
          <a:p>
            <a:pPr indent="0" marL="0">
              <a:buNone/>
            </a:pPr>
            <a:r>
              <a:rPr lang="en-US" sz="1200" dirty="0">
                <a:solidFill>
                  <a:srgbClr val="DCE6F5"/>
                </a:solidFill>
                <a:latin typeface="Calibri" pitchFamily="34" charset="0"/>
                <a:ea typeface="Calibri" pitchFamily="34" charset="-122"/>
                <a:cs typeface="Calibri" pitchFamily="34" charset="-120"/>
              </a:rPr>
              <a:t>Many af.mil pages block automated requests but open in a normal browser. Where only an archived copy was available, the link says archive.org.</a:t>
            </a:r>
            <a:endParaRPr lang="en-US" sz="1200" dirty="0"/>
          </a:p>
        </p:txBody>
      </p:sp>
      <p:sp>
        <p:nvSpPr>
          <p:cNvPr id="7" name="Text 4"/>
          <p:cNvSpPr txBox="1"/>
          <p:nvPr/>
        </p:nvSpPr>
        <p:spPr>
          <a:xfrm>
            <a:off x="3108960" y="274320"/>
            <a:ext cx="2743200" cy="6309360"/>
          </a:xfrm>
          <a:prstGeom prst="rect">
            <a:avLst/>
          </a:prstGeom>
          <a:noFill/>
          <a:ln/>
        </p:spPr>
        <p:txBody>
          <a:bodyPr wrap="square" lIns="0" tIns="0" rIns="0" bIns="0" rtlCol="0" anchor="t"/>
          <a:lstStyle/>
          <a:p>
            <a:pPr indent="0" marL="0">
              <a:buNone/>
            </a:pPr>
            <a:r>
              <a:rPr lang="en-US" sz="850" b="1" dirty="0">
                <a:solidFill>
                  <a:srgbClr val="12284B"/>
                </a:solidFill>
                <a:latin typeface="Calibri" pitchFamily="34" charset="0"/>
                <a:ea typeface="Calibri" pitchFamily="34" charset="-122"/>
                <a:cs typeface="Calibri" pitchFamily="34" charset="-120"/>
              </a:rPr>
              <a:t>1   </a:t>
            </a:r>
            <a:pPr indent="0" marL="0">
              <a:buNone/>
            </a:pPr>
            <a:r>
              <a:rPr lang="en-US" sz="850" dirty="0">
                <a:solidFill>
                  <a:srgbClr val="1B2430"/>
                </a:solidFill>
                <a:latin typeface="Calibri" pitchFamily="34" charset="0"/>
                <a:ea typeface="Calibri" pitchFamily="34" charset="-122"/>
                <a:cs typeface="Calibri" pitchFamily="34" charset="-120"/>
              </a:rPr>
              <a:t>DAFOCD: Officer Classification Directory, 30 Apr 2025</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tmd.texas.gov/Data/Sites/1/media/tmd-jobs/ang-dsg-vacancy/fy25…</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2   </a:t>
            </a:r>
            <a:pPr indent="0" marL="0">
              <a:buNone/>
            </a:pPr>
            <a:r>
              <a:rPr lang="en-US" sz="850" dirty="0">
                <a:solidFill>
                  <a:srgbClr val="1B2430"/>
                </a:solidFill>
                <a:latin typeface="Calibri" pitchFamily="34" charset="0"/>
                <a:ea typeface="Calibri" pitchFamily="34" charset="-122"/>
                <a:cs typeface="Calibri" pitchFamily="34" charset="-120"/>
              </a:rPr>
              <a:t>DAFECD: Enlisted Classification Directory, 31 Oct 2025</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tmd.texas.gov/Data/Sites/1/media/tmd-jobs/ang-dsg-vacancy/fy26…</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3   </a:t>
            </a:r>
            <a:pPr indent="0" marL="0">
              <a:buNone/>
            </a:pPr>
            <a:r>
              <a:rPr lang="en-US" sz="850" dirty="0">
                <a:solidFill>
                  <a:srgbClr val="1B2430"/>
                </a:solidFill>
                <a:latin typeface="Calibri" pitchFamily="34" charset="0"/>
                <a:ea typeface="Calibri" pitchFamily="34" charset="-122"/>
                <a:cs typeface="Calibri" pitchFamily="34" charset="-120"/>
              </a:rPr>
              <a:t>DAFMAN 36-2100, Military Utilization and Classification</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static.e-publishing.af.mil/production/1/af_a1/publication/dafm…</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4   </a:t>
            </a:r>
            <a:pPr indent="0" marL="0">
              <a:buNone/>
            </a:pPr>
            <a:r>
              <a:rPr lang="en-US" sz="850" dirty="0">
                <a:solidFill>
                  <a:srgbClr val="1B2430"/>
                </a:solidFill>
                <a:latin typeface="Calibri" pitchFamily="34" charset="0"/>
                <a:ea typeface="Calibri" pitchFamily="34" charset="-122"/>
                <a:cs typeface="Calibri" pitchFamily="34" charset="-120"/>
              </a:rPr>
              <a:t>AFDP 2-0, Intelligence, 1 May 2026</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doctrine.af.mil/Portals/61/documents/AFDP_2-0/2-0-AFDP-INTELLI…</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5   </a:t>
            </a:r>
            <a:pPr indent="0" marL="0">
              <a:buNone/>
            </a:pPr>
            <a:r>
              <a:rPr lang="en-US" sz="850" dirty="0">
                <a:solidFill>
                  <a:srgbClr val="1B2430"/>
                </a:solidFill>
                <a:latin typeface="Calibri" pitchFamily="34" charset="0"/>
                <a:ea typeface="Calibri" pitchFamily="34" charset="-122"/>
                <a:cs typeface="Calibri" pitchFamily="34" charset="-120"/>
              </a:rPr>
              <a:t>CFETP 1N0X1, All Source Intelligence Analyst, 13 Jan 2026</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static.e-publishing.af.mil/production/1/af_a2_6/publication/cf…</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6   </a:t>
            </a:r>
            <a:pPr indent="0" marL="0">
              <a:buNone/>
            </a:pPr>
            <a:r>
              <a:rPr lang="en-US" sz="850" dirty="0">
                <a:solidFill>
                  <a:srgbClr val="1B2430"/>
                </a:solidFill>
                <a:latin typeface="Calibri" pitchFamily="34" charset="0"/>
                <a:ea typeface="Calibri" pitchFamily="34" charset="-122"/>
                <a:cs typeface="Calibri" pitchFamily="34" charset="-120"/>
              </a:rPr>
              <a:t>AF ISR 2023: Delivering Decision Advantage (about 2013)</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defenseinnovationmarketplace.dtic.mil/wp-content/uploads/airfo…</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7   </a:t>
            </a:r>
            <a:pPr indent="0" marL="0">
              <a:buNone/>
            </a:pPr>
            <a:r>
              <a:rPr lang="en-US" sz="850" dirty="0">
                <a:solidFill>
                  <a:srgbClr val="1B2430"/>
                </a:solidFill>
                <a:latin typeface="Calibri" pitchFamily="34" charset="0"/>
                <a:ea typeface="Calibri" pitchFamily="34" charset="-122"/>
                <a:cs typeface="Calibri" pitchFamily="34" charset="-120"/>
              </a:rPr>
              <a:t>airforce.com, Intelligence Officer career page</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airforce.com/careers/intelligence/intelligence-officer</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8   </a:t>
            </a:r>
            <a:pPr indent="0" marL="0">
              <a:buNone/>
            </a:pPr>
            <a:r>
              <a:rPr lang="en-US" sz="850" dirty="0">
                <a:solidFill>
                  <a:srgbClr val="1B2430"/>
                </a:solidFill>
                <a:latin typeface="Calibri" pitchFamily="34" charset="0"/>
                <a:ea typeface="Calibri" pitchFamily="34" charset="-122"/>
                <a:cs typeface="Calibri" pitchFamily="34" charset="-120"/>
              </a:rPr>
              <a:t>Goodfellow AFB fact sheets</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goodfellow.af.mil/About-Us/Fact-Sheets/Display/Article/372949/…</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9   </a:t>
            </a:r>
            <a:pPr indent="0" marL="0">
              <a:buNone/>
            </a:pPr>
            <a:r>
              <a:rPr lang="en-US" sz="850" dirty="0">
                <a:solidFill>
                  <a:srgbClr val="1B2430"/>
                </a:solidFill>
                <a:latin typeface="Calibri" pitchFamily="34" charset="0"/>
                <a:ea typeface="Calibri" pitchFamily="34" charset="-122"/>
                <a:cs typeface="Calibri" pitchFamily="34" charset="-120"/>
              </a:rPr>
              <a:t>JP 2-0, Joint Intelligence (22 Oct 2013)</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archive.org › dtic.mil/doctrine/new_pubs/jp2_0.pdf</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10   </a:t>
            </a:r>
            <a:pPr indent="0" marL="0">
              <a:buNone/>
            </a:pPr>
            <a:r>
              <a:rPr lang="en-US" sz="850" dirty="0">
                <a:solidFill>
                  <a:srgbClr val="1B2430"/>
                </a:solidFill>
                <a:latin typeface="Calibri" pitchFamily="34" charset="0"/>
                <a:ea typeface="Calibri" pitchFamily="34" charset="-122"/>
                <a:cs typeface="Calibri" pitchFamily="34" charset="-120"/>
              </a:rPr>
              <a:t>DoD Dictionary of Military and Associated Terms (Nov 2021)</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archive.org › jcs.mil/Portals/36/Documents/Doctrine/pubs/dicti…</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11   </a:t>
            </a:r>
            <a:pPr indent="0" marL="0">
              <a:buNone/>
            </a:pPr>
            <a:r>
              <a:rPr lang="en-US" sz="850" dirty="0">
                <a:solidFill>
                  <a:srgbClr val="1B2430"/>
                </a:solidFill>
                <a:latin typeface="Calibri" pitchFamily="34" charset="0"/>
                <a:ea typeface="Calibri" pitchFamily="34" charset="-122"/>
                <a:cs typeface="Calibri" pitchFamily="34" charset="-120"/>
              </a:rPr>
              <a:t>ICD 203 (analytic standards)</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archive.org › dni.gov/files/documents/ICD/ICD-203.pdf</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12   </a:t>
            </a:r>
            <a:pPr indent="0" marL="0">
              <a:buNone/>
            </a:pPr>
            <a:r>
              <a:rPr lang="en-US" sz="850" dirty="0">
                <a:solidFill>
                  <a:srgbClr val="1B2430"/>
                </a:solidFill>
                <a:latin typeface="Calibri" pitchFamily="34" charset="0"/>
                <a:ea typeface="Calibri" pitchFamily="34" charset="-122"/>
                <a:cs typeface="Calibri" pitchFamily="34" charset="-120"/>
              </a:rPr>
              <a:t>SF-86 questionnaire</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opm.gov/forms/pdf_fill/sf86.pdf</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13   </a:t>
            </a:r>
            <a:pPr indent="0" marL="0">
              <a:buNone/>
            </a:pPr>
            <a:r>
              <a:rPr lang="en-US" sz="850" dirty="0">
                <a:solidFill>
                  <a:srgbClr val="1B2430"/>
                </a:solidFill>
                <a:latin typeface="Calibri" pitchFamily="34" charset="0"/>
                <a:ea typeface="Calibri" pitchFamily="34" charset="-122"/>
                <a:cs typeface="Calibri" pitchFamily="34" charset="-120"/>
              </a:rPr>
              <a:t>Trusted Workforce 2.0 quarterly progress review, FY2026 Q3</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assets.performance.gov/files/QPR_Legacy_Metrics_(FY26-Q3).pdf</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14   </a:t>
            </a:r>
            <a:pPr indent="0" marL="0">
              <a:buNone/>
            </a:pPr>
            <a:r>
              <a:rPr lang="en-US" sz="850" dirty="0">
                <a:solidFill>
                  <a:srgbClr val="1B2430"/>
                </a:solidFill>
                <a:latin typeface="Calibri" pitchFamily="34" charset="0"/>
                <a:ea typeface="Calibri" pitchFamily="34" charset="-122"/>
                <a:cs typeface="Calibri" pitchFamily="34" charset="-120"/>
              </a:rPr>
              <a:t>FM 2-22.3, Human Intelligence Collector Operations (2006)</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irp.fas.org/doddir/army/fm2-22-3.pdf</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15   </a:t>
            </a:r>
            <a:pPr indent="0" marL="0">
              <a:buNone/>
            </a:pPr>
            <a:r>
              <a:rPr lang="en-US" sz="850" dirty="0">
                <a:solidFill>
                  <a:srgbClr val="1B2430"/>
                </a:solidFill>
                <a:latin typeface="Calibri" pitchFamily="34" charset="0"/>
                <a:ea typeface="Calibri" pitchFamily="34" charset="-122"/>
                <a:cs typeface="Calibri" pitchFamily="34" charset="-120"/>
              </a:rPr>
              <a:t>Boyd, A Discourse on Winning and Losing</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archive.org › airuniversity.af.edu/Portals/10/AUPress/Books/B_…</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16   </a:t>
            </a:r>
            <a:pPr indent="0" marL="0">
              <a:buNone/>
            </a:pPr>
            <a:r>
              <a:rPr lang="en-US" sz="850" dirty="0">
                <a:solidFill>
                  <a:srgbClr val="1B2430"/>
                </a:solidFill>
                <a:latin typeface="Calibri" pitchFamily="34" charset="0"/>
                <a:ea typeface="Calibri" pitchFamily="34" charset="-122"/>
                <a:cs typeface="Calibri" pitchFamily="34" charset="-120"/>
              </a:rPr>
              <a:t>134th ARW 14N vacancy notice, Apr 2020 (about 26 weeks)</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134arw.ang.af.mil/portals/32/134th%20intelligence%20officer%20…</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17   </a:t>
            </a:r>
            <a:pPr indent="0" marL="0">
              <a:buNone/>
            </a:pPr>
            <a:r>
              <a:rPr lang="en-US" sz="850" dirty="0">
                <a:solidFill>
                  <a:srgbClr val="1B2430"/>
                </a:solidFill>
                <a:latin typeface="Calibri" pitchFamily="34" charset="0"/>
                <a:ea typeface="Calibri" pitchFamily="34" charset="-122"/>
                <a:cs typeface="Calibri" pitchFamily="34" charset="-120"/>
              </a:rPr>
              <a:t>AFROTC AFSC Guide (about 6 months)</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uh.edu/cadetcorner/AFROTC%20AFSC%20Guide.pdf</a:t>
            </a:r>
            <a:endParaRPr lang="en-US" sz="1300" dirty="0"/>
          </a:p>
        </p:txBody>
      </p:sp>
      <p:sp>
        <p:nvSpPr>
          <p:cNvPr id="8" name="Text 5"/>
          <p:cNvSpPr txBox="1"/>
          <p:nvPr/>
        </p:nvSpPr>
        <p:spPr>
          <a:xfrm>
            <a:off x="5961888" y="274320"/>
            <a:ext cx="2743200" cy="6309360"/>
          </a:xfrm>
          <a:prstGeom prst="rect">
            <a:avLst/>
          </a:prstGeom>
          <a:noFill/>
          <a:ln/>
        </p:spPr>
        <p:txBody>
          <a:bodyPr wrap="square" lIns="0" tIns="0" rIns="0" bIns="0" rtlCol="0" anchor="t"/>
          <a:lstStyle/>
          <a:p>
            <a:pPr indent="0" marL="0">
              <a:buNone/>
            </a:pPr>
            <a:r>
              <a:rPr lang="en-US" sz="850" b="1" dirty="0">
                <a:solidFill>
                  <a:srgbClr val="12284B"/>
                </a:solidFill>
                <a:latin typeface="Calibri" pitchFamily="34" charset="0"/>
                <a:ea typeface="Calibri" pitchFamily="34" charset="-122"/>
                <a:cs typeface="Calibri" pitchFamily="34" charset="-120"/>
              </a:rPr>
              <a:t>18   </a:t>
            </a:r>
            <a:pPr indent="0" marL="0">
              <a:buNone/>
            </a:pPr>
            <a:r>
              <a:rPr lang="en-US" sz="850" dirty="0">
                <a:solidFill>
                  <a:srgbClr val="1B2430"/>
                </a:solidFill>
                <a:latin typeface="Calibri" pitchFamily="34" charset="0"/>
                <a:ea typeface="Calibri" pitchFamily="34" charset="-122"/>
                <a:cs typeface="Calibri" pitchFamily="34" charset="-120"/>
              </a:rPr>
              <a:t>"Demystifying the mystique of intel" (2007)</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af.mil/News/Article-Display/Article/143536/demystifying-the-my…</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19   </a:t>
            </a:r>
            <a:pPr indent="0" marL="0">
              <a:buNone/>
            </a:pPr>
            <a:r>
              <a:rPr lang="en-US" sz="850" dirty="0">
                <a:solidFill>
                  <a:srgbClr val="1B2430"/>
                </a:solidFill>
                <a:latin typeface="Calibri" pitchFamily="34" charset="0"/>
                <a:ea typeface="Calibri" pitchFamily="34" charset="-122"/>
                <a:cs typeface="Calibri" pitchFamily="34" charset="-120"/>
              </a:rPr>
              <a:t>Air Combat Command fact sheet</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acc.af.mil/About-Us/Fact-Sheets/Display/Article/199115/acc/</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20   </a:t>
            </a:r>
            <a:pPr indent="0" marL="0">
              <a:buNone/>
            </a:pPr>
            <a:r>
              <a:rPr lang="en-US" sz="850" dirty="0">
                <a:solidFill>
                  <a:srgbClr val="1B2430"/>
                </a:solidFill>
                <a:latin typeface="Calibri" pitchFamily="34" charset="0"/>
                <a:ea typeface="Calibri" pitchFamily="34" charset="-122"/>
                <a:cs typeface="Calibri" pitchFamily="34" charset="-120"/>
              </a:rPr>
              <a:t>NASIC fact sheet and heritage page</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nasic.af.mil/About-Us/Fact-Sheets/Display/Article/611841/natio…</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21   </a:t>
            </a:r>
            <a:pPr indent="0" marL="0">
              <a:buNone/>
            </a:pPr>
            <a:r>
              <a:rPr lang="en-US" sz="850" dirty="0">
                <a:solidFill>
                  <a:srgbClr val="1B2430"/>
                </a:solidFill>
                <a:latin typeface="Calibri" pitchFamily="34" charset="0"/>
                <a:ea typeface="Calibri" pitchFamily="34" charset="-122"/>
                <a:cs typeface="Calibri" pitchFamily="34" charset="-120"/>
              </a:rPr>
              <a:t>DIA, NGA, NSA pages</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intelligence.gov/how-the-ic-works/our-organizations/dia</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22   </a:t>
            </a:r>
            <a:pPr indent="0" marL="0">
              <a:buNone/>
            </a:pPr>
            <a:r>
              <a:rPr lang="en-US" sz="850" dirty="0">
                <a:solidFill>
                  <a:srgbClr val="1B2430"/>
                </a:solidFill>
                <a:latin typeface="Calibri" pitchFamily="34" charset="0"/>
                <a:ea typeface="Calibri" pitchFamily="34" charset="-122"/>
                <a:cs typeface="Calibri" pitchFamily="34" charset="-120"/>
              </a:rPr>
              <a:t>AFOCD, 31 Jan 2010 (officer experience sets</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rss.valdosta.edu/afrotc/documents/AFOCD-Jan10.pdf</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23   </a:t>
            </a:r>
            <a:pPr indent="0" marL="0">
              <a:buNone/>
            </a:pPr>
            <a:r>
              <a:rPr lang="en-US" sz="850" dirty="0">
                <a:solidFill>
                  <a:srgbClr val="1B2430"/>
                </a:solidFill>
                <a:latin typeface="Calibri" pitchFamily="34" charset="0"/>
                <a:ea typeface="Calibri" pitchFamily="34" charset="-122"/>
                <a:cs typeface="Calibri" pitchFamily="34" charset="-120"/>
              </a:rPr>
              <a:t>Air Force mission statement (8 Apr 2021)</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af.mil/News/Article-Display/Article/2565837/air-force-unveils-…</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24   </a:t>
            </a:r>
            <a:pPr indent="0" marL="0">
              <a:buNone/>
            </a:pPr>
            <a:r>
              <a:rPr lang="en-US" sz="850" dirty="0">
                <a:solidFill>
                  <a:srgbClr val="1B2430"/>
                </a:solidFill>
                <a:latin typeface="Calibri" pitchFamily="34" charset="0"/>
                <a:ea typeface="Calibri" pitchFamily="34" charset="-122"/>
                <a:cs typeface="Calibri" pitchFamily="34" charset="-120"/>
              </a:rPr>
              <a:t>"The military’s OODA loop will be here forever"</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taskandpurpose.com/military-ooda-loop-forever/</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25   </a:t>
            </a:r>
            <a:pPr indent="0" marL="0">
              <a:buNone/>
            </a:pPr>
            <a:r>
              <a:rPr lang="en-US" sz="850" dirty="0">
                <a:solidFill>
                  <a:srgbClr val="1B2430"/>
                </a:solidFill>
                <a:latin typeface="Calibri" pitchFamily="34" charset="0"/>
                <a:ea typeface="Calibri" pitchFamily="34" charset="-122"/>
                <a:cs typeface="Calibri" pitchFamily="34" charset="-120"/>
              </a:rPr>
              <a:t>AFI 36-2501 (officer promotions)</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archive.org › static.e-publishing.af.mil/production/1/af_a1/pu…</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26   </a:t>
            </a:r>
            <a:pPr indent="0" marL="0">
              <a:buNone/>
            </a:pPr>
            <a:r>
              <a:rPr lang="en-US" sz="850" dirty="0">
                <a:solidFill>
                  <a:srgbClr val="1B2430"/>
                </a:solidFill>
                <a:latin typeface="Calibri" pitchFamily="34" charset="0"/>
                <a:ea typeface="Calibri" pitchFamily="34" charset="-122"/>
                <a:cs typeface="Calibri" pitchFamily="34" charset="-120"/>
              </a:rPr>
              <a:t>RAND TR-628, Improving Development and Utilization of…</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rand.org/content/dam/rand/pubs/technical_reports/2009/RAND_TR6…</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27   </a:t>
            </a:r>
            <a:pPr indent="0" marL="0">
              <a:buNone/>
            </a:pPr>
            <a:r>
              <a:rPr lang="en-US" sz="850" dirty="0">
                <a:solidFill>
                  <a:srgbClr val="1B2430"/>
                </a:solidFill>
                <a:latin typeface="Calibri" pitchFamily="34" charset="0"/>
                <a:ea typeface="Calibri" pitchFamily="34" charset="-122"/>
                <a:cs typeface="Calibri" pitchFamily="34" charset="-120"/>
              </a:rPr>
              <a:t>Intelligence Threat Handbook, Part 2 (1996)</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irp.fas.org/nsa/ioss/threat96/part02.htm</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28   </a:t>
            </a:r>
            <a:pPr indent="0" marL="0">
              <a:buNone/>
            </a:pPr>
            <a:r>
              <a:rPr lang="en-US" sz="850" dirty="0">
                <a:solidFill>
                  <a:srgbClr val="1B2430"/>
                </a:solidFill>
                <a:latin typeface="Calibri" pitchFamily="34" charset="0"/>
                <a:ea typeface="Calibri" pitchFamily="34" charset="-122"/>
                <a:cs typeface="Calibri" pitchFamily="34" charset="-120"/>
              </a:rPr>
              <a:t>IC OSINT Strategy 2024–2026</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archive.org › dni.gov/files/ODNI/documents/IC_OSINT_Strategy.pdf</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29   </a:t>
            </a:r>
            <a:pPr indent="0" marL="0">
              <a:buNone/>
            </a:pPr>
            <a:r>
              <a:rPr lang="en-US" sz="850" dirty="0">
                <a:solidFill>
                  <a:srgbClr val="1B2430"/>
                </a:solidFill>
                <a:latin typeface="Calibri" pitchFamily="34" charset="0"/>
                <a:ea typeface="Calibri" pitchFamily="34" charset="-122"/>
                <a:cs typeface="Calibri" pitchFamily="34" charset="-120"/>
              </a:rPr>
              <a:t>Guard vacancy notices using the "Fusion Analyst" title…</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massnationalguard.org/wp-content/uploads/2026/01/20260212-AIR-…</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30   </a:t>
            </a:r>
            <a:pPr indent="0" marL="0">
              <a:buNone/>
            </a:pPr>
            <a:r>
              <a:rPr lang="en-US" sz="850" dirty="0">
                <a:solidFill>
                  <a:srgbClr val="1B2430"/>
                </a:solidFill>
                <a:latin typeface="Calibri" pitchFamily="34" charset="0"/>
                <a:ea typeface="Calibri" pitchFamily="34" charset="-122"/>
                <a:cs typeface="Calibri" pitchFamily="34" charset="-120"/>
              </a:rPr>
              <a:t>Executive Order 13526</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archives.gov/isoo/policy-documents/cnsi-eo.html</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31   </a:t>
            </a:r>
            <a:pPr indent="0" marL="0">
              <a:buNone/>
            </a:pPr>
            <a:r>
              <a:rPr lang="en-US" sz="850" dirty="0">
                <a:solidFill>
                  <a:srgbClr val="1B2430"/>
                </a:solidFill>
                <a:latin typeface="Calibri" pitchFamily="34" charset="0"/>
                <a:ea typeface="Calibri" pitchFamily="34" charset="-122"/>
                <a:cs typeface="Calibri" pitchFamily="34" charset="-120"/>
              </a:rPr>
              <a:t>A Tradecraft Primer: Structured Analytic Techniques (2009)</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archive.org › cia.gov/resources/csi/static/Tradecraft-Primer-a…</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32   </a:t>
            </a:r>
            <a:pPr indent="0" marL="0">
              <a:buNone/>
            </a:pPr>
            <a:r>
              <a:rPr lang="en-US" sz="850" dirty="0">
                <a:solidFill>
                  <a:srgbClr val="1B2430"/>
                </a:solidFill>
                <a:latin typeface="Calibri" pitchFamily="34" charset="0"/>
                <a:ea typeface="Calibri" pitchFamily="34" charset="-122"/>
                <a:cs typeface="Calibri" pitchFamily="34" charset="-120"/>
              </a:rPr>
              <a:t>"Arming aircrew with intel" (RAF Lakenheath, 2019)</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lakenheath.af.mil/News/Article-Display/Article/1986117/arming-…</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33   </a:t>
            </a:r>
            <a:pPr indent="0" marL="0">
              <a:buNone/>
            </a:pPr>
            <a:r>
              <a:rPr lang="en-US" sz="850" dirty="0">
                <a:solidFill>
                  <a:srgbClr val="1B2430"/>
                </a:solidFill>
                <a:latin typeface="Calibri" pitchFamily="34" charset="0"/>
                <a:ea typeface="Calibri" pitchFamily="34" charset="-122"/>
                <a:cs typeface="Calibri" pitchFamily="34" charset="-120"/>
              </a:rPr>
              <a:t>"Intel cell drives force integration forward"</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littlerock.af.mil/News/Article-Display/Article/1791190/intel-c…</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34   </a:t>
            </a:r>
            <a:pPr indent="0" marL="0">
              <a:buNone/>
            </a:pPr>
            <a:r>
              <a:rPr lang="en-US" sz="850" dirty="0">
                <a:solidFill>
                  <a:srgbClr val="1B2430"/>
                </a:solidFill>
                <a:latin typeface="Calibri" pitchFamily="34" charset="0"/>
                <a:ea typeface="Calibri" pitchFamily="34" charset="-122"/>
                <a:cs typeface="Calibri" pitchFamily="34" charset="-120"/>
              </a:rPr>
              <a:t>ICD 705</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intelligence.gov/assets/documents/intelligence-community-direc…</a:t>
            </a:r>
            <a:endParaRPr lang="en-US" sz="1300" dirty="0"/>
          </a:p>
        </p:txBody>
      </p:sp>
      <p:sp>
        <p:nvSpPr>
          <p:cNvPr id="9" name="Text 6"/>
          <p:cNvSpPr txBox="1"/>
          <p:nvPr/>
        </p:nvSpPr>
        <p:spPr>
          <a:xfrm>
            <a:off x="8814816" y="274320"/>
            <a:ext cx="2743200" cy="6309360"/>
          </a:xfrm>
          <a:prstGeom prst="rect">
            <a:avLst/>
          </a:prstGeom>
          <a:noFill/>
          <a:ln/>
        </p:spPr>
        <p:txBody>
          <a:bodyPr wrap="square" lIns="0" tIns="0" rIns="0" bIns="0" rtlCol="0" anchor="t"/>
          <a:lstStyle/>
          <a:p>
            <a:pPr indent="0" marL="0">
              <a:buNone/>
            </a:pPr>
            <a:r>
              <a:rPr lang="en-US" sz="850" b="1" dirty="0">
                <a:solidFill>
                  <a:srgbClr val="12284B"/>
                </a:solidFill>
                <a:latin typeface="Calibri" pitchFamily="34" charset="0"/>
                <a:ea typeface="Calibri" pitchFamily="34" charset="-122"/>
                <a:cs typeface="Calibri" pitchFamily="34" charset="-120"/>
              </a:rPr>
              <a:t>35   </a:t>
            </a:r>
            <a:pPr indent="0" marL="0">
              <a:buNone/>
            </a:pPr>
            <a:r>
              <a:rPr lang="en-US" sz="850" dirty="0">
                <a:solidFill>
                  <a:srgbClr val="1B2430"/>
                </a:solidFill>
                <a:latin typeface="Calibri" pitchFamily="34" charset="0"/>
                <a:ea typeface="Calibri" pitchFamily="34" charset="-122"/>
                <a:cs typeface="Calibri" pitchFamily="34" charset="-120"/>
              </a:rPr>
              <a:t>FRUS, Tehran Conference minutes, 30 Nov 1943</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history.state.gov/historicaldocuments/frus1943CairoTehran/d374</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36   </a:t>
            </a:r>
            <a:pPr indent="0" marL="0">
              <a:buNone/>
            </a:pPr>
            <a:r>
              <a:rPr lang="en-US" sz="850" dirty="0">
                <a:solidFill>
                  <a:srgbClr val="1B2430"/>
                </a:solidFill>
                <a:latin typeface="Calibri" pitchFamily="34" charset="0"/>
                <a:ea typeface="Calibri" pitchFamily="34" charset="-122"/>
                <a:cs typeface="Calibri" pitchFamily="34" charset="-120"/>
              </a:rPr>
              <a:t>480th ISR Wing and AF DCGS fact sheets</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16af.af.mil/About-Us/Unit-Fact-Sheets/Display/Article/1963035/…</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37   </a:t>
            </a:r>
            <a:pPr indent="0" marL="0">
              <a:buNone/>
            </a:pPr>
            <a:r>
              <a:rPr lang="en-US" sz="850" dirty="0">
                <a:solidFill>
                  <a:srgbClr val="1B2430"/>
                </a:solidFill>
                <a:latin typeface="Calibri" pitchFamily="34" charset="0"/>
                <a:ea typeface="Calibri" pitchFamily="34" charset="-122"/>
                <a:cs typeface="Calibri" pitchFamily="34" charset="-120"/>
              </a:rPr>
              <a:t>AIA Instruction 84-102 (Freedom Through Vigilance)</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irp.fas.org/doddir/usaf/aia/i84-0102.htm</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38   </a:t>
            </a:r>
            <a:pPr indent="0" marL="0">
              <a:buNone/>
            </a:pPr>
            <a:r>
              <a:rPr lang="en-US" sz="850" dirty="0">
                <a:solidFill>
                  <a:srgbClr val="1B2430"/>
                </a:solidFill>
                <a:latin typeface="Calibri" pitchFamily="34" charset="0"/>
                <a:ea typeface="Calibri" pitchFamily="34" charset="-122"/>
                <a:cs typeface="Calibri" pitchFamily="34" charset="-120"/>
              </a:rPr>
              <a:t>DoD Dictionary, abbreviations (A-2, J-2, G-2, S-2, N-2)</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archive.org › jcs.mil/Portals/36/Documents/Doctrine/pubs/dicti…</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39   </a:t>
            </a:r>
            <a:pPr indent="0" marL="0">
              <a:buNone/>
            </a:pPr>
            <a:r>
              <a:rPr lang="en-US" sz="850" dirty="0">
                <a:solidFill>
                  <a:srgbClr val="1B2430"/>
                </a:solidFill>
                <a:latin typeface="Calibri" pitchFamily="34" charset="0"/>
                <a:ea typeface="Calibri" pitchFamily="34" charset="-122"/>
                <a:cs typeface="Calibri" pitchFamily="34" charset="-120"/>
              </a:rPr>
              <a:t>Sixteenth Air Force fact sheet</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16af.af.mil/About-Us/Unit-Fact-Sheets/Display/Article/1957318/…</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40   </a:t>
            </a:r>
            <a:pPr indent="0" marL="0">
              <a:buNone/>
            </a:pPr>
            <a:r>
              <a:rPr lang="en-US" sz="850" dirty="0">
                <a:solidFill>
                  <a:srgbClr val="1B2430"/>
                </a:solidFill>
                <a:latin typeface="Calibri" pitchFamily="34" charset="0"/>
                <a:ea typeface="Calibri" pitchFamily="34" charset="-122"/>
                <a:cs typeface="Calibri" pitchFamily="34" charset="-120"/>
              </a:rPr>
              <a:t>E-7 Wedgetail reporting: The War Zone (2026)</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twz.com/air/pentagons-mindset-on-e-7-radar-aircraft-it-tried-t…</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41   </a:t>
            </a:r>
            <a:pPr indent="0" marL="0">
              <a:buNone/>
            </a:pPr>
            <a:r>
              <a:rPr lang="en-US" sz="850" dirty="0">
                <a:solidFill>
                  <a:srgbClr val="1B2430"/>
                </a:solidFill>
                <a:latin typeface="Calibri" pitchFamily="34" charset="0"/>
                <a:ea typeface="Calibri" pitchFamily="34" charset="-122"/>
                <a:cs typeface="Calibri" pitchFamily="34" charset="-120"/>
              </a:rPr>
              <a:t>Operation Bolo fact sheet</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nationalmuseum.af.mil/Visit/Museum-Exhibits/Fact-Sheets/Displa…</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42   </a:t>
            </a:r>
            <a:pPr indent="0" marL="0">
              <a:buNone/>
            </a:pPr>
            <a:r>
              <a:rPr lang="en-US" sz="850" dirty="0">
                <a:solidFill>
                  <a:srgbClr val="1B2430"/>
                </a:solidFill>
                <a:latin typeface="Calibri" pitchFamily="34" charset="0"/>
                <a:ea typeface="Calibri" pitchFamily="34" charset="-122"/>
                <a:cs typeface="Calibri" pitchFamily="34" charset="-120"/>
              </a:rPr>
              <a:t>Foreign Relations of the United States 1961–1963, Vol. XI</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history.state.gov/historicaldocuments/frus1961-63v11/d16</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43   </a:t>
            </a:r>
            <a:pPr indent="0" marL="0">
              <a:buNone/>
            </a:pPr>
            <a:r>
              <a:rPr lang="en-US" sz="850" dirty="0">
                <a:solidFill>
                  <a:srgbClr val="1B2430"/>
                </a:solidFill>
                <a:latin typeface="Calibri" pitchFamily="34" charset="0"/>
                <a:ea typeface="Calibri" pitchFamily="34" charset="-122"/>
                <a:cs typeface="Calibri" pitchFamily="34" charset="-120"/>
              </a:rPr>
              <a:t>"A look back: 30th anniversary of Operation Desert Storm"</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eglin.af.mil/News/Article-Display/Article/2518869/a-look-back-…</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44   </a:t>
            </a:r>
            <a:pPr indent="0" marL="0">
              <a:buNone/>
            </a:pPr>
            <a:r>
              <a:rPr lang="en-US" sz="850" dirty="0">
                <a:solidFill>
                  <a:srgbClr val="1B2430"/>
                </a:solidFill>
                <a:latin typeface="Calibri" pitchFamily="34" charset="0"/>
                <a:ea typeface="Calibri" pitchFamily="34" charset="-122"/>
                <a:cs typeface="Calibri" pitchFamily="34" charset="-120"/>
              </a:rPr>
              <a:t>"DoD personnel now subject to continuous vetting" (2021)</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defenseone.com/defense-systems/2021/10/dod-personnel-now-subje…</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45   </a:t>
            </a:r>
            <a:pPr indent="0" marL="0">
              <a:buNone/>
            </a:pPr>
            <a:r>
              <a:rPr lang="en-US" sz="850" dirty="0">
                <a:solidFill>
                  <a:srgbClr val="1B2430"/>
                </a:solidFill>
                <a:latin typeface="Calibri" pitchFamily="34" charset="0"/>
                <a:ea typeface="Calibri" pitchFamily="34" charset="-122"/>
                <a:cs typeface="Calibri" pitchFamily="34" charset="-120"/>
              </a:rPr>
              <a:t>AFBCMR decision BC-2023-00363</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boards.law.af.mil/AF/BCMR/CY2023/BC-2023-00363%20BC-2023-00363…</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46   </a:t>
            </a:r>
            <a:pPr indent="0" marL="0">
              <a:buNone/>
            </a:pPr>
            <a:r>
              <a:rPr lang="en-US" sz="850" dirty="0">
                <a:solidFill>
                  <a:srgbClr val="1B2430"/>
                </a:solidFill>
                <a:latin typeface="Calibri" pitchFamily="34" charset="0"/>
                <a:ea typeface="Calibri" pitchFamily="34" charset="-122"/>
                <a:cs typeface="Calibri" pitchFamily="34" charset="-120"/>
              </a:rPr>
              <a:t>Commissioning numbers: AFROTC and OTS fact sheets</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af.mil/About-Us/Fact-Sheets/Display/Article/104478/air-force-r…</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47   </a:t>
            </a:r>
            <a:pPr indent="0" marL="0">
              <a:buNone/>
            </a:pPr>
            <a:r>
              <a:rPr lang="en-US" sz="850" dirty="0">
                <a:solidFill>
                  <a:srgbClr val="1B2430"/>
                </a:solidFill>
                <a:latin typeface="Calibri" pitchFamily="34" charset="0"/>
                <a:ea typeface="Calibri" pitchFamily="34" charset="-122"/>
                <a:cs typeface="Calibri" pitchFamily="34" charset="-120"/>
              </a:rPr>
              <a:t>"8 Airmen needed for new human intelligence AFSC" (2015)</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airforcetimes.com/education-transition/jobs/2015/09/07/8-airme…</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48   </a:t>
            </a:r>
            <a:pPr indent="0" marL="0">
              <a:buNone/>
            </a:pPr>
            <a:r>
              <a:rPr lang="en-US" sz="850" dirty="0">
                <a:solidFill>
                  <a:srgbClr val="1B2430"/>
                </a:solidFill>
                <a:latin typeface="Calibri" pitchFamily="34" charset="0"/>
                <a:ea typeface="Calibri" pitchFamily="34" charset="-122"/>
                <a:cs typeface="Calibri" pitchFamily="34" charset="-120"/>
              </a:rPr>
              <a:t>Air Force fact sheets: U-2, RQ-4, MQ-9, RC-135 Rivet Joint</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af.mil/About-Us/Fact-Sheets/Display/Article/104560/u-2stu-2s/</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49   </a:t>
            </a:r>
            <a:pPr indent="0" marL="0">
              <a:buNone/>
            </a:pPr>
            <a:r>
              <a:rPr lang="en-US" sz="850" dirty="0">
                <a:solidFill>
                  <a:srgbClr val="1B2430"/>
                </a:solidFill>
                <a:latin typeface="Calibri" pitchFamily="34" charset="0"/>
                <a:ea typeface="Calibri" pitchFamily="34" charset="-122"/>
                <a:cs typeface="Calibri" pitchFamily="34" charset="-120"/>
              </a:rPr>
              <a:t>DoD China Military Power Report 2024</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archive.org › media.defense.gov/2024/Dec/18/2003615520/-1/-1/0…</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50   </a:t>
            </a:r>
            <a:pPr indent="0" marL="0">
              <a:buNone/>
            </a:pPr>
            <a:r>
              <a:rPr lang="en-US" sz="850" dirty="0">
                <a:solidFill>
                  <a:srgbClr val="1B2430"/>
                </a:solidFill>
                <a:latin typeface="Calibri" pitchFamily="34" charset="0"/>
                <a:ea typeface="Calibri" pitchFamily="34" charset="-122"/>
                <a:cs typeface="Calibri" pitchFamily="34" charset="-120"/>
              </a:rPr>
              <a:t>"Shaping Tomorrow’s ISR Warriors"</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dvidshub.net/news/printable/543491</a:t>
            </a:r>
            <a:endParaRPr lang="en-US" sz="1300" dirty="0"/>
          </a:p>
          <a:p>
            <a:pPr indent="0" marL="0">
              <a:buNone/>
            </a:pPr>
            <a:r>
              <a:rPr lang="en-US" sz="850" b="1" dirty="0">
                <a:solidFill>
                  <a:srgbClr val="12284B"/>
                </a:solidFill>
                <a:latin typeface="Calibri" pitchFamily="34" charset="0"/>
                <a:ea typeface="Calibri" pitchFamily="34" charset="-122"/>
                <a:cs typeface="Calibri" pitchFamily="34" charset="-120"/>
              </a:rPr>
              <a:t>51   </a:t>
            </a:r>
            <a:pPr indent="0" marL="0">
              <a:buNone/>
            </a:pPr>
            <a:r>
              <a:rPr lang="en-US" sz="850" dirty="0">
                <a:solidFill>
                  <a:srgbClr val="1B2430"/>
                </a:solidFill>
                <a:latin typeface="Calibri" pitchFamily="34" charset="0"/>
                <a:ea typeface="Calibri" pitchFamily="34" charset="-122"/>
                <a:cs typeface="Calibri" pitchFamily="34" charset="-120"/>
              </a:rPr>
              <a:t>DefenseScoop: Air Force splitting intelligence and cyber</a:t>
            </a:r>
            <a:endParaRPr lang="en-US" sz="1300" dirty="0"/>
          </a:p>
          <a:p>
            <a:pPr indent="0" marL="0">
              <a:spcAft>
                <a:spcPts val="300"/>
              </a:spcAft>
              <a:buNone/>
            </a:pPr>
            <a:r>
              <a:rPr lang="en-US" sz="750" dirty="0">
                <a:solidFill>
                  <a:srgbClr val="5C6B82"/>
                </a:solidFill>
                <a:latin typeface="Calibri" pitchFamily="34" charset="0"/>
                <a:ea typeface="Calibri" pitchFamily="34" charset="-122"/>
                <a:cs typeface="Calibri" pitchFamily="34" charset="-120"/>
              </a:rPr>
              <a:t>      defensescoop.com/2024/08/28/air-force-splitting-up-intelligenc…</a:t>
            </a:r>
            <a:endParaRPr lang="en-US" sz="1300" dirty="0"/>
          </a:p>
        </p:txBody>
      </p:sp>
      <p:sp>
        <p:nvSpPr>
          <p:cNvPr id="10" name="Text 7"/>
          <p:cNvSpPr txBox="1"/>
          <p:nvPr/>
        </p:nvSpPr>
        <p:spPr>
          <a:xfrm>
            <a:off x="11155680" y="6492240"/>
            <a:ext cx="731520" cy="228600"/>
          </a:xfrm>
          <a:prstGeom prst="rect">
            <a:avLst/>
          </a:prstGeom>
          <a:noFill/>
          <a:ln/>
        </p:spPr>
        <p:txBody>
          <a:bodyPr wrap="square" lIns="0" tIns="0" rIns="0" bIns="0" rtlCol="0" anchor="t"/>
          <a:lstStyle/>
          <a:p>
            <a:pPr algn="r" indent="0" marL="0">
              <a:buNone/>
            </a:pPr>
            <a:r>
              <a:rPr lang="en-US" sz="900" dirty="0">
                <a:solidFill>
                  <a:srgbClr val="5C6B8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B34"/>
        </a:solidFill>
      </p:bgPr>
    </p:bg>
    <p:spTree>
      <p:nvGrpSpPr>
        <p:cNvPr id="1" name=""/>
        <p:cNvGrpSpPr/>
        <p:nvPr/>
      </p:nvGrpSpPr>
      <p:grpSpPr>
        <a:xfrm>
          <a:off x="0" y="0"/>
          <a:ext cx="0" cy="0"/>
          <a:chOff x="0" y="0"/>
          <a:chExt cx="0" cy="0"/>
        </a:xfrm>
      </p:grpSpPr>
      <p:sp>
        <p:nvSpPr>
          <p:cNvPr id="3" name="Text 0"/>
          <p:cNvSpPr txBox="1"/>
          <p:nvPr/>
        </p:nvSpPr>
        <p:spPr>
          <a:xfrm>
            <a:off x="548640" y="365760"/>
            <a:ext cx="8229600" cy="320040"/>
          </a:xfrm>
          <a:prstGeom prst="rect">
            <a:avLst/>
          </a:prstGeom>
          <a:noFill/>
          <a:ln/>
        </p:spPr>
        <p:txBody>
          <a:bodyPr wrap="square" lIns="0" tIns="0" rIns="0" bIns="0" rtlCol="0" anchor="ctr"/>
          <a:lstStyle/>
          <a:p>
            <a:pPr indent="0" marL="0">
              <a:buNone/>
            </a:pPr>
            <a:r>
              <a:rPr lang="en-US" sz="1300" b="1" spc="300" kern="0" dirty="0">
                <a:solidFill>
                  <a:srgbClr val="FFC72C"/>
                </a:solidFill>
                <a:latin typeface="Calibri" pitchFamily="34" charset="0"/>
                <a:ea typeface="Calibri" pitchFamily="34" charset="-122"/>
                <a:cs typeface="Calibri" pitchFamily="34" charset="-120"/>
              </a:rPr>
              <a:t>IN THEIR OWN WORDS</a:t>
            </a:r>
            <a:endParaRPr lang="en-US" sz="1300" dirty="0"/>
          </a:p>
        </p:txBody>
      </p:sp>
      <p:sp>
        <p:nvSpPr>
          <p:cNvPr id="4" name="Text 1"/>
          <p:cNvSpPr txBox="1"/>
          <p:nvPr/>
        </p:nvSpPr>
        <p:spPr>
          <a:xfrm>
            <a:off x="11155680" y="6400800"/>
            <a:ext cx="731520" cy="274320"/>
          </a:xfrm>
          <a:prstGeom prst="rect">
            <a:avLst/>
          </a:prstGeom>
          <a:noFill/>
          <a:ln/>
        </p:spPr>
        <p:txBody>
          <a:bodyPr wrap="square" lIns="0" tIns="0" rIns="0" bIns="0" rtlCol="0" anchor="ctr"/>
          <a:lstStyle/>
          <a:p>
            <a:pPr algn="r" indent="0" marL="0">
              <a:buNone/>
            </a:pPr>
            <a:r>
              <a:rPr lang="en-US" sz="900" dirty="0">
                <a:solidFill>
                  <a:srgbClr val="8CA3C7"/>
                </a:solidFill>
                <a:latin typeface="Calibri" pitchFamily="34" charset="0"/>
                <a:ea typeface="Calibri" pitchFamily="34" charset="-122"/>
                <a:cs typeface="Calibri" pitchFamily="34" charset="-120"/>
              </a:rPr>
              <a:t>14</a:t>
            </a:r>
            <a:endParaRPr lang="en-US" sz="900" dirty="0"/>
          </a:p>
        </p:txBody>
      </p:sp>
      <p:sp>
        <p:nvSpPr>
          <p:cNvPr id="5" name="Text 2"/>
          <p:cNvSpPr txBox="1"/>
          <p:nvPr/>
        </p:nvSpPr>
        <p:spPr>
          <a:xfrm>
            <a:off x="548640" y="658368"/>
            <a:ext cx="10972800" cy="365760"/>
          </a:xfrm>
          <a:prstGeom prst="rect">
            <a:avLst/>
          </a:prstGeom>
          <a:noFill/>
          <a:ln/>
        </p:spPr>
        <p:txBody>
          <a:bodyPr wrap="square" lIns="0" tIns="0" rIns="0" bIns="0" rtlCol="0" anchor="t"/>
          <a:lstStyle/>
          <a:p>
            <a:pPr indent="0" marL="0">
              <a:buNone/>
            </a:pPr>
            <a:r>
              <a:rPr lang="en-US" sz="1400" i="1" dirty="0">
                <a:solidFill>
                  <a:srgbClr val="8CA3C7"/>
                </a:solidFill>
                <a:latin typeface="Calibri" pitchFamily="34" charset="0"/>
                <a:ea typeface="Calibri" pitchFamily="34" charset="-122"/>
                <a:cs typeface="Calibri" pitchFamily="34" charset="-120"/>
              </a:rPr>
              <a:t>What history’s strategists — and America’s own — said about intelligence</a:t>
            </a:r>
            <a:endParaRPr lang="en-US" sz="1400" dirty="0"/>
          </a:p>
        </p:txBody>
      </p:sp>
      <p:sp>
        <p:nvSpPr>
          <p:cNvPr id="6" name="Text 3"/>
          <p:cNvSpPr txBox="1"/>
          <p:nvPr/>
        </p:nvSpPr>
        <p:spPr>
          <a:xfrm rot="21120000">
            <a:off x="502920" y="896112"/>
            <a:ext cx="2834640" cy="822960"/>
          </a:xfrm>
          <a:prstGeom prst="rect">
            <a:avLst/>
          </a:prstGeom>
          <a:noFill/>
          <a:ln/>
        </p:spPr>
        <p:txBody>
          <a:bodyPr wrap="square" lIns="0" tIns="0" rIns="0" bIns="0" rtlCol="0" anchor="t"/>
          <a:lstStyle/>
          <a:p>
            <a:pPr indent="0" marL="0">
              <a:buNone/>
            </a:pPr>
            <a:r>
              <a:rPr lang="en-US" sz="950" i="1" dirty="0">
                <a:solidFill>
                  <a:srgbClr val="5B7AA6"/>
                </a:solidFill>
                <a:latin typeface="Cambria" pitchFamily="34" charset="0"/>
                <a:ea typeface="Cambria" pitchFamily="34" charset="-122"/>
                <a:cs typeface="Cambria" pitchFamily="34" charset="-120"/>
              </a:rPr>
              <a:t>“All warfare is based on deception.”</a:t>
            </a:r>
            <a:endParaRPr lang="en-US" sz="950" dirty="0"/>
          </a:p>
          <a:p>
            <a:pPr indent="0" marL="0">
              <a:buNone/>
            </a:pPr>
            <a:r>
              <a:rPr lang="en-US" sz="800" dirty="0">
                <a:solidFill>
                  <a:srgbClr val="3C5080"/>
                </a:solidFill>
                <a:latin typeface="Cambria" pitchFamily="34" charset="0"/>
                <a:ea typeface="Cambria" pitchFamily="34" charset="-122"/>
                <a:cs typeface="Cambria" pitchFamily="34" charset="-120"/>
              </a:rPr>
              <a:t>— Sun Tzu, The Art of War, Ch. 1</a:t>
            </a:r>
            <a:endParaRPr lang="en-US" sz="950" dirty="0"/>
          </a:p>
        </p:txBody>
      </p:sp>
      <p:sp>
        <p:nvSpPr>
          <p:cNvPr id="7" name="Text 4"/>
          <p:cNvSpPr txBox="1"/>
          <p:nvPr/>
        </p:nvSpPr>
        <p:spPr>
          <a:xfrm rot="540000">
            <a:off x="8778240" y="896112"/>
            <a:ext cx="2880360" cy="822960"/>
          </a:xfrm>
          <a:prstGeom prst="rect">
            <a:avLst/>
          </a:prstGeom>
          <a:noFill/>
          <a:ln/>
        </p:spPr>
        <p:txBody>
          <a:bodyPr wrap="square" lIns="0" tIns="0" rIns="0" bIns="0" rtlCol="0" anchor="t"/>
          <a:lstStyle/>
          <a:p>
            <a:pPr indent="0" marL="0">
              <a:buNone/>
            </a:pPr>
            <a:r>
              <a:rPr lang="en-US" sz="950" i="1" dirty="0">
                <a:solidFill>
                  <a:srgbClr val="5B7AA6"/>
                </a:solidFill>
                <a:latin typeface="Cambria" pitchFamily="34" charset="0"/>
                <a:ea typeface="Cambria" pitchFamily="34" charset="-122"/>
                <a:cs typeface="Cambria" pitchFamily="34" charset="-120"/>
              </a:rPr>
              <a:t>“Knowledge itself is power.”</a:t>
            </a:r>
            <a:endParaRPr lang="en-US" sz="950" dirty="0"/>
          </a:p>
          <a:p>
            <a:pPr indent="0" marL="0">
              <a:buNone/>
            </a:pPr>
            <a:r>
              <a:rPr lang="en-US" sz="800" dirty="0">
                <a:solidFill>
                  <a:srgbClr val="3C5080"/>
                </a:solidFill>
                <a:latin typeface="Cambria" pitchFamily="34" charset="0"/>
                <a:ea typeface="Cambria" pitchFamily="34" charset="-122"/>
                <a:cs typeface="Cambria" pitchFamily="34" charset="-120"/>
              </a:rPr>
              <a:t>— Francis Bacon, Meditationes Sacrae, 1597</a:t>
            </a:r>
            <a:endParaRPr lang="en-US" sz="950" dirty="0"/>
          </a:p>
        </p:txBody>
      </p:sp>
      <p:sp>
        <p:nvSpPr>
          <p:cNvPr id="8" name="Text 5"/>
          <p:cNvSpPr txBox="1"/>
          <p:nvPr/>
        </p:nvSpPr>
        <p:spPr>
          <a:xfrm rot="20820000">
            <a:off x="164592" y="1783080"/>
            <a:ext cx="1874520" cy="822960"/>
          </a:xfrm>
          <a:prstGeom prst="rect">
            <a:avLst/>
          </a:prstGeom>
          <a:noFill/>
          <a:ln/>
        </p:spPr>
        <p:txBody>
          <a:bodyPr wrap="square" lIns="0" tIns="0" rIns="0" bIns="0" rtlCol="0" anchor="t"/>
          <a:lstStyle/>
          <a:p>
            <a:pPr indent="0" marL="0">
              <a:buNone/>
            </a:pPr>
            <a:r>
              <a:rPr lang="en-US" sz="950" i="1" dirty="0">
                <a:solidFill>
                  <a:srgbClr val="5B7AA6"/>
                </a:solidFill>
                <a:latin typeface="Cambria" pitchFamily="34" charset="0"/>
                <a:ea typeface="Cambria" pitchFamily="34" charset="-122"/>
                <a:cs typeface="Cambria" pitchFamily="34" charset="-120"/>
              </a:rPr>
              <a:t>“If you know neither the enemy nor yourself, you will succumb in every battle.”</a:t>
            </a:r>
            <a:endParaRPr lang="en-US" sz="950" dirty="0"/>
          </a:p>
          <a:p>
            <a:pPr indent="0" marL="0">
              <a:buNone/>
            </a:pPr>
            <a:r>
              <a:rPr lang="en-US" sz="800" dirty="0">
                <a:solidFill>
                  <a:srgbClr val="3C5080"/>
                </a:solidFill>
                <a:latin typeface="Cambria" pitchFamily="34" charset="0"/>
                <a:ea typeface="Cambria" pitchFamily="34" charset="-122"/>
                <a:cs typeface="Cambria" pitchFamily="34" charset="-120"/>
              </a:rPr>
              <a:t>— Sun Tzu, The Art of War, Ch. 3</a:t>
            </a:r>
            <a:endParaRPr lang="en-US" sz="950" dirty="0"/>
          </a:p>
        </p:txBody>
      </p:sp>
      <p:sp>
        <p:nvSpPr>
          <p:cNvPr id="9" name="Text 6"/>
          <p:cNvSpPr txBox="1"/>
          <p:nvPr/>
        </p:nvSpPr>
        <p:spPr>
          <a:xfrm rot="480000">
            <a:off x="164592" y="3246120"/>
            <a:ext cx="1874520" cy="822960"/>
          </a:xfrm>
          <a:prstGeom prst="rect">
            <a:avLst/>
          </a:prstGeom>
          <a:noFill/>
          <a:ln/>
        </p:spPr>
        <p:txBody>
          <a:bodyPr wrap="square" lIns="0" tIns="0" rIns="0" bIns="0" rtlCol="0" anchor="t"/>
          <a:lstStyle/>
          <a:p>
            <a:pPr indent="0" marL="0">
              <a:buNone/>
            </a:pPr>
            <a:r>
              <a:rPr lang="en-US" sz="950" i="1" dirty="0">
                <a:solidFill>
                  <a:srgbClr val="5B7AA6"/>
                </a:solidFill>
                <a:latin typeface="Cambria" pitchFamily="34" charset="0"/>
                <a:ea typeface="Cambria" pitchFamily="34" charset="-122"/>
                <a:cs typeface="Cambria" pitchFamily="34" charset="-120"/>
              </a:rPr>
              <a:t>“In wartime, truth is so precious that she should always be attended by a bodyguard of lies.”</a:t>
            </a:r>
            <a:endParaRPr lang="en-US" sz="950" dirty="0"/>
          </a:p>
          <a:p>
            <a:pPr indent="0" marL="0">
              <a:buNone/>
            </a:pPr>
            <a:r>
              <a:rPr lang="en-US" sz="800" dirty="0">
                <a:solidFill>
                  <a:srgbClr val="3C5080"/>
                </a:solidFill>
                <a:latin typeface="Cambria" pitchFamily="34" charset="0"/>
                <a:ea typeface="Cambria" pitchFamily="34" charset="-122"/>
                <a:cs typeface="Cambria" pitchFamily="34" charset="-120"/>
              </a:rPr>
              <a:t>— Winston Churchill, Tehran, 1943</a:t>
            </a:r>
            <a:endParaRPr lang="en-US" sz="950" dirty="0"/>
          </a:p>
        </p:txBody>
      </p:sp>
      <p:sp>
        <p:nvSpPr>
          <p:cNvPr id="10" name="Text 7"/>
          <p:cNvSpPr txBox="1"/>
          <p:nvPr/>
        </p:nvSpPr>
        <p:spPr>
          <a:xfrm rot="21240000">
            <a:off x="164592" y="4983480"/>
            <a:ext cx="1874520" cy="822960"/>
          </a:xfrm>
          <a:prstGeom prst="rect">
            <a:avLst/>
          </a:prstGeom>
          <a:noFill/>
          <a:ln/>
        </p:spPr>
        <p:txBody>
          <a:bodyPr wrap="square" lIns="0" tIns="0" rIns="0" bIns="0" rtlCol="0" anchor="t"/>
          <a:lstStyle/>
          <a:p>
            <a:pPr indent="0" marL="0">
              <a:buNone/>
            </a:pPr>
            <a:r>
              <a:rPr lang="en-US" sz="950" i="1" dirty="0">
                <a:solidFill>
                  <a:srgbClr val="5B7AA6"/>
                </a:solidFill>
                <a:latin typeface="Cambria" pitchFamily="34" charset="0"/>
                <a:ea typeface="Cambria" pitchFamily="34" charset="-122"/>
                <a:cs typeface="Cambria" pitchFamily="34" charset="-120"/>
              </a:rPr>
              <a:t>“The supreme art of war is to subdue the enemy without fighting.”</a:t>
            </a:r>
            <a:endParaRPr lang="en-US" sz="950" dirty="0"/>
          </a:p>
          <a:p>
            <a:pPr indent="0" marL="0">
              <a:buNone/>
            </a:pPr>
            <a:r>
              <a:rPr lang="en-US" sz="800" dirty="0">
                <a:solidFill>
                  <a:srgbClr val="3C5080"/>
                </a:solidFill>
                <a:latin typeface="Cambria" pitchFamily="34" charset="0"/>
                <a:ea typeface="Cambria" pitchFamily="34" charset="-122"/>
                <a:cs typeface="Cambria" pitchFamily="34" charset="-120"/>
              </a:rPr>
              <a:t>— Sun Tzu, The Art of War, Ch. 3</a:t>
            </a:r>
            <a:endParaRPr lang="en-US" sz="950" dirty="0"/>
          </a:p>
        </p:txBody>
      </p:sp>
      <p:sp>
        <p:nvSpPr>
          <p:cNvPr id="11" name="Text 8"/>
          <p:cNvSpPr txBox="1"/>
          <p:nvPr/>
        </p:nvSpPr>
        <p:spPr>
          <a:xfrm rot="720000">
            <a:off x="10195560" y="1783080"/>
            <a:ext cx="1874520" cy="822960"/>
          </a:xfrm>
          <a:prstGeom prst="rect">
            <a:avLst/>
          </a:prstGeom>
          <a:noFill/>
          <a:ln/>
        </p:spPr>
        <p:txBody>
          <a:bodyPr wrap="square" lIns="0" tIns="0" rIns="0" bIns="0" rtlCol="0" anchor="t"/>
          <a:lstStyle/>
          <a:p>
            <a:pPr indent="0" marL="0">
              <a:buNone/>
            </a:pPr>
            <a:r>
              <a:rPr lang="en-US" sz="950" i="1" dirty="0">
                <a:solidFill>
                  <a:srgbClr val="5B7AA6"/>
                </a:solidFill>
                <a:latin typeface="Cambria" pitchFamily="34" charset="0"/>
                <a:ea typeface="Cambria" pitchFamily="34" charset="-122"/>
                <a:cs typeface="Cambria" pitchFamily="34" charset="-120"/>
              </a:rPr>
              <a:t>“What enables the wise sovereign to strike and conquer is foreknowledge.”</a:t>
            </a:r>
            <a:endParaRPr lang="en-US" sz="950" dirty="0"/>
          </a:p>
          <a:p>
            <a:pPr indent="0" marL="0">
              <a:buNone/>
            </a:pPr>
            <a:r>
              <a:rPr lang="en-US" sz="800" dirty="0">
                <a:solidFill>
                  <a:srgbClr val="3C5080"/>
                </a:solidFill>
                <a:latin typeface="Cambria" pitchFamily="34" charset="0"/>
                <a:ea typeface="Cambria" pitchFamily="34" charset="-122"/>
                <a:cs typeface="Cambria" pitchFamily="34" charset="-120"/>
              </a:rPr>
              <a:t>— Sun Tzu, The Art of War, Ch. 13, “The Use of Spies”</a:t>
            </a:r>
            <a:endParaRPr lang="en-US" sz="950" dirty="0"/>
          </a:p>
        </p:txBody>
      </p:sp>
      <p:sp>
        <p:nvSpPr>
          <p:cNvPr id="12" name="Text 9"/>
          <p:cNvSpPr txBox="1"/>
          <p:nvPr/>
        </p:nvSpPr>
        <p:spPr>
          <a:xfrm rot="21000000">
            <a:off x="10195560" y="3291840"/>
            <a:ext cx="1874520" cy="822960"/>
          </a:xfrm>
          <a:prstGeom prst="rect">
            <a:avLst/>
          </a:prstGeom>
          <a:noFill/>
          <a:ln/>
        </p:spPr>
        <p:txBody>
          <a:bodyPr wrap="square" lIns="0" tIns="0" rIns="0" bIns="0" rtlCol="0" anchor="t"/>
          <a:lstStyle/>
          <a:p>
            <a:pPr indent="0" marL="0">
              <a:buNone/>
            </a:pPr>
            <a:r>
              <a:rPr lang="en-US" sz="950" i="1" dirty="0">
                <a:solidFill>
                  <a:srgbClr val="5B7AA6"/>
                </a:solidFill>
                <a:latin typeface="Cambria" pitchFamily="34" charset="0"/>
                <a:ea typeface="Cambria" pitchFamily="34" charset="-122"/>
                <a:cs typeface="Cambria" pitchFamily="34" charset="-120"/>
              </a:rPr>
              <a:t>“Knowledge of the enemy’s dispositions can only be obtained from other men.”</a:t>
            </a:r>
            <a:endParaRPr lang="en-US" sz="950" dirty="0"/>
          </a:p>
          <a:p>
            <a:pPr indent="0" marL="0">
              <a:buNone/>
            </a:pPr>
            <a:r>
              <a:rPr lang="en-US" sz="800" dirty="0">
                <a:solidFill>
                  <a:srgbClr val="3C5080"/>
                </a:solidFill>
                <a:latin typeface="Cambria" pitchFamily="34" charset="0"/>
                <a:ea typeface="Cambria" pitchFamily="34" charset="-122"/>
                <a:cs typeface="Cambria" pitchFamily="34" charset="-120"/>
              </a:rPr>
              <a:t>— Sun Tzu, The Art of War, Ch. 13</a:t>
            </a:r>
            <a:endParaRPr lang="en-US" sz="950" dirty="0"/>
          </a:p>
        </p:txBody>
      </p:sp>
      <p:sp>
        <p:nvSpPr>
          <p:cNvPr id="13" name="Text 10"/>
          <p:cNvSpPr txBox="1"/>
          <p:nvPr/>
        </p:nvSpPr>
        <p:spPr>
          <a:xfrm rot="420000">
            <a:off x="10149840" y="4983480"/>
            <a:ext cx="1920240" cy="822960"/>
          </a:xfrm>
          <a:prstGeom prst="rect">
            <a:avLst/>
          </a:prstGeom>
          <a:noFill/>
          <a:ln/>
        </p:spPr>
        <p:txBody>
          <a:bodyPr wrap="square" lIns="0" tIns="0" rIns="0" bIns="0" rtlCol="0" anchor="t"/>
          <a:lstStyle/>
          <a:p>
            <a:pPr indent="0" marL="0">
              <a:buNone/>
            </a:pPr>
            <a:r>
              <a:rPr lang="en-US" sz="950" i="1" dirty="0">
                <a:solidFill>
                  <a:srgbClr val="5B7AA6"/>
                </a:solidFill>
                <a:latin typeface="Cambria" pitchFamily="34" charset="0"/>
                <a:ea typeface="Cambria" pitchFamily="34" charset="-122"/>
                <a:cs typeface="Cambria" pitchFamily="34" charset="-120"/>
              </a:rPr>
              <a:t>“The necessity of procuring good intelligence is apparent.”</a:t>
            </a:r>
            <a:endParaRPr lang="en-US" sz="950" dirty="0"/>
          </a:p>
          <a:p>
            <a:pPr indent="0" marL="0">
              <a:buNone/>
            </a:pPr>
            <a:r>
              <a:rPr lang="en-US" sz="800" dirty="0">
                <a:solidFill>
                  <a:srgbClr val="3C5080"/>
                </a:solidFill>
                <a:latin typeface="Cambria" pitchFamily="34" charset="0"/>
                <a:ea typeface="Cambria" pitchFamily="34" charset="-122"/>
                <a:cs typeface="Cambria" pitchFamily="34" charset="-120"/>
              </a:rPr>
              <a:t>— George Washington, 1777</a:t>
            </a:r>
            <a:endParaRPr lang="en-US" sz="950" dirty="0"/>
          </a:p>
        </p:txBody>
      </p:sp>
      <p:sp>
        <p:nvSpPr>
          <p:cNvPr id="14" name="Text 11"/>
          <p:cNvSpPr txBox="1"/>
          <p:nvPr/>
        </p:nvSpPr>
        <p:spPr>
          <a:xfrm rot="21300000">
            <a:off x="822960" y="6236208"/>
            <a:ext cx="3291840" cy="822960"/>
          </a:xfrm>
          <a:prstGeom prst="rect">
            <a:avLst/>
          </a:prstGeom>
          <a:noFill/>
          <a:ln/>
        </p:spPr>
        <p:txBody>
          <a:bodyPr wrap="square" lIns="0" tIns="0" rIns="0" bIns="0" rtlCol="0" anchor="t"/>
          <a:lstStyle/>
          <a:p>
            <a:pPr indent="0" marL="0">
              <a:buNone/>
            </a:pPr>
            <a:r>
              <a:rPr lang="en-US" sz="950" i="1" dirty="0">
                <a:solidFill>
                  <a:srgbClr val="5B7AA6"/>
                </a:solidFill>
                <a:latin typeface="Cambria" pitchFamily="34" charset="0"/>
                <a:ea typeface="Cambria" pitchFamily="34" charset="-122"/>
                <a:cs typeface="Cambria" pitchFamily="34" charset="-120"/>
              </a:rPr>
              <a:t>“Upon secrecy, success depends in most enterprises of this kind.”</a:t>
            </a:r>
            <a:endParaRPr lang="en-US" sz="950" dirty="0"/>
          </a:p>
          <a:p>
            <a:pPr indent="0" marL="0">
              <a:buNone/>
            </a:pPr>
            <a:r>
              <a:rPr lang="en-US" sz="800" dirty="0">
                <a:solidFill>
                  <a:srgbClr val="3C5080"/>
                </a:solidFill>
                <a:latin typeface="Cambria" pitchFamily="34" charset="0"/>
                <a:ea typeface="Cambria" pitchFamily="34" charset="-122"/>
                <a:cs typeface="Cambria" pitchFamily="34" charset="-120"/>
              </a:rPr>
              <a:t>— George Washington, letter to Col. Elias Dayton, 1777</a:t>
            </a:r>
            <a:endParaRPr lang="en-US" sz="950" dirty="0"/>
          </a:p>
        </p:txBody>
      </p:sp>
      <p:sp>
        <p:nvSpPr>
          <p:cNvPr id="15" name="Text 12"/>
          <p:cNvSpPr txBox="1"/>
          <p:nvPr/>
        </p:nvSpPr>
        <p:spPr>
          <a:xfrm rot="360000">
            <a:off x="7863840" y="6236208"/>
            <a:ext cx="3383280" cy="822960"/>
          </a:xfrm>
          <a:prstGeom prst="rect">
            <a:avLst/>
          </a:prstGeom>
          <a:noFill/>
          <a:ln/>
        </p:spPr>
        <p:txBody>
          <a:bodyPr wrap="square" lIns="0" tIns="0" rIns="0" bIns="0" rtlCol="0" anchor="t"/>
          <a:lstStyle/>
          <a:p>
            <a:pPr indent="0" marL="0">
              <a:buNone/>
            </a:pPr>
            <a:r>
              <a:rPr lang="en-US" sz="950" i="1" dirty="0">
                <a:solidFill>
                  <a:srgbClr val="5B7AA6"/>
                </a:solidFill>
                <a:latin typeface="Cambria" pitchFamily="34" charset="0"/>
                <a:ea typeface="Cambria" pitchFamily="34" charset="-122"/>
                <a:cs typeface="Cambria" pitchFamily="34" charset="-120"/>
              </a:rPr>
              <a:t>“To know that you do not know is the best.”</a:t>
            </a:r>
            <a:endParaRPr lang="en-US" sz="950" dirty="0"/>
          </a:p>
          <a:p>
            <a:pPr indent="0" marL="0">
              <a:buNone/>
            </a:pPr>
            <a:r>
              <a:rPr lang="en-US" sz="800" dirty="0">
                <a:solidFill>
                  <a:srgbClr val="3C5080"/>
                </a:solidFill>
                <a:latin typeface="Cambria" pitchFamily="34" charset="0"/>
                <a:ea typeface="Cambria" pitchFamily="34" charset="-122"/>
                <a:cs typeface="Cambria" pitchFamily="34" charset="-120"/>
              </a:rPr>
              <a:t>— Lao Tzu, Tao Te Ching, Ch. 71</a:t>
            </a:r>
            <a:endParaRPr lang="en-US" sz="950" dirty="0"/>
          </a:p>
        </p:txBody>
      </p:sp>
      <p:sp>
        <p:nvSpPr>
          <p:cNvPr id="16" name="Shape 13"/>
          <p:cNvSpPr/>
          <p:nvPr/>
        </p:nvSpPr>
        <p:spPr>
          <a:xfrm>
            <a:off x="2377440" y="1508760"/>
            <a:ext cx="7406640" cy="4663440"/>
          </a:xfrm>
          <a:prstGeom prst="roundRect">
            <a:avLst>
              <a:gd name="adj" fmla="val 980"/>
            </a:avLst>
          </a:prstGeom>
          <a:solidFill>
            <a:srgbClr val="17325C"/>
          </a:solidFill>
          <a:ln w="12700">
            <a:solidFill>
              <a:srgbClr val="17325C"/>
            </a:solidFill>
            <a:prstDash val="solid"/>
          </a:ln>
        </p:spPr>
      </p:sp>
      <p:sp>
        <p:nvSpPr>
          <p:cNvPr id="17" name="Text 14"/>
          <p:cNvSpPr txBox="1"/>
          <p:nvPr/>
        </p:nvSpPr>
        <p:spPr>
          <a:xfrm>
            <a:off x="2697480" y="1691640"/>
            <a:ext cx="548640" cy="548640"/>
          </a:xfrm>
          <a:prstGeom prst="rect">
            <a:avLst/>
          </a:prstGeom>
          <a:noFill/>
          <a:ln/>
        </p:spPr>
        <p:txBody>
          <a:bodyPr wrap="square" lIns="0" tIns="0" rIns="0" bIns="0" rtlCol="0" anchor="t"/>
          <a:lstStyle/>
          <a:p>
            <a:pPr indent="0" marL="0">
              <a:buNone/>
            </a:pPr>
            <a:r>
              <a:rPr lang="en-US" sz="4000" dirty="0">
                <a:solidFill>
                  <a:srgbClr val="FFC72C"/>
                </a:solidFill>
                <a:latin typeface="Cambria" pitchFamily="34" charset="0"/>
                <a:ea typeface="Cambria" pitchFamily="34" charset="-122"/>
                <a:cs typeface="Cambria" pitchFamily="34" charset="-120"/>
              </a:rPr>
              <a:t>“</a:t>
            </a:r>
            <a:endParaRPr lang="en-US" sz="4000" dirty="0"/>
          </a:p>
        </p:txBody>
      </p:sp>
      <p:sp>
        <p:nvSpPr>
          <p:cNvPr id="18" name="Text 15"/>
          <p:cNvSpPr txBox="1"/>
          <p:nvPr/>
        </p:nvSpPr>
        <p:spPr>
          <a:xfrm>
            <a:off x="2697480" y="2194560"/>
            <a:ext cx="3291840" cy="1188720"/>
          </a:xfrm>
          <a:prstGeom prst="rect">
            <a:avLst/>
          </a:prstGeom>
          <a:noFill/>
          <a:ln/>
        </p:spPr>
        <p:txBody>
          <a:bodyPr wrap="square" lIns="0" tIns="0" rIns="0" bIns="0" rtlCol="0" anchor="t"/>
          <a:lstStyle/>
          <a:p>
            <a:pPr indent="0" marL="0">
              <a:buNone/>
            </a:pPr>
            <a:r>
              <a:rPr lang="en-US" sz="1300" i="1" dirty="0">
                <a:solidFill>
                  <a:srgbClr val="FFFFFF"/>
                </a:solidFill>
                <a:latin typeface="Cambria" pitchFamily="34" charset="0"/>
                <a:ea typeface="Cambria" pitchFamily="34" charset="-122"/>
                <a:cs typeface="Cambria" pitchFamily="34" charset="-120"/>
              </a:rPr>
              <a:t>“If you know the enemy and know yourself, you need not fear the result of a hundred battles.”</a:t>
            </a:r>
            <a:endParaRPr lang="en-US" sz="1300" dirty="0"/>
          </a:p>
        </p:txBody>
      </p:sp>
      <p:sp>
        <p:nvSpPr>
          <p:cNvPr id="19" name="Text 16"/>
          <p:cNvSpPr txBox="1"/>
          <p:nvPr/>
        </p:nvSpPr>
        <p:spPr>
          <a:xfrm>
            <a:off x="2697480" y="3291840"/>
            <a:ext cx="3291840" cy="548640"/>
          </a:xfrm>
          <a:prstGeom prst="rect">
            <a:avLst/>
          </a:prstGeom>
          <a:noFill/>
          <a:ln/>
        </p:spPr>
        <p:txBody>
          <a:bodyPr wrap="square" lIns="0" tIns="0" rIns="0" bIns="0" rtlCol="0" anchor="t"/>
          <a:lstStyle/>
          <a:p>
            <a:pPr indent="0" marL="0">
              <a:buNone/>
            </a:pPr>
            <a:r>
              <a:rPr lang="en-US" sz="1000" dirty="0">
                <a:solidFill>
                  <a:srgbClr val="8CA3C7"/>
                </a:solidFill>
                <a:latin typeface="Calibri" pitchFamily="34" charset="0"/>
                <a:ea typeface="Calibri" pitchFamily="34" charset="-122"/>
                <a:cs typeface="Calibri" pitchFamily="34" charset="-120"/>
              </a:rPr>
              <a:t>— Sun Tzu, The Art of War, Ch. 3 (c. 5th century BC)</a:t>
            </a:r>
            <a:endParaRPr lang="en-US" sz="1000" dirty="0"/>
          </a:p>
        </p:txBody>
      </p:sp>
      <p:sp>
        <p:nvSpPr>
          <p:cNvPr id="20" name="Text 17"/>
          <p:cNvSpPr txBox="1"/>
          <p:nvPr/>
        </p:nvSpPr>
        <p:spPr>
          <a:xfrm>
            <a:off x="6263640" y="1691640"/>
            <a:ext cx="548640" cy="548640"/>
          </a:xfrm>
          <a:prstGeom prst="rect">
            <a:avLst/>
          </a:prstGeom>
          <a:noFill/>
          <a:ln/>
        </p:spPr>
        <p:txBody>
          <a:bodyPr wrap="square" lIns="0" tIns="0" rIns="0" bIns="0" rtlCol="0" anchor="t"/>
          <a:lstStyle/>
          <a:p>
            <a:pPr indent="0" marL="0">
              <a:buNone/>
            </a:pPr>
            <a:r>
              <a:rPr lang="en-US" sz="4000" dirty="0">
                <a:solidFill>
                  <a:srgbClr val="FFC72C"/>
                </a:solidFill>
                <a:latin typeface="Cambria" pitchFamily="34" charset="0"/>
                <a:ea typeface="Cambria" pitchFamily="34" charset="-122"/>
                <a:cs typeface="Cambria" pitchFamily="34" charset="-120"/>
              </a:rPr>
              <a:t>“</a:t>
            </a:r>
            <a:endParaRPr lang="en-US" sz="4000" dirty="0"/>
          </a:p>
        </p:txBody>
      </p:sp>
      <p:sp>
        <p:nvSpPr>
          <p:cNvPr id="21" name="Text 18"/>
          <p:cNvSpPr txBox="1"/>
          <p:nvPr/>
        </p:nvSpPr>
        <p:spPr>
          <a:xfrm>
            <a:off x="6263640" y="2194560"/>
            <a:ext cx="3291840" cy="1188720"/>
          </a:xfrm>
          <a:prstGeom prst="rect">
            <a:avLst/>
          </a:prstGeom>
          <a:noFill/>
          <a:ln/>
        </p:spPr>
        <p:txBody>
          <a:bodyPr wrap="square" lIns="0" tIns="0" rIns="0" bIns="0" rtlCol="0" anchor="t"/>
          <a:lstStyle/>
          <a:p>
            <a:pPr indent="0" marL="0">
              <a:buNone/>
            </a:pPr>
            <a:r>
              <a:rPr lang="en-US" sz="1300" i="1" dirty="0">
                <a:solidFill>
                  <a:srgbClr val="FFFFFF"/>
                </a:solidFill>
                <a:latin typeface="Cambria" pitchFamily="34" charset="0"/>
                <a:ea typeface="Cambria" pitchFamily="34" charset="-122"/>
                <a:cs typeface="Cambria" pitchFamily="34" charset="-120"/>
              </a:rPr>
              <a:t>“Knowing others is wisdom; knowing the self is enlightenment.”</a:t>
            </a:r>
            <a:endParaRPr lang="en-US" sz="1300" dirty="0"/>
          </a:p>
        </p:txBody>
      </p:sp>
      <p:sp>
        <p:nvSpPr>
          <p:cNvPr id="22" name="Text 19"/>
          <p:cNvSpPr txBox="1"/>
          <p:nvPr/>
        </p:nvSpPr>
        <p:spPr>
          <a:xfrm>
            <a:off x="6263640" y="3291840"/>
            <a:ext cx="3291840" cy="548640"/>
          </a:xfrm>
          <a:prstGeom prst="rect">
            <a:avLst/>
          </a:prstGeom>
          <a:noFill/>
          <a:ln/>
        </p:spPr>
        <p:txBody>
          <a:bodyPr wrap="square" lIns="0" tIns="0" rIns="0" bIns="0" rtlCol="0" anchor="t"/>
          <a:lstStyle/>
          <a:p>
            <a:pPr indent="0" marL="0">
              <a:buNone/>
            </a:pPr>
            <a:r>
              <a:rPr lang="en-US" sz="1000" dirty="0">
                <a:solidFill>
                  <a:srgbClr val="8CA3C7"/>
                </a:solidFill>
                <a:latin typeface="Calibri" pitchFamily="34" charset="0"/>
                <a:ea typeface="Calibri" pitchFamily="34" charset="-122"/>
                <a:cs typeface="Calibri" pitchFamily="34" charset="-120"/>
              </a:rPr>
              <a:t>— Lao Tzu, Tao Te Ching, Ch. 33</a:t>
            </a:r>
            <a:endParaRPr lang="en-US" sz="1000" dirty="0"/>
          </a:p>
        </p:txBody>
      </p:sp>
      <p:sp>
        <p:nvSpPr>
          <p:cNvPr id="23" name="Text 20"/>
          <p:cNvSpPr txBox="1"/>
          <p:nvPr/>
        </p:nvSpPr>
        <p:spPr>
          <a:xfrm>
            <a:off x="2697480" y="3931920"/>
            <a:ext cx="548640" cy="548640"/>
          </a:xfrm>
          <a:prstGeom prst="rect">
            <a:avLst/>
          </a:prstGeom>
          <a:noFill/>
          <a:ln/>
        </p:spPr>
        <p:txBody>
          <a:bodyPr wrap="square" lIns="0" tIns="0" rIns="0" bIns="0" rtlCol="0" anchor="t"/>
          <a:lstStyle/>
          <a:p>
            <a:pPr indent="0" marL="0">
              <a:buNone/>
            </a:pPr>
            <a:r>
              <a:rPr lang="en-US" sz="4000" dirty="0">
                <a:solidFill>
                  <a:srgbClr val="FFC72C"/>
                </a:solidFill>
                <a:latin typeface="Cambria" pitchFamily="34" charset="0"/>
                <a:ea typeface="Cambria" pitchFamily="34" charset="-122"/>
                <a:cs typeface="Cambria" pitchFamily="34" charset="-120"/>
              </a:rPr>
              <a:t>“</a:t>
            </a:r>
            <a:endParaRPr lang="en-US" sz="4000" dirty="0"/>
          </a:p>
        </p:txBody>
      </p:sp>
      <p:sp>
        <p:nvSpPr>
          <p:cNvPr id="24" name="Text 21"/>
          <p:cNvSpPr txBox="1"/>
          <p:nvPr/>
        </p:nvSpPr>
        <p:spPr>
          <a:xfrm>
            <a:off x="2697480" y="4434840"/>
            <a:ext cx="3291840" cy="1188720"/>
          </a:xfrm>
          <a:prstGeom prst="rect">
            <a:avLst/>
          </a:prstGeom>
          <a:noFill/>
          <a:ln/>
        </p:spPr>
        <p:txBody>
          <a:bodyPr wrap="square" lIns="0" tIns="0" rIns="0" bIns="0" rtlCol="0" anchor="t"/>
          <a:lstStyle/>
          <a:p>
            <a:pPr indent="0" marL="0">
              <a:buNone/>
            </a:pPr>
            <a:r>
              <a:rPr lang="en-US" sz="1300" i="1" dirty="0">
                <a:solidFill>
                  <a:srgbClr val="FFFFFF"/>
                </a:solidFill>
                <a:latin typeface="Cambria" pitchFamily="34" charset="0"/>
                <a:ea typeface="Cambria" pitchFamily="34" charset="-122"/>
                <a:cs typeface="Cambria" pitchFamily="34" charset="-120"/>
              </a:rPr>
              <a:t>“The necessity of procuring good intelligence is apparent, and need not be further urged.”</a:t>
            </a:r>
            <a:endParaRPr lang="en-US" sz="1300" dirty="0"/>
          </a:p>
        </p:txBody>
      </p:sp>
      <p:sp>
        <p:nvSpPr>
          <p:cNvPr id="25" name="Text 22"/>
          <p:cNvSpPr txBox="1"/>
          <p:nvPr/>
        </p:nvSpPr>
        <p:spPr>
          <a:xfrm>
            <a:off x="2697480" y="5532120"/>
            <a:ext cx="3291840" cy="548640"/>
          </a:xfrm>
          <a:prstGeom prst="rect">
            <a:avLst/>
          </a:prstGeom>
          <a:noFill/>
          <a:ln/>
        </p:spPr>
        <p:txBody>
          <a:bodyPr wrap="square" lIns="0" tIns="0" rIns="0" bIns="0" rtlCol="0" anchor="t"/>
          <a:lstStyle/>
          <a:p>
            <a:pPr indent="0" marL="0">
              <a:buNone/>
            </a:pPr>
            <a:r>
              <a:rPr lang="en-US" sz="1000" dirty="0">
                <a:solidFill>
                  <a:srgbClr val="8CA3C7"/>
                </a:solidFill>
                <a:latin typeface="Calibri" pitchFamily="34" charset="0"/>
                <a:ea typeface="Calibri" pitchFamily="34" charset="-122"/>
                <a:cs typeface="Calibri" pitchFamily="34" charset="-120"/>
              </a:rPr>
              <a:t>— George Washington, letter to Col. Elias Dayton, July 26, 1777</a:t>
            </a:r>
            <a:endParaRPr lang="en-US" sz="1000" dirty="0"/>
          </a:p>
        </p:txBody>
      </p:sp>
      <p:sp>
        <p:nvSpPr>
          <p:cNvPr id="26" name="Text 23"/>
          <p:cNvSpPr txBox="1"/>
          <p:nvPr/>
        </p:nvSpPr>
        <p:spPr>
          <a:xfrm>
            <a:off x="6263640" y="3931920"/>
            <a:ext cx="548640" cy="548640"/>
          </a:xfrm>
          <a:prstGeom prst="rect">
            <a:avLst/>
          </a:prstGeom>
          <a:noFill/>
          <a:ln/>
        </p:spPr>
        <p:txBody>
          <a:bodyPr wrap="square" lIns="0" tIns="0" rIns="0" bIns="0" rtlCol="0" anchor="t"/>
          <a:lstStyle/>
          <a:p>
            <a:pPr indent="0" marL="0">
              <a:buNone/>
            </a:pPr>
            <a:r>
              <a:rPr lang="en-US" sz="4000" dirty="0">
                <a:solidFill>
                  <a:srgbClr val="FFC72C"/>
                </a:solidFill>
                <a:latin typeface="Cambria" pitchFamily="34" charset="0"/>
                <a:ea typeface="Cambria" pitchFamily="34" charset="-122"/>
                <a:cs typeface="Cambria" pitchFamily="34" charset="-120"/>
              </a:rPr>
              <a:t>“</a:t>
            </a:r>
            <a:endParaRPr lang="en-US" sz="4000" dirty="0"/>
          </a:p>
        </p:txBody>
      </p:sp>
      <p:sp>
        <p:nvSpPr>
          <p:cNvPr id="27" name="Text 24"/>
          <p:cNvSpPr txBox="1"/>
          <p:nvPr/>
        </p:nvSpPr>
        <p:spPr>
          <a:xfrm>
            <a:off x="6263640" y="4434840"/>
            <a:ext cx="3291840" cy="1188720"/>
          </a:xfrm>
          <a:prstGeom prst="rect">
            <a:avLst/>
          </a:prstGeom>
          <a:noFill/>
          <a:ln/>
        </p:spPr>
        <p:txBody>
          <a:bodyPr wrap="square" lIns="0" tIns="0" rIns="0" bIns="0" rtlCol="0" anchor="t"/>
          <a:lstStyle/>
          <a:p>
            <a:pPr indent="0" marL="0">
              <a:buNone/>
            </a:pPr>
            <a:r>
              <a:rPr lang="en-US" sz="1300" i="1" dirty="0">
                <a:solidFill>
                  <a:srgbClr val="FFFFFF"/>
                </a:solidFill>
                <a:latin typeface="Cambria" pitchFamily="34" charset="0"/>
                <a:ea typeface="Cambria" pitchFamily="34" charset="-122"/>
                <a:cs typeface="Cambria" pitchFamily="34" charset="-120"/>
              </a:rPr>
              <a:t>“[Strategic intelligence is] the knowledge upon which our nation’s foreign relations, in war and peace, must rest.”</a:t>
            </a:r>
            <a:endParaRPr lang="en-US" sz="1300" dirty="0"/>
          </a:p>
        </p:txBody>
      </p:sp>
      <p:sp>
        <p:nvSpPr>
          <p:cNvPr id="28" name="Text 25"/>
          <p:cNvSpPr txBox="1"/>
          <p:nvPr/>
        </p:nvSpPr>
        <p:spPr>
          <a:xfrm>
            <a:off x="6263640" y="5532120"/>
            <a:ext cx="3291840" cy="548640"/>
          </a:xfrm>
          <a:prstGeom prst="rect">
            <a:avLst/>
          </a:prstGeom>
          <a:noFill/>
          <a:ln/>
        </p:spPr>
        <p:txBody>
          <a:bodyPr wrap="square" lIns="0" tIns="0" rIns="0" bIns="0" rtlCol="0" anchor="t"/>
          <a:lstStyle/>
          <a:p>
            <a:pPr indent="0" marL="0">
              <a:buNone/>
            </a:pPr>
            <a:r>
              <a:rPr lang="en-US" sz="1000" dirty="0">
                <a:solidFill>
                  <a:srgbClr val="8CA3C7"/>
                </a:solidFill>
                <a:latin typeface="Calibri" pitchFamily="34" charset="0"/>
                <a:ea typeface="Calibri" pitchFamily="34" charset="-122"/>
                <a:cs typeface="Calibri" pitchFamily="34" charset="-120"/>
              </a:rPr>
              <a:t>— Sherman Kent, “father of intelligence analysis,” Strategic Intelligence for American World Policy, 1949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Force Intelligence</dc:title>
  <dc:subject>PptxGenJS Presentation</dc:subject>
  <dc:creator>AFROTC</dc:creator>
  <cp:lastModifiedBy>AFROTC</cp:lastModifiedBy>
  <cp:revision>1</cp:revision>
  <dcterms:created xsi:type="dcterms:W3CDTF">2026-10-15T06:59:49Z</dcterms:created>
  <dcterms:modified xsi:type="dcterms:W3CDTF">2026-10-15T06:59:49Z</dcterms:modified>
</cp:coreProperties>
</file>