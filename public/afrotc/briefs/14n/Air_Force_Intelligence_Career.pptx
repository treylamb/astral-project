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72" r:id="rId4"/>
    <p:sldId id="258" r:id="rId5"/>
    <p:sldId id="259" r:id="rId6"/>
    <p:sldId id="260" r:id="rId7"/>
    <p:sldId id="261" r:id="rId8"/>
    <p:sldId id="262" r:id="rId9"/>
    <p:sldId id="263" r:id="rId10"/>
    <p:sldId id="265" r:id="rId11"/>
    <p:sldId id="266" r:id="rId12"/>
    <p:sldId id="267" r:id="rId13"/>
    <p:sldId id="269" r:id="rId14"/>
    <p:sldId id="270" r:id="rId15"/>
    <p:sldId id="271"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autoAdjust="0"/>
    <p:restoredTop sz="50212" autoAdjust="0"/>
  </p:normalViewPr>
  <p:slideViewPr>
    <p:cSldViewPr snapToGrid="0" snapToObjects="1">
      <p:cViewPr varScale="1">
        <p:scale>
          <a:sx n="51" d="100"/>
          <a:sy n="51" d="100"/>
        </p:scale>
        <p:origin x="1877" y="3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89790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your hook — you have about 3–5 minutes total, don't over-explain the title itself.</a:t>
            </a:r>
          </a:p>
          <a:p>
            <a:r>
              <a:rPr dirty="0"/>
              <a:t>— a commander can't act on what they don't know.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is a roadmap slide — mainly useful if you're running the longer version of this talk.</a:t>
            </a:r>
          </a:p>
          <a:p>
            <a:r>
              <a:rPr dirty="0"/>
              <a:t>If you're tight on the 3–5 minute window, you can cut this slide entirely and go straight from the title to the mission slide — an agenda slide costs you 20–30 seconds you may not have. If you keep it, don't read every line, just name the topics.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asked for Einstein specifically, but I left him out — the “Information is not knowledge, the only source of knowledge is experience” line usually pinned on him is confirmed misattributed (the Einstein Archives have no record of it; it traces to Frank Zappa in 1979, not Einstein). I swapped in Sherman Kent instead, who's arguably a better fit anyway — he's literally called “the father of intelligence analysis” and spent 17 years at the CIA formalizing the discipline.</a:t>
            </a:r>
          </a:p>
          <a:p>
            <a:r>
              <a:t>Every quote here (center and the scattered edge fragments) is independently verified against a primary or authoritative source, not pulled from a quote-aggregator site and trusted blindly: Sun Tzu's Art of War (multiple chapters), Lao Tzu's Tao Te Ching, George Washington's actual 1777 letter to Col. Elias Dayton (via the Library of Congress / Founders Archives), Sherman Kent's 1949 book, Churchill's remark at the Tehran Conference (authentic, though possibly based on an older Russian proverb — noted for completeness), and Francis Bacon's 1597 “Meditationes Sacrae” (his real original wording — the famous Latin “scientia potentia est” is actually Thomas Hobbes', not Bacon's).</a:t>
            </a:r>
          </a:p>
          <a:p>
            <a:r>
              <a:t>FIXED 2026-10-01: this slide previously printed "All warfare is based on deception" TWICE among the edge fragments. The second one has been replaced with "Knowledge of the enemy's dispositions can only be obtained from other men" (Sun Tzu, Art of War Ch. 13, Lionel Giles translation, 1910) - verified, and a better fit because it is the classical argument for HUMINT. The edge quotes still echo a couple of the center themes on purpose rather than reaching for something unverified just to fill space. This slide was built for fun/visual interest per your request, not as required content — delete it freely if it doesn't fit the tone of your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Colonel John Boyd, a USAF fighter pilot and strategist, developed it after studying why American F-86 pilots consistently beat the technically superior MiG-15 in Korea: not better hardware, but faster decision cycles. He formalized the idea in his 1976 essay "Destruction and Creation" and his 1986 briefing "Patterns of Conflict." The core claim: whoever cycles through Observe → Orient → Decide → Act faster than their opponent can react is effectively always fighting yesterday's situation — they're "behind the loop."</a:t>
            </a:r>
          </a:p>
          <a:p>
            <a:r>
              <a:rPr dirty="0"/>
              <a:t>Intelligence's role: the "Orient" step is where a decision-maker's mental model of the situation gets built, and that model is only as good as the intelligence feeding it. Bad or late intelligence doesn't just slow the loop down, it corrupts it — the commander acts confidently on wrong information. That's the strongest answer if anyone asks "why does this job matter": intel officers are the input to the fastest possible decision cycle, not just people filing reports.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You commission via AFROTC, OTS, or USAFA — that line got trimmed off the card since your own path (AFROTC) already makes it obvious, but it's worth having ready if asked.</a:t>
            </a:r>
          </a:p>
          <a:p>
            <a:r>
              <a:rPr dirty="0"/>
              <a:t>One fact that got cut when the career-progression slide was removed, and is worth keeping in your back pocket: new officers commission as O-1 (2nd Lieutenant) and promote automatically through O-3 (Captain) based on time in service — no board required until Major (O-4). Say the word if you want a rank-timeline slide added back in.</a:t>
            </a:r>
          </a:p>
          <a:p>
            <a:r>
              <a:rPr dirty="0"/>
              <a:t>Also useful for Q&amp;A: "14N" and "1N0X1" are Air Force Specialty Codes (AFSCs). The 14-series is officer-level; 1N is intelligence enlisted. The "N" doesn't abbreviate anything specific — it's just the assigned career-field letter.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to 5:</a:t>
            </a:r>
            <a:br>
              <a:rPr lang="en-US" dirty="0"/>
            </a:br>
            <a:r>
              <a:rPr lang="en-US" dirty="0"/>
              <a:t>6 and 7: </a:t>
            </a:r>
            <a:r>
              <a:rPr lang="en-US" dirty="0" err="1"/>
              <a:t>TechINT</a:t>
            </a:r>
            <a:r>
              <a:rPr lang="en-US" dirty="0"/>
              <a:t>, and CI – CI is OSI mission.</a:t>
            </a:r>
            <a:br>
              <a:rPr lang="en-US" dirty="0"/>
            </a:br>
            <a:r>
              <a:rPr lang="en-US" dirty="0"/>
              <a:t> </a:t>
            </a:r>
            <a:r>
              <a:rPr dirty="0"/>
              <a:t>A little more depth on each, useful if someone asks a follow-up question:</a:t>
            </a:r>
          </a:p>
          <a:p>
            <a:r>
              <a:rPr dirty="0"/>
              <a:t>SIGINT splits into two sub-types: COMINT (intercepted communications) and ELINT (non-communication signals, like radar emissions).</a:t>
            </a:r>
          </a:p>
          <a:p>
            <a:r>
              <a:rPr dirty="0"/>
              <a:t>GEOINT is run nationally by the NGA (National Geospatial-Intelligence Agency) and is broader than "satellite photos" — it includes mapping, terrain data, and anything imagery-derived.</a:t>
            </a:r>
          </a:p>
          <a:p>
            <a:r>
              <a:rPr dirty="0"/>
              <a:t>HUMINT is by far the oldest form of intelligence (older than any technology-based INT) and includes legitimate liaison/diplomatic contacts, not just clandestine sources.</a:t>
            </a:r>
          </a:p>
          <a:p>
            <a:r>
              <a:rPr dirty="0"/>
              <a:t>MASINT is the least well-known INT outside the community — it's about technical signatures rather than content: recognizing a specific radar or engine by its electronic "fingerprint" rather than intercepting what it's saying.</a:t>
            </a:r>
          </a:p>
          <a:p>
            <a:r>
              <a:rPr dirty="0"/>
              <a:t>OSINT has grown enormously because of social media and commercial satellite imagery — a lot of what used to require classified collection is now publicly purchasable or scrapable.</a:t>
            </a:r>
          </a:p>
          <a:p>
            <a:r>
              <a:rPr dirty="0"/>
              <a:t>Why the slide now says "five MAIN collection disciplines": the Air Force's own 14N career-field documentation lists SIX disciplines - these five plus TECHINT (technical intelligence, the exploitation of captured or acquired foreign equipment). Joint doctrine (JP 2-0) lists SEVEN by adding counterintelligence (CI), though in the Air Force CI is an OSI mission, not a 14N one. "Five" is a recruiting-page simplification, so if anyone pushes on the number, that is the answer - and it shows you read the career-field standard rather than the brochure.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formal DoD definition (Joint Publication 2-0): all-source intelligence is intelligence products, organizations, and activities that incorporate all sources of information — HUMINT, GEOINT, MASINT, SIGINT, and OSINT — into one finished product. That's the actual doctrinal wording, not slide paraphrase.</a:t>
            </a:r>
          </a:p>
          <a:p>
            <a:r>
              <a:t>One tradecraft detail that shows real understanding if it comes up: analysts commonly grade a source's reliability and a specific report's credibility separately (a reliable source can still report something implausible, and vice versa). A well-known framework for this is the NATO "Admiralty System," which rates source reliability A–F and information credibility 1–6 (e.g. "B2" = usually reliable source, probably true information). You don't need this on the slide — it's just a good answer if someone asks "how do they know what to trust?"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"Tier 5 Investigation" used to be called an SSBI (Single Scope Background Investigation) — same process, renamed. It's the deepest level of federal background investigation, required for Top Secret access and anything involving Sensitive Compartmented Information (SCI).</a:t>
            </a:r>
          </a:p>
          <a:p>
            <a:r>
              <a:t>It covers roughly the last 10 years of your life: every address, employer, school, foreign contact, and financial record, verified through record checks plus in-person interviews — including an "Enhanced Subject Interview" with you directly, and interviews with people who know you personally and professionally. That's genuinely why it takes as long as it does - it's real investigative legwork, not paperwork sitting on a desk. On timing: the slide used to say 12–24 months, which reflected the old clearance backlog and now reads as out of date. Current published processing figures put Top Secret commonly under a year, with TS/SCI (which adds SCI indoctrination and sometimes a polygraph) running longer. The honest driver of variance is your own background - foreign contacts, foreign travel, finances, dual citizenship - not paperwork speed.</a:t>
            </a:r>
          </a:p>
          <a:p>
            <a:r>
              <a:t>SEIs (Special Experience Identifiers) are a tracking code the Air Force uses to flag who's had extra training beyond their base AFSC — they're not separate jobs, just tags that make someone eligible for specialized taskings.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IOT (Intelligence Officer Training) at Goodfellow AFB is the shared starting point for every 14N regardless of what they'll eventually support — it teaches the common foundation: tradecraft, briefing skills, basic threat analysis.</a:t>
            </a:r>
          </a:p>
          <a:p>
            <a:r>
              <a:t>After that, "follow-on training" is where it branches hard: a 14N headed to a fighter squadron trains differently than one headed to an RPA (drone) unit, a space unit, or an intelligence production center — the course is tailored to whatever platform or mission they're actually assigned to.</a:t>
            </a:r>
          </a:p>
          <a:p>
            <a:r>
              <a:t>"Operations Group" is the standard organizational layer at a flying wing — it sits under the Wing Commander and owns the flying squadrons directly. That's where a 14N is typically embedded, not off in a separate intel-only unit.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Speciality</a:t>
            </a:r>
            <a:r>
              <a:rPr lang="en-US" dirty="0"/>
              <a:t>/specialization </a:t>
            </a:r>
            <a:r>
              <a:rPr lang="en-US"/>
              <a:t>tracks:</a:t>
            </a:r>
            <a:br>
              <a:rPr lang="en-US"/>
            </a:br>
            <a:br>
              <a:rPr lang="en-US"/>
            </a:br>
            <a:r>
              <a:t>These </a:t>
            </a:r>
            <a:r>
              <a:rPr dirty="0"/>
              <a:t>four aren't separate entry-level jobs — they're where the career field branches after someone is already qualified (an SEI for officers, a follow-on award for enlisted).</a:t>
            </a:r>
          </a:p>
          <a:p>
            <a:r>
              <a:rPr dirty="0"/>
              <a:t>Targeting (1N8X1) is generally the most kinetic / operationally direct specialty — its product can directly feed a strike decision, which also means it carries the heaviest weight of responsibility in the field.</a:t>
            </a:r>
          </a:p>
          <a:p>
            <a:r>
              <a:rPr dirty="0"/>
              <a:t>Collection management is less a separate specialty than a skill experienced analysts grow into — deciding where to point limited collection assets is one of the hardest judgment calls in intelligence, because there's never enough collection capacity to answer every open question.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Worth knowing for Q&amp;A: a lot of real-world intel work happens in a SCIF (Sensitive Compartmented Information Facility) — a secure, access-controlled space where classified material can be discussed and processed.</a:t>
            </a:r>
          </a:p>
          <a:p>
            <a:r>
              <a:t>Ops tempo is genuinely shift-based rather than 9-to-5. Units supporting real-time or combat operations often run their intelligence shop 24/7 in rotating shifts, which is a different rhythm than a lot of other Air Force jobs.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MAJCOM examples worth naming if asked: ACC (Air Combat Command, fighters/ISR), AMC (Air Mobility Command, airlift/tankers), AFSOC (Air Force Special Operations Command), PACAF (Pacific Air Forces) — each sets its own intelligence priorities within DoD-wide requirements.</a:t>
            </a:r>
          </a:p>
          <a:p>
            <a:r>
              <a:t>On the national agencies: NASIC (National Air and Space Intelligence Center) is headquartered at Wright-Patterson AFB in Ohio. Its job is analyzing foreign air, space, missile, and cyber threats, and it actually traces its lineage back to WWII, when captured enemy aircraft were studied at that same base. DIA (Defense Intelligence Agency) is the overall DoD-wide intelligence agency — NASIC feeds it specialized air-threat analysis. NSA (National Security Agency) runs the nation's signals intelligence collection and also holds the government's primary cybersecurity mission. None of these three are Air Force-only — they're joint/national organizations — but Air Force intelligence people feed them and draw on their products constantly.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FIXED 2026-10-01: the quotation marks have been removed from "The first through the fight," so it now reads as this deck's own framing rather than a cited quote. It is NOT a verified official Air Force motto - it could not be confirmed as real - so do not introduce it as one when you speak. Say it as your own line, or drop it.</a:t>
            </a:r>
          </a:p>
          <a:p>
            <a:r>
              <a:t>Real, verifiable ISR/intelligence-adjacent mottos if you'd rather use something authentic: 25th Air Force's "Freedom Through Vigilance," or the 480th ISR Wing's "Non Potestis Latere" ("You Can't Hide"). Either will drop straight into the box - the 480th ISR Wing line fits this slide best, since the 480th runs the AF DCGS enterprise the slide is really describing.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your safety net if you run short on time live — if you need to cut slides on the fly, you could jump straight from slide 5 (the five INTs) to this one and still land a complete, coherent talk.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four sources I actually used to build this deck's factual content — real citations, not filler: airforce.com's official career pages, AFROTC's Holm Center career flyer (PDF), Goodfellow AFB / 17th Training Wing's own article on IOT, and the Air Force's official published training standard (CFETP 1N1X1) for the enlisted side, hosted on e-publishing.af.mil.</a:t>
            </a:r>
          </a:p>
          <a:p>
            <a:r>
              <a:t>Everything added in these speaker notes beyond the slides themselves — the Boyd/OODA history, NASIC's background, the Tier 5/SSBI details, the Admiralty source-rating system — came from additional verified web searches during this conversation, not from memory, so it should hold up if a cadre member or classmate pushes on any of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9.png"/><Relationship Id="rId7"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2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20.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4.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B34"/>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B34"/>
          </a:solidFill>
          <a:ln/>
        </p:spPr>
        <p:txBody>
          <a:bodyPr/>
          <a:lstStyle/>
          <a:p>
            <a:endParaRPr/>
          </a:p>
        </p:txBody>
      </p:sp>
      <p:sp>
        <p:nvSpPr>
          <p:cNvPr id="3" name="Shape 1"/>
          <p:cNvSpPr/>
          <p:nvPr/>
        </p:nvSpPr>
        <p:spPr>
          <a:xfrm>
            <a:off x="8778240" y="-2377440"/>
            <a:ext cx="6400800" cy="6400800"/>
          </a:xfrm>
          <a:prstGeom prst="ellipse">
            <a:avLst/>
          </a:prstGeom>
          <a:solidFill>
            <a:srgbClr val="12284B"/>
          </a:solidFill>
          <a:ln/>
        </p:spPr>
        <p:txBody>
          <a:bodyPr/>
          <a:lstStyle/>
          <a:p>
            <a:endParaRPr/>
          </a:p>
        </p:txBody>
      </p:sp>
      <p:sp>
        <p:nvSpPr>
          <p:cNvPr id="4" name="Shape 2"/>
          <p:cNvSpPr/>
          <p:nvPr/>
        </p:nvSpPr>
        <p:spPr>
          <a:xfrm>
            <a:off x="9692640" y="-1463040"/>
            <a:ext cx="4572000" cy="4572000"/>
          </a:xfrm>
          <a:prstGeom prst="ellipse">
            <a:avLst/>
          </a:prstGeom>
          <a:solidFill>
            <a:srgbClr val="17325C"/>
          </a:solidFill>
          <a:ln/>
        </p:spPr>
        <p:txBody>
          <a:bodyPr/>
          <a:lstStyle/>
          <a:p>
            <a:endParaRPr/>
          </a:p>
        </p:txBody>
      </p:sp>
      <p:sp>
        <p:nvSpPr>
          <p:cNvPr id="5" name="Shape 3"/>
          <p:cNvSpPr/>
          <p:nvPr/>
        </p:nvSpPr>
        <p:spPr>
          <a:xfrm>
            <a:off x="640080" y="594360"/>
            <a:ext cx="640080" cy="640080"/>
          </a:xfrm>
          <a:prstGeom prst="ellipse">
            <a:avLst/>
          </a:prstGeom>
          <a:solidFill>
            <a:srgbClr val="17325C"/>
          </a:solidFill>
          <a:ln/>
        </p:spPr>
        <p:txBody>
          <a:bodyPr/>
          <a:lstStyle/>
          <a:p>
            <a:endParaRPr/>
          </a:p>
        </p:txBody>
      </p:sp>
      <p:pic>
        <p:nvPicPr>
          <p:cNvPr id="6" name="Image 0" descr="C:\Users\Trey\AppData\Local\Temp\claude\c--Projects-astral-project-src-pages-eftShopping\d9389cc2-8d3b-4f0d-be7e-28501db0dc02\scratchpad\afintel\icons\compass_gold.png"/>
          <p:cNvPicPr>
            <a:picLocks noChangeAspect="1"/>
          </p:cNvPicPr>
          <p:nvPr/>
        </p:nvPicPr>
        <p:blipFill>
          <a:blip r:embed="rId3"/>
          <a:stretch>
            <a:fillRect/>
          </a:stretch>
        </p:blipFill>
        <p:spPr>
          <a:xfrm>
            <a:off x="777240" y="731520"/>
            <a:ext cx="365760" cy="365760"/>
          </a:xfrm>
          <a:prstGeom prst="rect">
            <a:avLst/>
          </a:prstGeom>
        </p:spPr>
      </p:pic>
      <p:sp>
        <p:nvSpPr>
          <p:cNvPr id="7" name="Text 4"/>
          <p:cNvSpPr txBox="1"/>
          <p:nvPr/>
        </p:nvSpPr>
        <p:spPr>
          <a:xfrm>
            <a:off x="1417320" y="621792"/>
            <a:ext cx="5486400" cy="5486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AFROTC  ·  CAREER FIELD BRIEFING</a:t>
            </a:r>
            <a:endParaRPr lang="en-US" sz="1300" dirty="0"/>
          </a:p>
        </p:txBody>
      </p:sp>
      <p:sp>
        <p:nvSpPr>
          <p:cNvPr id="8" name="Text 5"/>
          <p:cNvSpPr txBox="1"/>
          <p:nvPr/>
        </p:nvSpPr>
        <p:spPr>
          <a:xfrm>
            <a:off x="640080" y="2331720"/>
            <a:ext cx="8412480" cy="2194560"/>
          </a:xfrm>
          <a:prstGeom prst="rect">
            <a:avLst/>
          </a:prstGeom>
          <a:noFill/>
          <a:ln/>
        </p:spPr>
        <p:txBody>
          <a:bodyPr wrap="square" rtlCol="0" anchor="ctr"/>
          <a:lstStyle/>
          <a:p>
            <a:pPr marL="0" indent="0">
              <a:lnSpc>
                <a:spcPct val="102000"/>
              </a:lnSpc>
              <a:buNone/>
            </a:pPr>
            <a:r>
              <a:rPr lang="en-US" sz="5400" b="1" dirty="0">
                <a:solidFill>
                  <a:srgbClr val="FFFFFF"/>
                </a:solidFill>
                <a:latin typeface="Cambria" pitchFamily="34" charset="0"/>
                <a:ea typeface="Cambria" pitchFamily="34" charset="-122"/>
                <a:cs typeface="Cambria" pitchFamily="34" charset="-120"/>
              </a:rPr>
              <a:t>Air Force</a:t>
            </a:r>
            <a:endParaRPr lang="en-US" sz="5400" dirty="0"/>
          </a:p>
          <a:p>
            <a:pPr marL="0" indent="0">
              <a:lnSpc>
                <a:spcPct val="102000"/>
              </a:lnSpc>
              <a:buNone/>
            </a:pPr>
            <a:r>
              <a:rPr lang="en-US" sz="5400" b="1" dirty="0">
                <a:solidFill>
                  <a:srgbClr val="FFFFFF"/>
                </a:solidFill>
                <a:latin typeface="Cambria" pitchFamily="34" charset="0"/>
                <a:ea typeface="Cambria" pitchFamily="34" charset="-122"/>
                <a:cs typeface="Cambria" pitchFamily="34" charset="-120"/>
              </a:rPr>
              <a:t>Intelligence</a:t>
            </a:r>
            <a:endParaRPr lang="en-US" sz="5400" dirty="0"/>
          </a:p>
        </p:txBody>
      </p:sp>
      <p:sp>
        <p:nvSpPr>
          <p:cNvPr id="9" name="Text 6"/>
          <p:cNvSpPr txBox="1"/>
          <p:nvPr/>
        </p:nvSpPr>
        <p:spPr>
          <a:xfrm>
            <a:off x="658368" y="4343400"/>
            <a:ext cx="8046720" cy="548640"/>
          </a:xfrm>
          <a:prstGeom prst="rect">
            <a:avLst/>
          </a:prstGeom>
          <a:noFill/>
          <a:ln/>
        </p:spPr>
        <p:txBody>
          <a:bodyPr wrap="square" rtlCol="0" anchor="ctr"/>
          <a:lstStyle/>
          <a:p>
            <a:pPr marL="0" indent="0">
              <a:buNone/>
            </a:pPr>
            <a:r>
              <a:rPr lang="en-US" sz="1800" i="1" dirty="0">
                <a:solidFill>
                  <a:srgbClr val="8CA3C7"/>
                </a:solidFill>
                <a:latin typeface="Calibri" pitchFamily="34" charset="0"/>
                <a:ea typeface="Calibri" pitchFamily="34" charset="-122"/>
                <a:cs typeface="Calibri" pitchFamily="34" charset="-120"/>
              </a:rPr>
              <a:t>Eyes, ears, and analysis behind every Air Force mission</a:t>
            </a:r>
            <a:endParaRPr lang="en-US" sz="1800" dirty="0"/>
          </a:p>
        </p:txBody>
      </p:sp>
      <p:sp>
        <p:nvSpPr>
          <p:cNvPr id="10" name="Text 7"/>
          <p:cNvSpPr txBox="1"/>
          <p:nvPr/>
        </p:nvSpPr>
        <p:spPr>
          <a:xfrm>
            <a:off x="658368" y="6172200"/>
            <a:ext cx="7315200" cy="365760"/>
          </a:xfrm>
          <a:prstGeom prst="rect">
            <a:avLst/>
          </a:prstGeom>
          <a:noFill/>
          <a:ln/>
        </p:spPr>
        <p:txBody>
          <a:bodyPr wrap="square" rtlCol="0" anchor="ctr"/>
          <a:lstStyle/>
          <a:p>
            <a:pPr marL="0" indent="0">
              <a:buNone/>
            </a:pPr>
            <a:r>
              <a:rPr lang="en-US" sz="1200" dirty="0">
                <a:solidFill>
                  <a:srgbClr val="8CA3C7"/>
                </a:solidFill>
                <a:latin typeface="Calibri" pitchFamily="34" charset="0"/>
                <a:ea typeface="Calibri" pitchFamily="34" charset="-122"/>
                <a:cs typeface="Calibri" pitchFamily="34" charset="-120"/>
              </a:rPr>
              <a:t>Presented for AFROTC  ·  3–5 minute career-field overview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12284B"/>
                </a:solidFill>
                <a:latin typeface="Cambria" pitchFamily="34" charset="0"/>
                <a:ea typeface="Cambria" pitchFamily="34" charset="-122"/>
                <a:cs typeface="Cambria" pitchFamily="34" charset="-120"/>
              </a:rPr>
              <a:t>What we’ll cover</a:t>
            </a:r>
            <a:endParaRPr lang="en-US" sz="3200" dirty="0"/>
          </a:p>
        </p:txBody>
      </p:sp>
      <p:sp>
        <p:nvSpPr>
          <p:cNvPr id="4" name="Shape 2"/>
          <p:cNvSpPr/>
          <p:nvPr/>
        </p:nvSpPr>
        <p:spPr>
          <a:xfrm>
            <a:off x="548640" y="1783080"/>
            <a:ext cx="3429000" cy="1691640"/>
          </a:xfrm>
          <a:prstGeom prst="roundRect">
            <a:avLst>
              <a:gd name="adj" fmla="val 4324"/>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5" name="Shape 3"/>
          <p:cNvSpPr/>
          <p:nvPr/>
        </p:nvSpPr>
        <p:spPr>
          <a:xfrm>
            <a:off x="777240" y="2011680"/>
            <a:ext cx="502920" cy="502920"/>
          </a:xfrm>
          <a:prstGeom prst="ellipse">
            <a:avLst/>
          </a:prstGeom>
          <a:solidFill>
            <a:srgbClr val="12284B"/>
          </a:solidFill>
          <a:ln/>
        </p:spPr>
        <p:txBody>
          <a:bodyPr/>
          <a:lstStyle/>
          <a:p>
            <a:endParaRPr/>
          </a:p>
        </p:txBody>
      </p:sp>
      <p:pic>
        <p:nvPicPr>
          <p:cNvPr id="6" name="Image 0" descr="C:\Users\Trey\AppData\Local\Temp\claude\c--Projects-astral-project-src-pages-eftShopping\d9389cc2-8d3b-4f0d-be7e-28501db0dc02\scratchpad\afintel\icons\compass_gold.png"/>
          <p:cNvPicPr>
            <a:picLocks noChangeAspect="1"/>
          </p:cNvPicPr>
          <p:nvPr/>
        </p:nvPicPr>
        <p:blipFill>
          <a:blip r:embed="rId3"/>
          <a:stretch>
            <a:fillRect/>
          </a:stretch>
        </p:blipFill>
        <p:spPr>
          <a:xfrm>
            <a:off x="914400" y="2148840"/>
            <a:ext cx="228600" cy="228600"/>
          </a:xfrm>
          <a:prstGeom prst="rect">
            <a:avLst/>
          </a:prstGeom>
        </p:spPr>
      </p:pic>
      <p:sp>
        <p:nvSpPr>
          <p:cNvPr id="7" name="Text 4"/>
          <p:cNvSpPr txBox="1"/>
          <p:nvPr/>
        </p:nvSpPr>
        <p:spPr>
          <a:xfrm>
            <a:off x="1417320" y="1984248"/>
            <a:ext cx="2377440" cy="365760"/>
          </a:xfrm>
          <a:prstGeom prst="rect">
            <a:avLst/>
          </a:prstGeom>
          <a:noFill/>
          <a:ln/>
        </p:spPr>
        <p:txBody>
          <a:bodyPr wrap="square" rtlCol="0" anchor="ctr"/>
          <a:lstStyle/>
          <a:p>
            <a:pPr marL="0" indent="0">
              <a:buNone/>
            </a:pPr>
            <a:r>
              <a:rPr lang="en-US" sz="1500" b="1" dirty="0">
                <a:solidFill>
                  <a:srgbClr val="12284B"/>
                </a:solidFill>
                <a:latin typeface="Calibri" pitchFamily="34" charset="0"/>
                <a:ea typeface="Calibri" pitchFamily="34" charset="-122"/>
                <a:cs typeface="Calibri" pitchFamily="34" charset="-120"/>
              </a:rPr>
              <a:t>The Mission</a:t>
            </a:r>
            <a:endParaRPr lang="en-US" sz="1500" dirty="0"/>
          </a:p>
        </p:txBody>
      </p:sp>
      <p:sp>
        <p:nvSpPr>
          <p:cNvPr id="8" name="Text 5"/>
          <p:cNvSpPr txBox="1"/>
          <p:nvPr/>
        </p:nvSpPr>
        <p:spPr>
          <a:xfrm>
            <a:off x="777240" y="2651760"/>
            <a:ext cx="2971800" cy="731520"/>
          </a:xfrm>
          <a:prstGeom prst="rect">
            <a:avLst/>
          </a:prstGeom>
          <a:noFill/>
          <a:ln/>
        </p:spPr>
        <p:txBody>
          <a:bodyPr wrap="square" rtlCol="0" anchor="t"/>
          <a:lstStyle/>
          <a:p>
            <a:pPr marL="0" indent="0">
              <a:buNone/>
            </a:pPr>
            <a:r>
              <a:rPr lang="en-US" sz="1150" dirty="0">
                <a:solidFill>
                  <a:srgbClr val="5C6B82"/>
                </a:solidFill>
                <a:latin typeface="Calibri" pitchFamily="34" charset="0"/>
                <a:ea typeface="Calibri" pitchFamily="34" charset="-122"/>
                <a:cs typeface="Calibri" pitchFamily="34" charset="-120"/>
              </a:rPr>
              <a:t>Why intelligence exists in the Air Force</a:t>
            </a:r>
            <a:endParaRPr lang="en-US" sz="1150" dirty="0"/>
          </a:p>
        </p:txBody>
      </p:sp>
      <p:sp>
        <p:nvSpPr>
          <p:cNvPr id="9" name="Shape 6"/>
          <p:cNvSpPr/>
          <p:nvPr/>
        </p:nvSpPr>
        <p:spPr>
          <a:xfrm>
            <a:off x="4206240" y="1783080"/>
            <a:ext cx="3429000" cy="1691640"/>
          </a:xfrm>
          <a:prstGeom prst="roundRect">
            <a:avLst>
              <a:gd name="adj" fmla="val 4324"/>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10" name="Shape 7"/>
          <p:cNvSpPr/>
          <p:nvPr/>
        </p:nvSpPr>
        <p:spPr>
          <a:xfrm>
            <a:off x="4434840" y="2011680"/>
            <a:ext cx="502920" cy="502920"/>
          </a:xfrm>
          <a:prstGeom prst="ellipse">
            <a:avLst/>
          </a:prstGeom>
          <a:solidFill>
            <a:srgbClr val="12284B"/>
          </a:solidFill>
          <a:ln/>
        </p:spPr>
        <p:txBody>
          <a:bodyPr/>
          <a:lstStyle/>
          <a:p>
            <a:endParaRPr/>
          </a:p>
        </p:txBody>
      </p:sp>
      <p:pic>
        <p:nvPicPr>
          <p:cNvPr id="11" name="Image 1" descr="C:\Users\Trey\AppData\Local\Temp\claude\c--Projects-astral-project-src-pages-eftShopping\d9389cc2-8d3b-4f0d-be7e-28501db0dc02\scratchpad\afintel\icons\globe_gold.png"/>
          <p:cNvPicPr>
            <a:picLocks noChangeAspect="1"/>
          </p:cNvPicPr>
          <p:nvPr/>
        </p:nvPicPr>
        <p:blipFill>
          <a:blip r:embed="rId4"/>
          <a:stretch>
            <a:fillRect/>
          </a:stretch>
        </p:blipFill>
        <p:spPr>
          <a:xfrm>
            <a:off x="4572000" y="2148840"/>
            <a:ext cx="228600" cy="228600"/>
          </a:xfrm>
          <a:prstGeom prst="rect">
            <a:avLst/>
          </a:prstGeom>
        </p:spPr>
      </p:pic>
      <p:sp>
        <p:nvSpPr>
          <p:cNvPr id="12" name="Text 8"/>
          <p:cNvSpPr txBox="1"/>
          <p:nvPr/>
        </p:nvSpPr>
        <p:spPr>
          <a:xfrm>
            <a:off x="5074920" y="1984248"/>
            <a:ext cx="2377440" cy="365760"/>
          </a:xfrm>
          <a:prstGeom prst="rect">
            <a:avLst/>
          </a:prstGeom>
          <a:noFill/>
          <a:ln/>
        </p:spPr>
        <p:txBody>
          <a:bodyPr wrap="square" rtlCol="0" anchor="ctr"/>
          <a:lstStyle/>
          <a:p>
            <a:pPr marL="0" indent="0">
              <a:buNone/>
            </a:pPr>
            <a:r>
              <a:rPr lang="en-US" sz="1500" b="1" dirty="0">
                <a:solidFill>
                  <a:srgbClr val="12284B"/>
                </a:solidFill>
                <a:latin typeface="Calibri" pitchFamily="34" charset="0"/>
                <a:ea typeface="Calibri" pitchFamily="34" charset="-122"/>
                <a:cs typeface="Calibri" pitchFamily="34" charset="-120"/>
              </a:rPr>
              <a:t>The Five INTs</a:t>
            </a:r>
            <a:endParaRPr lang="en-US" sz="1500" dirty="0"/>
          </a:p>
        </p:txBody>
      </p:sp>
      <p:sp>
        <p:nvSpPr>
          <p:cNvPr id="13" name="Text 9"/>
          <p:cNvSpPr txBox="1"/>
          <p:nvPr/>
        </p:nvSpPr>
        <p:spPr>
          <a:xfrm>
            <a:off x="4434840" y="2651760"/>
            <a:ext cx="2971800" cy="731520"/>
          </a:xfrm>
          <a:prstGeom prst="rect">
            <a:avLst/>
          </a:prstGeom>
          <a:noFill/>
          <a:ln/>
        </p:spPr>
        <p:txBody>
          <a:bodyPr wrap="square" rtlCol="0" anchor="t"/>
          <a:lstStyle/>
          <a:p>
            <a:pPr marL="0" indent="0">
              <a:buNone/>
            </a:pPr>
            <a:r>
              <a:rPr lang="en-US" sz="1150" dirty="0">
                <a:solidFill>
                  <a:srgbClr val="5C6B82"/>
                </a:solidFill>
                <a:latin typeface="Calibri" pitchFamily="34" charset="0"/>
                <a:ea typeface="Calibri" pitchFamily="34" charset="-122"/>
                <a:cs typeface="Calibri" pitchFamily="34" charset="-120"/>
              </a:rPr>
              <a:t>How raw information becomes usable intelligence</a:t>
            </a:r>
            <a:endParaRPr lang="en-US" sz="1150" dirty="0"/>
          </a:p>
        </p:txBody>
      </p:sp>
      <p:sp>
        <p:nvSpPr>
          <p:cNvPr id="14" name="Shape 10"/>
          <p:cNvSpPr/>
          <p:nvPr/>
        </p:nvSpPr>
        <p:spPr>
          <a:xfrm>
            <a:off x="7863840" y="1783080"/>
            <a:ext cx="3429000" cy="1691640"/>
          </a:xfrm>
          <a:prstGeom prst="roundRect">
            <a:avLst>
              <a:gd name="adj" fmla="val 4324"/>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15" name="Shape 11"/>
          <p:cNvSpPr/>
          <p:nvPr/>
        </p:nvSpPr>
        <p:spPr>
          <a:xfrm>
            <a:off x="8092440" y="2011680"/>
            <a:ext cx="502920" cy="502920"/>
          </a:xfrm>
          <a:prstGeom prst="ellipse">
            <a:avLst/>
          </a:prstGeom>
          <a:solidFill>
            <a:srgbClr val="12284B"/>
          </a:solidFill>
          <a:ln/>
        </p:spPr>
        <p:txBody>
          <a:bodyPr/>
          <a:lstStyle/>
          <a:p>
            <a:endParaRPr/>
          </a:p>
        </p:txBody>
      </p:sp>
      <p:pic>
        <p:nvPicPr>
          <p:cNvPr id="16" name="Image 2" descr="C:\Users\Trey\AppData\Local\Temp\claude\c--Projects-astral-project-src-pages-eftShopping\d9389cc2-8d3b-4f0d-be7e-28501db0dc02\scratchpad\afintel\icons\gradcap_gold.png"/>
          <p:cNvPicPr>
            <a:picLocks noChangeAspect="1"/>
          </p:cNvPicPr>
          <p:nvPr/>
        </p:nvPicPr>
        <p:blipFill>
          <a:blip r:embed="rId5"/>
          <a:stretch>
            <a:fillRect/>
          </a:stretch>
        </p:blipFill>
        <p:spPr>
          <a:xfrm>
            <a:off x="8229600" y="2148840"/>
            <a:ext cx="228600" cy="228600"/>
          </a:xfrm>
          <a:prstGeom prst="rect">
            <a:avLst/>
          </a:prstGeom>
        </p:spPr>
      </p:pic>
      <p:sp>
        <p:nvSpPr>
          <p:cNvPr id="17" name="Text 12"/>
          <p:cNvSpPr txBox="1"/>
          <p:nvPr/>
        </p:nvSpPr>
        <p:spPr>
          <a:xfrm>
            <a:off x="8732520" y="1984248"/>
            <a:ext cx="2377440" cy="365760"/>
          </a:xfrm>
          <a:prstGeom prst="rect">
            <a:avLst/>
          </a:prstGeom>
          <a:noFill/>
          <a:ln/>
        </p:spPr>
        <p:txBody>
          <a:bodyPr wrap="square" rtlCol="0" anchor="ctr"/>
          <a:lstStyle/>
          <a:p>
            <a:pPr marL="0" indent="0">
              <a:buNone/>
            </a:pPr>
            <a:r>
              <a:rPr lang="en-US" sz="1500" b="1" dirty="0">
                <a:solidFill>
                  <a:srgbClr val="12284B"/>
                </a:solidFill>
                <a:latin typeface="Calibri" pitchFamily="34" charset="0"/>
                <a:ea typeface="Calibri" pitchFamily="34" charset="-122"/>
                <a:cs typeface="Calibri" pitchFamily="34" charset="-120"/>
              </a:rPr>
              <a:t>Becoming an Officer</a:t>
            </a:r>
            <a:endParaRPr lang="en-US" sz="1500" dirty="0"/>
          </a:p>
        </p:txBody>
      </p:sp>
      <p:sp>
        <p:nvSpPr>
          <p:cNvPr id="18" name="Text 13"/>
          <p:cNvSpPr txBox="1"/>
          <p:nvPr/>
        </p:nvSpPr>
        <p:spPr>
          <a:xfrm>
            <a:off x="8092440" y="2651760"/>
            <a:ext cx="2971800" cy="731520"/>
          </a:xfrm>
          <a:prstGeom prst="rect">
            <a:avLst/>
          </a:prstGeom>
          <a:noFill/>
          <a:ln/>
        </p:spPr>
        <p:txBody>
          <a:bodyPr wrap="square" rtlCol="0" anchor="t"/>
          <a:lstStyle/>
          <a:p>
            <a:pPr marL="0" indent="0">
              <a:buNone/>
            </a:pPr>
            <a:r>
              <a:rPr lang="en-US" sz="1150" dirty="0">
                <a:solidFill>
                  <a:srgbClr val="5C6B82"/>
                </a:solidFill>
                <a:latin typeface="Calibri" pitchFamily="34" charset="0"/>
                <a:ea typeface="Calibri" pitchFamily="34" charset="-122"/>
                <a:cs typeface="Calibri" pitchFamily="34" charset="-120"/>
              </a:rPr>
              <a:t>Commissioning, clearance, and training pipeline</a:t>
            </a:r>
            <a:endParaRPr lang="en-US" sz="1150" dirty="0"/>
          </a:p>
        </p:txBody>
      </p:sp>
      <p:sp>
        <p:nvSpPr>
          <p:cNvPr id="19" name="Shape 14"/>
          <p:cNvSpPr/>
          <p:nvPr/>
        </p:nvSpPr>
        <p:spPr>
          <a:xfrm>
            <a:off x="548640" y="3749040"/>
            <a:ext cx="3429000" cy="1691640"/>
          </a:xfrm>
          <a:prstGeom prst="roundRect">
            <a:avLst>
              <a:gd name="adj" fmla="val 4324"/>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20" name="Shape 15"/>
          <p:cNvSpPr/>
          <p:nvPr/>
        </p:nvSpPr>
        <p:spPr>
          <a:xfrm>
            <a:off x="777240" y="3977640"/>
            <a:ext cx="502920" cy="502920"/>
          </a:xfrm>
          <a:prstGeom prst="ellipse">
            <a:avLst/>
          </a:prstGeom>
          <a:solidFill>
            <a:srgbClr val="12284B"/>
          </a:solidFill>
          <a:ln/>
        </p:spPr>
        <p:txBody>
          <a:bodyPr/>
          <a:lstStyle/>
          <a:p>
            <a:endParaRPr/>
          </a:p>
        </p:txBody>
      </p:sp>
      <p:pic>
        <p:nvPicPr>
          <p:cNvPr id="21" name="Image 3" descr="C:\Users\Trey\AppData\Local\Temp\claude\c--Projects-astral-project-src-pages-eftShopping\d9389cc2-8d3b-4f0d-be7e-28501db0dc02\scratchpad\afintel\icons\users_gold.png"/>
          <p:cNvPicPr>
            <a:picLocks noChangeAspect="1"/>
          </p:cNvPicPr>
          <p:nvPr/>
        </p:nvPicPr>
        <p:blipFill>
          <a:blip r:embed="rId6"/>
          <a:stretch>
            <a:fillRect/>
          </a:stretch>
        </p:blipFill>
        <p:spPr>
          <a:xfrm>
            <a:off x="914400" y="4114800"/>
            <a:ext cx="228600" cy="228600"/>
          </a:xfrm>
          <a:prstGeom prst="rect">
            <a:avLst/>
          </a:prstGeom>
        </p:spPr>
      </p:pic>
      <p:sp>
        <p:nvSpPr>
          <p:cNvPr id="22" name="Text 16"/>
          <p:cNvSpPr txBox="1"/>
          <p:nvPr/>
        </p:nvSpPr>
        <p:spPr>
          <a:xfrm>
            <a:off x="1417320" y="3950208"/>
            <a:ext cx="2377440" cy="365760"/>
          </a:xfrm>
          <a:prstGeom prst="rect">
            <a:avLst/>
          </a:prstGeom>
          <a:noFill/>
          <a:ln/>
        </p:spPr>
        <p:txBody>
          <a:bodyPr wrap="square" rtlCol="0" anchor="ctr"/>
          <a:lstStyle/>
          <a:p>
            <a:pPr marL="0" indent="0">
              <a:buNone/>
            </a:pPr>
            <a:r>
              <a:rPr lang="en-US" sz="1500" b="1" dirty="0">
                <a:solidFill>
                  <a:srgbClr val="12284B"/>
                </a:solidFill>
                <a:latin typeface="Calibri" pitchFamily="34" charset="0"/>
                <a:ea typeface="Calibri" pitchFamily="34" charset="-122"/>
                <a:cs typeface="Calibri" pitchFamily="34" charset="-120"/>
              </a:rPr>
              <a:t>The Analyst Team</a:t>
            </a:r>
            <a:endParaRPr lang="en-US" sz="1500" dirty="0"/>
          </a:p>
        </p:txBody>
      </p:sp>
      <p:sp>
        <p:nvSpPr>
          <p:cNvPr id="23" name="Text 17"/>
          <p:cNvSpPr txBox="1"/>
          <p:nvPr/>
        </p:nvSpPr>
        <p:spPr>
          <a:xfrm>
            <a:off x="777240" y="4617720"/>
            <a:ext cx="2971800" cy="731520"/>
          </a:xfrm>
          <a:prstGeom prst="rect">
            <a:avLst/>
          </a:prstGeom>
          <a:noFill/>
          <a:ln/>
        </p:spPr>
        <p:txBody>
          <a:bodyPr wrap="square" rtlCol="0" anchor="t"/>
          <a:lstStyle/>
          <a:p>
            <a:pPr marL="0" indent="0">
              <a:buNone/>
            </a:pPr>
            <a:r>
              <a:rPr lang="en-US" sz="1150" dirty="0">
                <a:solidFill>
                  <a:srgbClr val="5C6B82"/>
                </a:solidFill>
                <a:latin typeface="Calibri" pitchFamily="34" charset="0"/>
                <a:ea typeface="Calibri" pitchFamily="34" charset="-122"/>
                <a:cs typeface="Calibri" pitchFamily="34" charset="-120"/>
              </a:rPr>
              <a:t>Who builds the picture with you</a:t>
            </a:r>
            <a:endParaRPr lang="en-US" sz="1150" dirty="0"/>
          </a:p>
        </p:txBody>
      </p:sp>
      <p:sp>
        <p:nvSpPr>
          <p:cNvPr id="24" name="Shape 18"/>
          <p:cNvSpPr/>
          <p:nvPr/>
        </p:nvSpPr>
        <p:spPr>
          <a:xfrm>
            <a:off x="4206240" y="3749040"/>
            <a:ext cx="3429000" cy="1691640"/>
          </a:xfrm>
          <a:prstGeom prst="roundRect">
            <a:avLst>
              <a:gd name="adj" fmla="val 4324"/>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25" name="Shape 19"/>
          <p:cNvSpPr/>
          <p:nvPr/>
        </p:nvSpPr>
        <p:spPr>
          <a:xfrm>
            <a:off x="4434840" y="3977640"/>
            <a:ext cx="502920" cy="502920"/>
          </a:xfrm>
          <a:prstGeom prst="ellipse">
            <a:avLst/>
          </a:prstGeom>
          <a:solidFill>
            <a:srgbClr val="12284B"/>
          </a:solidFill>
          <a:ln/>
        </p:spPr>
        <p:txBody>
          <a:bodyPr/>
          <a:lstStyle/>
          <a:p>
            <a:endParaRPr/>
          </a:p>
        </p:txBody>
      </p:sp>
      <p:pic>
        <p:nvPicPr>
          <p:cNvPr id="26" name="Image 4" descr="C:\Users\Trey\AppData\Local\Temp\claude\c--Projects-astral-project-src-pages-eftShopping\d9389cc2-8d3b-4f0d-be7e-28501db0dc02\scratchpad\afintel\icons\clipboard_gold.png"/>
          <p:cNvPicPr>
            <a:picLocks noChangeAspect="1"/>
          </p:cNvPicPr>
          <p:nvPr/>
        </p:nvPicPr>
        <p:blipFill>
          <a:blip r:embed="rId7"/>
          <a:stretch>
            <a:fillRect/>
          </a:stretch>
        </p:blipFill>
        <p:spPr>
          <a:xfrm>
            <a:off x="4572000" y="4114800"/>
            <a:ext cx="228600" cy="228600"/>
          </a:xfrm>
          <a:prstGeom prst="rect">
            <a:avLst/>
          </a:prstGeom>
        </p:spPr>
      </p:pic>
      <p:sp>
        <p:nvSpPr>
          <p:cNvPr id="27" name="Text 20"/>
          <p:cNvSpPr txBox="1"/>
          <p:nvPr/>
        </p:nvSpPr>
        <p:spPr>
          <a:xfrm>
            <a:off x="5074920" y="3950208"/>
            <a:ext cx="2377440" cy="365760"/>
          </a:xfrm>
          <a:prstGeom prst="rect">
            <a:avLst/>
          </a:prstGeom>
          <a:noFill/>
          <a:ln/>
        </p:spPr>
        <p:txBody>
          <a:bodyPr wrap="square" rtlCol="0" anchor="ctr"/>
          <a:lstStyle/>
          <a:p>
            <a:pPr marL="0" indent="0">
              <a:buNone/>
            </a:pPr>
            <a:r>
              <a:rPr lang="en-US" sz="1500" b="1" dirty="0">
                <a:solidFill>
                  <a:srgbClr val="12284B"/>
                </a:solidFill>
                <a:latin typeface="Calibri" pitchFamily="34" charset="0"/>
                <a:ea typeface="Calibri" pitchFamily="34" charset="-122"/>
                <a:cs typeface="Calibri" pitchFamily="34" charset="-120"/>
              </a:rPr>
              <a:t>A Day in the Life</a:t>
            </a:r>
            <a:endParaRPr lang="en-US" sz="1500" dirty="0"/>
          </a:p>
        </p:txBody>
      </p:sp>
      <p:sp>
        <p:nvSpPr>
          <p:cNvPr id="28" name="Text 21"/>
          <p:cNvSpPr txBox="1"/>
          <p:nvPr/>
        </p:nvSpPr>
        <p:spPr>
          <a:xfrm>
            <a:off x="4434840" y="4617720"/>
            <a:ext cx="2971800" cy="731520"/>
          </a:xfrm>
          <a:prstGeom prst="rect">
            <a:avLst/>
          </a:prstGeom>
          <a:noFill/>
          <a:ln/>
        </p:spPr>
        <p:txBody>
          <a:bodyPr wrap="square" rtlCol="0" anchor="t"/>
          <a:lstStyle/>
          <a:p>
            <a:pPr marL="0" indent="0">
              <a:buNone/>
            </a:pPr>
            <a:r>
              <a:rPr lang="en-US" sz="1150" dirty="0">
                <a:solidFill>
                  <a:srgbClr val="5C6B82"/>
                </a:solidFill>
                <a:latin typeface="Calibri" pitchFamily="34" charset="0"/>
                <a:ea typeface="Calibri" pitchFamily="34" charset="-122"/>
                <a:cs typeface="Calibri" pitchFamily="34" charset="-120"/>
              </a:rPr>
              <a:t>What the job actually looks like</a:t>
            </a:r>
            <a:endParaRPr lang="en-US" sz="1150" dirty="0"/>
          </a:p>
        </p:txBody>
      </p:sp>
      <p:sp>
        <p:nvSpPr>
          <p:cNvPr id="29" name="Shape 22"/>
          <p:cNvSpPr/>
          <p:nvPr/>
        </p:nvSpPr>
        <p:spPr>
          <a:xfrm>
            <a:off x="7863840" y="3749040"/>
            <a:ext cx="3429000" cy="1691640"/>
          </a:xfrm>
          <a:prstGeom prst="roundRect">
            <a:avLst>
              <a:gd name="adj" fmla="val 4324"/>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30" name="Shape 23"/>
          <p:cNvSpPr/>
          <p:nvPr/>
        </p:nvSpPr>
        <p:spPr>
          <a:xfrm>
            <a:off x="8092440" y="3977640"/>
            <a:ext cx="502920" cy="502920"/>
          </a:xfrm>
          <a:prstGeom prst="ellipse">
            <a:avLst/>
          </a:prstGeom>
          <a:solidFill>
            <a:srgbClr val="12284B"/>
          </a:solidFill>
          <a:ln/>
        </p:spPr>
        <p:txBody>
          <a:bodyPr/>
          <a:lstStyle/>
          <a:p>
            <a:endParaRPr/>
          </a:p>
        </p:txBody>
      </p:sp>
      <p:pic>
        <p:nvPicPr>
          <p:cNvPr id="31" name="Image 5" descr="C:\Users\Trey\AppData\Local\Temp\claude\c--Projects-astral-project-src-pages-eftShopping\d9389cc2-8d3b-4f0d-be7e-28501db0dc02\scratchpad\afintel\icons\medal_gold.png"/>
          <p:cNvPicPr>
            <a:picLocks noChangeAspect="1"/>
          </p:cNvPicPr>
          <p:nvPr/>
        </p:nvPicPr>
        <p:blipFill>
          <a:blip r:embed="rId8"/>
          <a:stretch>
            <a:fillRect/>
          </a:stretch>
        </p:blipFill>
        <p:spPr>
          <a:xfrm>
            <a:off x="8229600" y="4114800"/>
            <a:ext cx="228600" cy="228600"/>
          </a:xfrm>
          <a:prstGeom prst="rect">
            <a:avLst/>
          </a:prstGeom>
        </p:spPr>
      </p:pic>
      <p:sp>
        <p:nvSpPr>
          <p:cNvPr id="32" name="Text 24"/>
          <p:cNvSpPr txBox="1"/>
          <p:nvPr/>
        </p:nvSpPr>
        <p:spPr>
          <a:xfrm>
            <a:off x="8732520" y="3950208"/>
            <a:ext cx="2377440" cy="365760"/>
          </a:xfrm>
          <a:prstGeom prst="rect">
            <a:avLst/>
          </a:prstGeom>
          <a:noFill/>
          <a:ln/>
        </p:spPr>
        <p:txBody>
          <a:bodyPr wrap="square" rtlCol="0" anchor="ctr"/>
          <a:lstStyle/>
          <a:p>
            <a:pPr marL="0" indent="0">
              <a:buNone/>
            </a:pPr>
            <a:r>
              <a:rPr lang="en-US" sz="1500" b="1" dirty="0">
                <a:solidFill>
                  <a:srgbClr val="12284B"/>
                </a:solidFill>
                <a:latin typeface="Calibri" pitchFamily="34" charset="0"/>
                <a:ea typeface="Calibri" pitchFamily="34" charset="-122"/>
                <a:cs typeface="Calibri" pitchFamily="34" charset="-120"/>
              </a:rPr>
              <a:t>Career &amp; Impact</a:t>
            </a:r>
            <a:endParaRPr lang="en-US" sz="1500" dirty="0"/>
          </a:p>
        </p:txBody>
      </p:sp>
      <p:sp>
        <p:nvSpPr>
          <p:cNvPr id="33" name="Text 25"/>
          <p:cNvSpPr txBox="1"/>
          <p:nvPr/>
        </p:nvSpPr>
        <p:spPr>
          <a:xfrm>
            <a:off x="8092440" y="4617720"/>
            <a:ext cx="2971800" cy="731520"/>
          </a:xfrm>
          <a:prstGeom prst="rect">
            <a:avLst/>
          </a:prstGeom>
          <a:noFill/>
          <a:ln/>
        </p:spPr>
        <p:txBody>
          <a:bodyPr wrap="square" rtlCol="0" anchor="t"/>
          <a:lstStyle/>
          <a:p>
            <a:pPr marL="0" indent="0">
              <a:buNone/>
            </a:pPr>
            <a:r>
              <a:rPr lang="en-US" sz="1150" dirty="0">
                <a:solidFill>
                  <a:srgbClr val="5C6B82"/>
                </a:solidFill>
                <a:latin typeface="Calibri" pitchFamily="34" charset="0"/>
                <a:ea typeface="Calibri" pitchFamily="34" charset="-122"/>
                <a:cs typeface="Calibri" pitchFamily="34" charset="-120"/>
              </a:rPr>
              <a:t>Progression, and why it matters</a:t>
            </a:r>
            <a:endParaRPr lang="en-US" sz="1150" dirty="0"/>
          </a:p>
        </p:txBody>
      </p:sp>
      <p:sp>
        <p:nvSpPr>
          <p:cNvPr id="34" name="Text 26"/>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5C6B82"/>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B34"/>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7315200" cy="365760"/>
          </a:xfrm>
          <a:prstGeom prst="rect">
            <a:avLst/>
          </a:prstGeom>
          <a:noFill/>
        </p:spPr>
        <p:txBody>
          <a:bodyPr wrap="square" lIns="0" tIns="0" rIns="0" bIns="0" anchor="t">
            <a:spAutoFit/>
          </a:bodyPr>
          <a:lstStyle/>
          <a:p>
            <a:pPr algn="l"/>
            <a:r>
              <a:rPr sz="1300" b="1" i="0">
                <a:solidFill>
                  <a:srgbClr val="FFC72C"/>
                </a:solidFill>
                <a:latin typeface="Calibri"/>
              </a:rPr>
              <a:t>IN THEIR OWN WORDS</a:t>
            </a:r>
          </a:p>
        </p:txBody>
      </p:sp>
      <p:sp>
        <p:nvSpPr>
          <p:cNvPr id="3" name="TextBox 2"/>
          <p:cNvSpPr txBox="1"/>
          <p:nvPr/>
        </p:nvSpPr>
        <p:spPr>
          <a:xfrm>
            <a:off x="548640" y="603504"/>
            <a:ext cx="10515600" cy="457200"/>
          </a:xfrm>
          <a:prstGeom prst="rect">
            <a:avLst/>
          </a:prstGeom>
          <a:noFill/>
        </p:spPr>
        <p:txBody>
          <a:bodyPr wrap="square" lIns="0" tIns="0" rIns="0" bIns="0" anchor="t">
            <a:spAutoFit/>
          </a:bodyPr>
          <a:lstStyle/>
          <a:p>
            <a:pPr algn="l"/>
            <a:r>
              <a:rPr sz="1500" b="0" i="1">
                <a:solidFill>
                  <a:srgbClr val="8CA3C7"/>
                </a:solidFill>
                <a:latin typeface="Calibri"/>
              </a:rPr>
              <a:t>What history's strategists — and America's own — said about intelligence</a:t>
            </a:r>
          </a:p>
        </p:txBody>
      </p:sp>
      <p:sp>
        <p:nvSpPr>
          <p:cNvPr id="4" name="TextBox 3"/>
          <p:cNvSpPr txBox="1"/>
          <p:nvPr/>
        </p:nvSpPr>
        <p:spPr>
          <a:xfrm rot="21120000">
            <a:off x="502920" y="896112"/>
            <a:ext cx="2834640" cy="365760"/>
          </a:xfrm>
          <a:prstGeom prst="rect">
            <a:avLst/>
          </a:prstGeom>
          <a:noFill/>
        </p:spPr>
        <p:txBody>
          <a:bodyPr wrap="square" lIns="0" tIns="0" rIns="0" bIns="0" anchor="t">
            <a:spAutoFit/>
          </a:bodyPr>
          <a:lstStyle/>
          <a:p>
            <a:pPr algn="ctr">
              <a:lnSpc>
                <a:spcPct val="105000"/>
              </a:lnSpc>
            </a:pPr>
            <a:r>
              <a:rPr sz="1000" b="0" i="1">
                <a:solidFill>
                  <a:srgbClr val="5B7AA6"/>
                </a:solidFill>
                <a:latin typeface="Cambria"/>
              </a:rPr>
              <a:t>“All warfare is based on deception.”</a:t>
            </a:r>
          </a:p>
        </p:txBody>
      </p:sp>
      <p:sp>
        <p:nvSpPr>
          <p:cNvPr id="5" name="TextBox 4"/>
          <p:cNvSpPr txBox="1"/>
          <p:nvPr/>
        </p:nvSpPr>
        <p:spPr>
          <a:xfrm rot="21120000">
            <a:off x="502920" y="1243584"/>
            <a:ext cx="2834640" cy="219456"/>
          </a:xfrm>
          <a:prstGeom prst="rect">
            <a:avLst/>
          </a:prstGeom>
          <a:noFill/>
        </p:spPr>
        <p:txBody>
          <a:bodyPr wrap="square" lIns="0" tIns="0" rIns="0" bIns="0" anchor="t">
            <a:spAutoFit/>
          </a:bodyPr>
          <a:lstStyle/>
          <a:p>
            <a:pPr algn="ctr"/>
            <a:r>
              <a:rPr sz="750" b="1" i="0">
                <a:solidFill>
                  <a:srgbClr val="3C5080"/>
                </a:solidFill>
                <a:latin typeface="Calibri"/>
              </a:rPr>
              <a:t>— Sun Tzu, The Art of War, Ch. 1</a:t>
            </a:r>
          </a:p>
        </p:txBody>
      </p:sp>
      <p:sp>
        <p:nvSpPr>
          <p:cNvPr id="6" name="TextBox 5"/>
          <p:cNvSpPr txBox="1"/>
          <p:nvPr/>
        </p:nvSpPr>
        <p:spPr>
          <a:xfrm rot="540000">
            <a:off x="8778240" y="896112"/>
            <a:ext cx="2880360" cy="365760"/>
          </a:xfrm>
          <a:prstGeom prst="rect">
            <a:avLst/>
          </a:prstGeom>
          <a:noFill/>
        </p:spPr>
        <p:txBody>
          <a:bodyPr wrap="square" lIns="0" tIns="0" rIns="0" bIns="0" anchor="t">
            <a:spAutoFit/>
          </a:bodyPr>
          <a:lstStyle/>
          <a:p>
            <a:pPr algn="ctr">
              <a:lnSpc>
                <a:spcPct val="105000"/>
              </a:lnSpc>
            </a:pPr>
            <a:r>
              <a:rPr sz="1000" b="0" i="1">
                <a:solidFill>
                  <a:srgbClr val="5B7AA6"/>
                </a:solidFill>
                <a:latin typeface="Cambria"/>
              </a:rPr>
              <a:t>“Knowledge itself is power.”</a:t>
            </a:r>
          </a:p>
        </p:txBody>
      </p:sp>
      <p:sp>
        <p:nvSpPr>
          <p:cNvPr id="7" name="TextBox 6"/>
          <p:cNvSpPr txBox="1"/>
          <p:nvPr/>
        </p:nvSpPr>
        <p:spPr>
          <a:xfrm rot="540000">
            <a:off x="8778240" y="1243584"/>
            <a:ext cx="2880360" cy="219456"/>
          </a:xfrm>
          <a:prstGeom prst="rect">
            <a:avLst/>
          </a:prstGeom>
          <a:noFill/>
        </p:spPr>
        <p:txBody>
          <a:bodyPr wrap="square" lIns="0" tIns="0" rIns="0" bIns="0" anchor="t">
            <a:spAutoFit/>
          </a:bodyPr>
          <a:lstStyle/>
          <a:p>
            <a:pPr algn="ctr"/>
            <a:r>
              <a:rPr sz="750" b="1" i="0">
                <a:solidFill>
                  <a:srgbClr val="3C5080"/>
                </a:solidFill>
                <a:latin typeface="Calibri"/>
              </a:rPr>
              <a:t>— Francis Bacon, Meditationes Sacrae, 1597</a:t>
            </a:r>
          </a:p>
        </p:txBody>
      </p:sp>
      <p:sp>
        <p:nvSpPr>
          <p:cNvPr id="8" name="TextBox 7"/>
          <p:cNvSpPr txBox="1"/>
          <p:nvPr/>
        </p:nvSpPr>
        <p:spPr>
          <a:xfrm rot="20820000">
            <a:off x="164592" y="1783080"/>
            <a:ext cx="1874519" cy="758952"/>
          </a:xfrm>
          <a:prstGeom prst="rect">
            <a:avLst/>
          </a:prstGeom>
          <a:noFill/>
        </p:spPr>
        <p:txBody>
          <a:bodyPr wrap="square" lIns="0" tIns="0" rIns="0" bIns="0" anchor="t">
            <a:spAutoFit/>
          </a:bodyPr>
          <a:lstStyle/>
          <a:p>
            <a:pPr algn="ctr">
              <a:lnSpc>
                <a:spcPct val="105000"/>
              </a:lnSpc>
            </a:pPr>
            <a:r>
              <a:rPr sz="900" b="0" i="1">
                <a:solidFill>
                  <a:srgbClr val="5B7AA6"/>
                </a:solidFill>
                <a:latin typeface="Cambria"/>
              </a:rPr>
              <a:t>“If you know neither the enemy nor</a:t>
            </a:r>
          </a:p>
          <a:p>
            <a:pPr algn="ctr">
              <a:lnSpc>
                <a:spcPct val="105000"/>
              </a:lnSpc>
            </a:pPr>
            <a:r>
              <a:rPr sz="900" b="0" i="1">
                <a:solidFill>
                  <a:srgbClr val="5B7AA6"/>
                </a:solidFill>
                <a:latin typeface="Cambria"/>
              </a:rPr>
              <a:t>yourself, you will succumb in every battle.”</a:t>
            </a:r>
          </a:p>
        </p:txBody>
      </p:sp>
      <p:sp>
        <p:nvSpPr>
          <p:cNvPr id="9" name="TextBox 8"/>
          <p:cNvSpPr txBox="1"/>
          <p:nvPr/>
        </p:nvSpPr>
        <p:spPr>
          <a:xfrm rot="20820000">
            <a:off x="164592" y="2523744"/>
            <a:ext cx="1874519" cy="219456"/>
          </a:xfrm>
          <a:prstGeom prst="rect">
            <a:avLst/>
          </a:prstGeom>
          <a:noFill/>
        </p:spPr>
        <p:txBody>
          <a:bodyPr wrap="square" lIns="0" tIns="0" rIns="0" bIns="0" anchor="t">
            <a:spAutoFit/>
          </a:bodyPr>
          <a:lstStyle/>
          <a:p>
            <a:pPr algn="ctr"/>
            <a:r>
              <a:rPr sz="750" b="1" i="0">
                <a:solidFill>
                  <a:srgbClr val="3C5080"/>
                </a:solidFill>
                <a:latin typeface="Calibri"/>
              </a:rPr>
              <a:t>— Sun Tzu, The Art of War, Ch. 3</a:t>
            </a:r>
          </a:p>
        </p:txBody>
      </p:sp>
      <p:sp>
        <p:nvSpPr>
          <p:cNvPr id="10" name="TextBox 9"/>
          <p:cNvSpPr txBox="1"/>
          <p:nvPr/>
        </p:nvSpPr>
        <p:spPr>
          <a:xfrm rot="480000">
            <a:off x="164592" y="3246120"/>
            <a:ext cx="1874519" cy="1033272"/>
          </a:xfrm>
          <a:prstGeom prst="rect">
            <a:avLst/>
          </a:prstGeom>
          <a:noFill/>
        </p:spPr>
        <p:txBody>
          <a:bodyPr wrap="square" lIns="0" tIns="0" rIns="0" bIns="0" anchor="t">
            <a:spAutoFit/>
          </a:bodyPr>
          <a:lstStyle/>
          <a:p>
            <a:pPr algn="ctr">
              <a:lnSpc>
                <a:spcPct val="105000"/>
              </a:lnSpc>
            </a:pPr>
            <a:r>
              <a:rPr sz="900" b="0" i="1">
                <a:solidFill>
                  <a:srgbClr val="5B7AA6"/>
                </a:solidFill>
                <a:latin typeface="Cambria"/>
              </a:rPr>
              <a:t>“In wartime, truth is so precious that</a:t>
            </a:r>
          </a:p>
          <a:p>
            <a:pPr algn="ctr">
              <a:lnSpc>
                <a:spcPct val="105000"/>
              </a:lnSpc>
            </a:pPr>
            <a:r>
              <a:rPr sz="900" b="0" i="1">
                <a:solidFill>
                  <a:srgbClr val="5B7AA6"/>
                </a:solidFill>
                <a:latin typeface="Cambria"/>
              </a:rPr>
              <a:t>she should always be attended by a</a:t>
            </a:r>
          </a:p>
          <a:p>
            <a:pPr algn="ctr">
              <a:lnSpc>
                <a:spcPct val="105000"/>
              </a:lnSpc>
            </a:pPr>
            <a:r>
              <a:rPr sz="900" b="0" i="1">
                <a:solidFill>
                  <a:srgbClr val="5B7AA6"/>
                </a:solidFill>
                <a:latin typeface="Cambria"/>
              </a:rPr>
              <a:t>bodyguard of lies.”</a:t>
            </a:r>
          </a:p>
        </p:txBody>
      </p:sp>
      <p:sp>
        <p:nvSpPr>
          <p:cNvPr id="11" name="TextBox 10"/>
          <p:cNvSpPr txBox="1"/>
          <p:nvPr/>
        </p:nvSpPr>
        <p:spPr>
          <a:xfrm rot="480000">
            <a:off x="164592" y="4261104"/>
            <a:ext cx="1874519" cy="219456"/>
          </a:xfrm>
          <a:prstGeom prst="rect">
            <a:avLst/>
          </a:prstGeom>
          <a:noFill/>
        </p:spPr>
        <p:txBody>
          <a:bodyPr wrap="square" lIns="0" tIns="0" rIns="0" bIns="0" anchor="t">
            <a:spAutoFit/>
          </a:bodyPr>
          <a:lstStyle/>
          <a:p>
            <a:pPr algn="ctr"/>
            <a:r>
              <a:rPr sz="750" b="1" i="0">
                <a:solidFill>
                  <a:srgbClr val="3C5080"/>
                </a:solidFill>
                <a:latin typeface="Calibri"/>
              </a:rPr>
              <a:t>— Winston Churchill, Tehran, 1943</a:t>
            </a:r>
          </a:p>
        </p:txBody>
      </p:sp>
      <p:sp>
        <p:nvSpPr>
          <p:cNvPr id="12" name="TextBox 11"/>
          <p:cNvSpPr txBox="1"/>
          <p:nvPr/>
        </p:nvSpPr>
        <p:spPr>
          <a:xfrm rot="21240000">
            <a:off x="164592" y="4983480"/>
            <a:ext cx="1874519" cy="804672"/>
          </a:xfrm>
          <a:prstGeom prst="rect">
            <a:avLst/>
          </a:prstGeom>
          <a:noFill/>
        </p:spPr>
        <p:txBody>
          <a:bodyPr wrap="square" lIns="0" tIns="0" rIns="0" bIns="0" anchor="t">
            <a:spAutoFit/>
          </a:bodyPr>
          <a:lstStyle/>
          <a:p>
            <a:pPr algn="ctr">
              <a:lnSpc>
                <a:spcPct val="105000"/>
              </a:lnSpc>
            </a:pPr>
            <a:r>
              <a:rPr sz="900" b="0" i="1">
                <a:solidFill>
                  <a:srgbClr val="5B7AA6"/>
                </a:solidFill>
                <a:latin typeface="Cambria"/>
              </a:rPr>
              <a:t>“The supreme art of war is to subdue</a:t>
            </a:r>
          </a:p>
          <a:p>
            <a:pPr algn="ctr">
              <a:lnSpc>
                <a:spcPct val="105000"/>
              </a:lnSpc>
            </a:pPr>
            <a:r>
              <a:rPr sz="900" b="0" i="1">
                <a:solidFill>
                  <a:srgbClr val="5B7AA6"/>
                </a:solidFill>
                <a:latin typeface="Cambria"/>
              </a:rPr>
              <a:t>the enemy without fighting.”</a:t>
            </a:r>
          </a:p>
        </p:txBody>
      </p:sp>
      <p:sp>
        <p:nvSpPr>
          <p:cNvPr id="13" name="TextBox 12"/>
          <p:cNvSpPr txBox="1"/>
          <p:nvPr/>
        </p:nvSpPr>
        <p:spPr>
          <a:xfrm rot="21240000">
            <a:off x="164592" y="5769864"/>
            <a:ext cx="1874519" cy="219456"/>
          </a:xfrm>
          <a:prstGeom prst="rect">
            <a:avLst/>
          </a:prstGeom>
          <a:noFill/>
        </p:spPr>
        <p:txBody>
          <a:bodyPr wrap="square" lIns="0" tIns="0" rIns="0" bIns="0" anchor="t">
            <a:spAutoFit/>
          </a:bodyPr>
          <a:lstStyle/>
          <a:p>
            <a:pPr algn="ctr"/>
            <a:r>
              <a:rPr sz="750" b="1" i="0">
                <a:solidFill>
                  <a:srgbClr val="3C5080"/>
                </a:solidFill>
                <a:latin typeface="Calibri"/>
              </a:rPr>
              <a:t>— Sun Tzu, The Art of War, Ch. 3</a:t>
            </a:r>
          </a:p>
        </p:txBody>
      </p:sp>
      <p:sp>
        <p:nvSpPr>
          <p:cNvPr id="14" name="TextBox 13"/>
          <p:cNvSpPr txBox="1"/>
          <p:nvPr/>
        </p:nvSpPr>
        <p:spPr>
          <a:xfrm rot="720000">
            <a:off x="10195560" y="1783080"/>
            <a:ext cx="1874519" cy="804672"/>
          </a:xfrm>
          <a:prstGeom prst="rect">
            <a:avLst/>
          </a:prstGeom>
          <a:noFill/>
        </p:spPr>
        <p:txBody>
          <a:bodyPr wrap="square" lIns="0" tIns="0" rIns="0" bIns="0" anchor="t">
            <a:spAutoFit/>
          </a:bodyPr>
          <a:lstStyle/>
          <a:p>
            <a:pPr algn="ctr">
              <a:lnSpc>
                <a:spcPct val="105000"/>
              </a:lnSpc>
            </a:pPr>
            <a:r>
              <a:rPr sz="900" b="0" i="1">
                <a:solidFill>
                  <a:srgbClr val="5B7AA6"/>
                </a:solidFill>
                <a:latin typeface="Cambria"/>
              </a:rPr>
              <a:t>“What enables the wise sovereign to</a:t>
            </a:r>
          </a:p>
          <a:p>
            <a:pPr algn="ctr">
              <a:lnSpc>
                <a:spcPct val="105000"/>
              </a:lnSpc>
            </a:pPr>
            <a:r>
              <a:rPr sz="900" b="0" i="1">
                <a:solidFill>
                  <a:srgbClr val="5B7AA6"/>
                </a:solidFill>
                <a:latin typeface="Cambria"/>
              </a:rPr>
              <a:t>strike and conquer is foreknowledge.”</a:t>
            </a:r>
          </a:p>
        </p:txBody>
      </p:sp>
      <p:sp>
        <p:nvSpPr>
          <p:cNvPr id="15" name="TextBox 14"/>
          <p:cNvSpPr txBox="1"/>
          <p:nvPr/>
        </p:nvSpPr>
        <p:spPr>
          <a:xfrm rot="720000">
            <a:off x="10195560" y="2569463"/>
            <a:ext cx="1874519" cy="219456"/>
          </a:xfrm>
          <a:prstGeom prst="rect">
            <a:avLst/>
          </a:prstGeom>
          <a:noFill/>
        </p:spPr>
        <p:txBody>
          <a:bodyPr wrap="square" lIns="0" tIns="0" rIns="0" bIns="0" anchor="t">
            <a:spAutoFit/>
          </a:bodyPr>
          <a:lstStyle/>
          <a:p>
            <a:pPr algn="ctr"/>
            <a:r>
              <a:rPr sz="750" b="1" i="0">
                <a:solidFill>
                  <a:srgbClr val="3C5080"/>
                </a:solidFill>
                <a:latin typeface="Calibri"/>
              </a:rPr>
              <a:t>— Sun Tzu, The Art of War, Ch. 13, “The Use of Spies”</a:t>
            </a:r>
          </a:p>
        </p:txBody>
      </p:sp>
      <p:sp>
        <p:nvSpPr>
          <p:cNvPr id="16" name="TextBox 15"/>
          <p:cNvSpPr txBox="1"/>
          <p:nvPr/>
        </p:nvSpPr>
        <p:spPr>
          <a:xfrm rot="21000000">
            <a:off x="10195560" y="3291840"/>
            <a:ext cx="1874519" cy="667512"/>
          </a:xfrm>
          <a:prstGeom prst="rect">
            <a:avLst/>
          </a:prstGeom>
          <a:noFill/>
        </p:spPr>
        <p:txBody>
          <a:bodyPr wrap="square" lIns="0" tIns="0" rIns="0" bIns="0" anchor="t">
            <a:spAutoFit/>
          </a:bodyPr>
          <a:lstStyle/>
          <a:p>
            <a:pPr algn="ctr">
              <a:lnSpc>
                <a:spcPct val="105000"/>
              </a:lnSpc>
            </a:pPr>
            <a:r>
              <a:rPr sz="900" b="0" i="1">
                <a:solidFill>
                  <a:srgbClr val="5B7AA6"/>
                </a:solidFill>
                <a:latin typeface="Cambria"/>
              </a:rPr>
              <a:t>“Knowledge of the enemy’s dispositions can only be obtained from other men.”</a:t>
            </a:r>
          </a:p>
        </p:txBody>
      </p:sp>
      <p:sp>
        <p:nvSpPr>
          <p:cNvPr id="17" name="TextBox 16"/>
          <p:cNvSpPr txBox="1"/>
          <p:nvPr/>
        </p:nvSpPr>
        <p:spPr>
          <a:xfrm rot="21000000">
            <a:off x="10195560" y="3941063"/>
            <a:ext cx="1874519" cy="219456"/>
          </a:xfrm>
          <a:prstGeom prst="rect">
            <a:avLst/>
          </a:prstGeom>
          <a:noFill/>
        </p:spPr>
        <p:txBody>
          <a:bodyPr wrap="square" lIns="0" tIns="0" rIns="0" bIns="0" anchor="t">
            <a:spAutoFit/>
          </a:bodyPr>
          <a:lstStyle/>
          <a:p>
            <a:pPr algn="ctr"/>
            <a:r>
              <a:rPr sz="750" b="1" i="0">
                <a:solidFill>
                  <a:srgbClr val="3C5080"/>
                </a:solidFill>
                <a:latin typeface="Calibri"/>
              </a:rPr>
              <a:t>— Sun Tzu, The Art of War, Ch. 13</a:t>
            </a:r>
          </a:p>
        </p:txBody>
      </p:sp>
      <p:sp>
        <p:nvSpPr>
          <p:cNvPr id="18" name="TextBox 17"/>
          <p:cNvSpPr txBox="1"/>
          <p:nvPr/>
        </p:nvSpPr>
        <p:spPr>
          <a:xfrm rot="420000">
            <a:off x="10149840" y="4983480"/>
            <a:ext cx="1920240" cy="713232"/>
          </a:xfrm>
          <a:prstGeom prst="rect">
            <a:avLst/>
          </a:prstGeom>
          <a:noFill/>
        </p:spPr>
        <p:txBody>
          <a:bodyPr wrap="square" lIns="0" tIns="0" rIns="0" bIns="0" anchor="t">
            <a:spAutoFit/>
          </a:bodyPr>
          <a:lstStyle/>
          <a:p>
            <a:pPr algn="ctr">
              <a:lnSpc>
                <a:spcPct val="105000"/>
              </a:lnSpc>
            </a:pPr>
            <a:r>
              <a:rPr sz="900" b="0" i="1">
                <a:solidFill>
                  <a:srgbClr val="5B7AA6"/>
                </a:solidFill>
                <a:latin typeface="Cambria"/>
              </a:rPr>
              <a:t>“The necessity of procuring good</a:t>
            </a:r>
          </a:p>
          <a:p>
            <a:pPr algn="ctr">
              <a:lnSpc>
                <a:spcPct val="105000"/>
              </a:lnSpc>
            </a:pPr>
            <a:r>
              <a:rPr sz="900" b="0" i="1">
                <a:solidFill>
                  <a:srgbClr val="5B7AA6"/>
                </a:solidFill>
                <a:latin typeface="Cambria"/>
              </a:rPr>
              <a:t>intelligence is apparent.”</a:t>
            </a:r>
          </a:p>
        </p:txBody>
      </p:sp>
      <p:sp>
        <p:nvSpPr>
          <p:cNvPr id="19" name="TextBox 18"/>
          <p:cNvSpPr txBox="1"/>
          <p:nvPr/>
        </p:nvSpPr>
        <p:spPr>
          <a:xfrm rot="420000">
            <a:off x="10149840" y="5678424"/>
            <a:ext cx="1920240" cy="219456"/>
          </a:xfrm>
          <a:prstGeom prst="rect">
            <a:avLst/>
          </a:prstGeom>
          <a:noFill/>
        </p:spPr>
        <p:txBody>
          <a:bodyPr wrap="square" lIns="0" tIns="0" rIns="0" bIns="0" anchor="t">
            <a:spAutoFit/>
          </a:bodyPr>
          <a:lstStyle/>
          <a:p>
            <a:pPr algn="ctr"/>
            <a:r>
              <a:rPr sz="750" b="1" i="0">
                <a:solidFill>
                  <a:srgbClr val="3C5080"/>
                </a:solidFill>
                <a:latin typeface="Calibri"/>
              </a:rPr>
              <a:t>— George Washington, 1777</a:t>
            </a:r>
          </a:p>
        </p:txBody>
      </p:sp>
      <p:sp>
        <p:nvSpPr>
          <p:cNvPr id="20" name="TextBox 19"/>
          <p:cNvSpPr txBox="1"/>
          <p:nvPr/>
        </p:nvSpPr>
        <p:spPr>
          <a:xfrm rot="21300000">
            <a:off x="822960" y="6236208"/>
            <a:ext cx="3291840" cy="347472"/>
          </a:xfrm>
          <a:prstGeom prst="rect">
            <a:avLst/>
          </a:prstGeom>
          <a:noFill/>
        </p:spPr>
        <p:txBody>
          <a:bodyPr wrap="square" lIns="0" tIns="0" rIns="0" bIns="0" anchor="t">
            <a:spAutoFit/>
          </a:bodyPr>
          <a:lstStyle/>
          <a:p>
            <a:pPr algn="ctr">
              <a:lnSpc>
                <a:spcPct val="105000"/>
              </a:lnSpc>
            </a:pPr>
            <a:r>
              <a:rPr sz="950" b="0" i="1">
                <a:solidFill>
                  <a:srgbClr val="5B7AA6"/>
                </a:solidFill>
                <a:latin typeface="Cambria"/>
              </a:rPr>
              <a:t>“Upon secrecy, success depends in most</a:t>
            </a:r>
          </a:p>
          <a:p>
            <a:pPr algn="ctr">
              <a:lnSpc>
                <a:spcPct val="105000"/>
              </a:lnSpc>
            </a:pPr>
            <a:r>
              <a:rPr sz="950" b="0" i="1">
                <a:solidFill>
                  <a:srgbClr val="5B7AA6"/>
                </a:solidFill>
                <a:latin typeface="Cambria"/>
              </a:rPr>
              <a:t>enterprises of this kind.”</a:t>
            </a:r>
          </a:p>
        </p:txBody>
      </p:sp>
      <p:sp>
        <p:nvSpPr>
          <p:cNvPr id="21" name="TextBox 20"/>
          <p:cNvSpPr txBox="1"/>
          <p:nvPr/>
        </p:nvSpPr>
        <p:spPr>
          <a:xfrm rot="21300000">
            <a:off x="822960" y="6565392"/>
            <a:ext cx="3291840" cy="219456"/>
          </a:xfrm>
          <a:prstGeom prst="rect">
            <a:avLst/>
          </a:prstGeom>
          <a:noFill/>
        </p:spPr>
        <p:txBody>
          <a:bodyPr wrap="square" lIns="0" tIns="0" rIns="0" bIns="0" anchor="t">
            <a:spAutoFit/>
          </a:bodyPr>
          <a:lstStyle/>
          <a:p>
            <a:pPr algn="ctr"/>
            <a:r>
              <a:rPr sz="750" b="1" i="0">
                <a:solidFill>
                  <a:srgbClr val="3C5080"/>
                </a:solidFill>
                <a:latin typeface="Calibri"/>
              </a:rPr>
              <a:t>— George Washington, letter to Col. Elias Dayton, 1777</a:t>
            </a:r>
          </a:p>
        </p:txBody>
      </p:sp>
      <p:sp>
        <p:nvSpPr>
          <p:cNvPr id="22" name="TextBox 21"/>
          <p:cNvSpPr txBox="1"/>
          <p:nvPr/>
        </p:nvSpPr>
        <p:spPr>
          <a:xfrm rot="360000">
            <a:off x="7863840" y="6236208"/>
            <a:ext cx="3383280" cy="347472"/>
          </a:xfrm>
          <a:prstGeom prst="rect">
            <a:avLst/>
          </a:prstGeom>
          <a:noFill/>
        </p:spPr>
        <p:txBody>
          <a:bodyPr wrap="square" lIns="0" tIns="0" rIns="0" bIns="0" anchor="t">
            <a:spAutoFit/>
          </a:bodyPr>
          <a:lstStyle/>
          <a:p>
            <a:pPr algn="ctr">
              <a:lnSpc>
                <a:spcPct val="105000"/>
              </a:lnSpc>
            </a:pPr>
            <a:r>
              <a:rPr sz="950" b="0" i="1">
                <a:solidFill>
                  <a:srgbClr val="5B7AA6"/>
                </a:solidFill>
                <a:latin typeface="Cambria"/>
              </a:rPr>
              <a:t>“To know that you do not know is the best.”</a:t>
            </a:r>
          </a:p>
        </p:txBody>
      </p:sp>
      <p:sp>
        <p:nvSpPr>
          <p:cNvPr id="23" name="TextBox 22"/>
          <p:cNvSpPr txBox="1"/>
          <p:nvPr/>
        </p:nvSpPr>
        <p:spPr>
          <a:xfrm rot="360000">
            <a:off x="7863840" y="6565392"/>
            <a:ext cx="3383280" cy="219456"/>
          </a:xfrm>
          <a:prstGeom prst="rect">
            <a:avLst/>
          </a:prstGeom>
          <a:noFill/>
        </p:spPr>
        <p:txBody>
          <a:bodyPr wrap="square" lIns="0" tIns="0" rIns="0" bIns="0" anchor="t">
            <a:spAutoFit/>
          </a:bodyPr>
          <a:lstStyle/>
          <a:p>
            <a:pPr algn="ctr"/>
            <a:r>
              <a:rPr sz="750" b="1" i="0">
                <a:solidFill>
                  <a:srgbClr val="3C5080"/>
                </a:solidFill>
                <a:latin typeface="Calibri"/>
              </a:rPr>
              <a:t>— Lao Tzu, Tao Te Ching, Ch. 71</a:t>
            </a:r>
          </a:p>
        </p:txBody>
      </p:sp>
      <p:sp>
        <p:nvSpPr>
          <p:cNvPr id="24" name="Rounded Rectangle 23"/>
          <p:cNvSpPr/>
          <p:nvPr/>
        </p:nvSpPr>
        <p:spPr>
          <a:xfrm>
            <a:off x="2148840" y="1417320"/>
            <a:ext cx="7863840" cy="4526280"/>
          </a:xfrm>
          <a:prstGeom prst="roundRect">
            <a:avLst>
              <a:gd name="adj" fmla="val 4500"/>
            </a:avLst>
          </a:prstGeom>
          <a:solidFill>
            <a:srgbClr val="17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468880" y="1581912"/>
            <a:ext cx="548640" cy="548640"/>
          </a:xfrm>
          <a:prstGeom prst="rect">
            <a:avLst/>
          </a:prstGeom>
          <a:noFill/>
        </p:spPr>
        <p:txBody>
          <a:bodyPr wrap="square" lIns="0" tIns="0" rIns="0" bIns="0" anchor="t">
            <a:spAutoFit/>
          </a:bodyPr>
          <a:lstStyle/>
          <a:p>
            <a:pPr algn="l"/>
            <a:r>
              <a:rPr sz="3400" b="1" i="0">
                <a:solidFill>
                  <a:srgbClr val="FFC72C"/>
                </a:solidFill>
                <a:latin typeface="Cambria"/>
              </a:rPr>
              <a:t>“</a:t>
            </a:r>
          </a:p>
        </p:txBody>
      </p:sp>
      <p:sp>
        <p:nvSpPr>
          <p:cNvPr id="26" name="TextBox 25"/>
          <p:cNvSpPr txBox="1"/>
          <p:nvPr/>
        </p:nvSpPr>
        <p:spPr>
          <a:xfrm>
            <a:off x="2514600" y="2075688"/>
            <a:ext cx="3474720" cy="1097280"/>
          </a:xfrm>
          <a:prstGeom prst="rect">
            <a:avLst/>
          </a:prstGeom>
          <a:noFill/>
        </p:spPr>
        <p:txBody>
          <a:bodyPr wrap="square" lIns="0" tIns="0" rIns="0" bIns="0" anchor="t">
            <a:spAutoFit/>
          </a:bodyPr>
          <a:lstStyle/>
          <a:p>
            <a:pPr algn="l">
              <a:lnSpc>
                <a:spcPct val="115000"/>
              </a:lnSpc>
            </a:pPr>
            <a:r>
              <a:rPr sz="1300" b="0" i="1">
                <a:solidFill>
                  <a:srgbClr val="FFFFFF"/>
                </a:solidFill>
                <a:latin typeface="Cambria"/>
              </a:rPr>
              <a:t>“If you know the enemy and know yourself, you need not fear the</a:t>
            </a:r>
          </a:p>
          <a:p>
            <a:pPr algn="l">
              <a:lnSpc>
                <a:spcPct val="115000"/>
              </a:lnSpc>
            </a:pPr>
            <a:r>
              <a:rPr sz="1300" b="0" i="1">
                <a:solidFill>
                  <a:srgbClr val="FFFFFF"/>
                </a:solidFill>
                <a:latin typeface="Cambria"/>
              </a:rPr>
              <a:t>result of a hundred battles.”</a:t>
            </a:r>
          </a:p>
        </p:txBody>
      </p:sp>
      <p:sp>
        <p:nvSpPr>
          <p:cNvPr id="27" name="TextBox 26"/>
          <p:cNvSpPr txBox="1"/>
          <p:nvPr/>
        </p:nvSpPr>
        <p:spPr>
          <a:xfrm>
            <a:off x="2514600" y="3200400"/>
            <a:ext cx="3520440" cy="457200"/>
          </a:xfrm>
          <a:prstGeom prst="rect">
            <a:avLst/>
          </a:prstGeom>
          <a:noFill/>
        </p:spPr>
        <p:txBody>
          <a:bodyPr wrap="square" lIns="0" tIns="0" rIns="0" bIns="0" anchor="t">
            <a:spAutoFit/>
          </a:bodyPr>
          <a:lstStyle/>
          <a:p>
            <a:pPr algn="l">
              <a:lnSpc>
                <a:spcPct val="110000"/>
              </a:lnSpc>
            </a:pPr>
            <a:r>
              <a:rPr sz="1000" b="1" i="0">
                <a:solidFill>
                  <a:srgbClr val="8CA3C7"/>
                </a:solidFill>
                <a:latin typeface="Calibri"/>
              </a:rPr>
              <a:t>— Sun Tzu, The Art of War, Ch. 3 (c. 5th century BC)</a:t>
            </a:r>
          </a:p>
        </p:txBody>
      </p:sp>
      <p:sp>
        <p:nvSpPr>
          <p:cNvPr id="28" name="TextBox 27"/>
          <p:cNvSpPr txBox="1"/>
          <p:nvPr/>
        </p:nvSpPr>
        <p:spPr>
          <a:xfrm>
            <a:off x="6263640" y="1581912"/>
            <a:ext cx="548640" cy="548640"/>
          </a:xfrm>
          <a:prstGeom prst="rect">
            <a:avLst/>
          </a:prstGeom>
          <a:noFill/>
        </p:spPr>
        <p:txBody>
          <a:bodyPr wrap="square" lIns="0" tIns="0" rIns="0" bIns="0" anchor="t">
            <a:spAutoFit/>
          </a:bodyPr>
          <a:lstStyle/>
          <a:p>
            <a:pPr algn="l"/>
            <a:r>
              <a:rPr sz="3400" b="1" i="0">
                <a:solidFill>
                  <a:srgbClr val="FFC72C"/>
                </a:solidFill>
                <a:latin typeface="Cambria"/>
              </a:rPr>
              <a:t>“</a:t>
            </a:r>
          </a:p>
        </p:txBody>
      </p:sp>
      <p:sp>
        <p:nvSpPr>
          <p:cNvPr id="29" name="TextBox 28"/>
          <p:cNvSpPr txBox="1"/>
          <p:nvPr/>
        </p:nvSpPr>
        <p:spPr>
          <a:xfrm>
            <a:off x="6309360" y="2075688"/>
            <a:ext cx="3474720" cy="1097280"/>
          </a:xfrm>
          <a:prstGeom prst="rect">
            <a:avLst/>
          </a:prstGeom>
          <a:noFill/>
        </p:spPr>
        <p:txBody>
          <a:bodyPr wrap="square" lIns="0" tIns="0" rIns="0" bIns="0" anchor="t">
            <a:spAutoFit/>
          </a:bodyPr>
          <a:lstStyle/>
          <a:p>
            <a:pPr algn="l">
              <a:lnSpc>
                <a:spcPct val="115000"/>
              </a:lnSpc>
            </a:pPr>
            <a:r>
              <a:rPr sz="1300" b="0" i="1">
                <a:solidFill>
                  <a:srgbClr val="FFFFFF"/>
                </a:solidFill>
                <a:latin typeface="Cambria"/>
              </a:rPr>
              <a:t>“Knowing others is wisdom;</a:t>
            </a:r>
          </a:p>
          <a:p>
            <a:pPr algn="l">
              <a:lnSpc>
                <a:spcPct val="115000"/>
              </a:lnSpc>
            </a:pPr>
            <a:r>
              <a:rPr sz="1300" b="0" i="1">
                <a:solidFill>
                  <a:srgbClr val="FFFFFF"/>
                </a:solidFill>
                <a:latin typeface="Cambria"/>
              </a:rPr>
              <a:t>knowing the self is enlightenment.”</a:t>
            </a:r>
          </a:p>
        </p:txBody>
      </p:sp>
      <p:sp>
        <p:nvSpPr>
          <p:cNvPr id="30" name="TextBox 29"/>
          <p:cNvSpPr txBox="1"/>
          <p:nvPr/>
        </p:nvSpPr>
        <p:spPr>
          <a:xfrm>
            <a:off x="6309360" y="3200400"/>
            <a:ext cx="3520440" cy="457200"/>
          </a:xfrm>
          <a:prstGeom prst="rect">
            <a:avLst/>
          </a:prstGeom>
          <a:noFill/>
        </p:spPr>
        <p:txBody>
          <a:bodyPr wrap="square" lIns="0" tIns="0" rIns="0" bIns="0" anchor="t">
            <a:spAutoFit/>
          </a:bodyPr>
          <a:lstStyle/>
          <a:p>
            <a:pPr algn="l">
              <a:lnSpc>
                <a:spcPct val="110000"/>
              </a:lnSpc>
            </a:pPr>
            <a:r>
              <a:rPr sz="1000" b="1" i="0">
                <a:solidFill>
                  <a:srgbClr val="8CA3C7"/>
                </a:solidFill>
                <a:latin typeface="Calibri"/>
              </a:rPr>
              <a:t>— Lao Tzu, Tao Te Ching, Ch. 33</a:t>
            </a:r>
          </a:p>
        </p:txBody>
      </p:sp>
      <p:sp>
        <p:nvSpPr>
          <p:cNvPr id="31" name="TextBox 30"/>
          <p:cNvSpPr txBox="1"/>
          <p:nvPr/>
        </p:nvSpPr>
        <p:spPr>
          <a:xfrm>
            <a:off x="2468880" y="3730752"/>
            <a:ext cx="548640" cy="548640"/>
          </a:xfrm>
          <a:prstGeom prst="rect">
            <a:avLst/>
          </a:prstGeom>
          <a:noFill/>
        </p:spPr>
        <p:txBody>
          <a:bodyPr wrap="square" lIns="0" tIns="0" rIns="0" bIns="0" anchor="t">
            <a:spAutoFit/>
          </a:bodyPr>
          <a:lstStyle/>
          <a:p>
            <a:pPr algn="l"/>
            <a:r>
              <a:rPr sz="3400" b="1" i="0">
                <a:solidFill>
                  <a:srgbClr val="FFC72C"/>
                </a:solidFill>
                <a:latin typeface="Cambria"/>
              </a:rPr>
              <a:t>“</a:t>
            </a:r>
          </a:p>
        </p:txBody>
      </p:sp>
      <p:sp>
        <p:nvSpPr>
          <p:cNvPr id="32" name="TextBox 31"/>
          <p:cNvSpPr txBox="1"/>
          <p:nvPr/>
        </p:nvSpPr>
        <p:spPr>
          <a:xfrm>
            <a:off x="2514600" y="4224528"/>
            <a:ext cx="3474720" cy="1097280"/>
          </a:xfrm>
          <a:prstGeom prst="rect">
            <a:avLst/>
          </a:prstGeom>
          <a:noFill/>
        </p:spPr>
        <p:txBody>
          <a:bodyPr wrap="square" lIns="0" tIns="0" rIns="0" bIns="0" anchor="t">
            <a:spAutoFit/>
          </a:bodyPr>
          <a:lstStyle/>
          <a:p>
            <a:pPr algn="l">
              <a:lnSpc>
                <a:spcPct val="115000"/>
              </a:lnSpc>
            </a:pPr>
            <a:r>
              <a:rPr sz="1300" b="0" i="1">
                <a:solidFill>
                  <a:srgbClr val="FFFFFF"/>
                </a:solidFill>
                <a:latin typeface="Cambria"/>
              </a:rPr>
              <a:t>“The necessity of procuring good intelligence is apparent, and need not</a:t>
            </a:r>
          </a:p>
          <a:p>
            <a:pPr algn="l">
              <a:lnSpc>
                <a:spcPct val="115000"/>
              </a:lnSpc>
            </a:pPr>
            <a:r>
              <a:rPr sz="1300" b="0" i="1">
                <a:solidFill>
                  <a:srgbClr val="FFFFFF"/>
                </a:solidFill>
                <a:latin typeface="Cambria"/>
              </a:rPr>
              <a:t>be further urged.”</a:t>
            </a:r>
          </a:p>
        </p:txBody>
      </p:sp>
      <p:sp>
        <p:nvSpPr>
          <p:cNvPr id="33" name="TextBox 32"/>
          <p:cNvSpPr txBox="1"/>
          <p:nvPr/>
        </p:nvSpPr>
        <p:spPr>
          <a:xfrm>
            <a:off x="2514600" y="5349240"/>
            <a:ext cx="3520440" cy="457200"/>
          </a:xfrm>
          <a:prstGeom prst="rect">
            <a:avLst/>
          </a:prstGeom>
          <a:noFill/>
        </p:spPr>
        <p:txBody>
          <a:bodyPr wrap="square" lIns="0" tIns="0" rIns="0" bIns="0" anchor="t">
            <a:spAutoFit/>
          </a:bodyPr>
          <a:lstStyle/>
          <a:p>
            <a:pPr algn="l">
              <a:lnSpc>
                <a:spcPct val="110000"/>
              </a:lnSpc>
            </a:pPr>
            <a:r>
              <a:rPr sz="1000" b="1" i="0">
                <a:solidFill>
                  <a:srgbClr val="8CA3C7"/>
                </a:solidFill>
                <a:latin typeface="Calibri"/>
              </a:rPr>
              <a:t>— George Washington, letter to Col. Elias Dayton, July 26, 1777</a:t>
            </a:r>
          </a:p>
        </p:txBody>
      </p:sp>
      <p:sp>
        <p:nvSpPr>
          <p:cNvPr id="34" name="TextBox 33"/>
          <p:cNvSpPr txBox="1"/>
          <p:nvPr/>
        </p:nvSpPr>
        <p:spPr>
          <a:xfrm>
            <a:off x="6263640" y="3730752"/>
            <a:ext cx="548640" cy="548640"/>
          </a:xfrm>
          <a:prstGeom prst="rect">
            <a:avLst/>
          </a:prstGeom>
          <a:noFill/>
        </p:spPr>
        <p:txBody>
          <a:bodyPr wrap="square" lIns="0" tIns="0" rIns="0" bIns="0" anchor="t">
            <a:spAutoFit/>
          </a:bodyPr>
          <a:lstStyle/>
          <a:p>
            <a:pPr algn="l"/>
            <a:r>
              <a:rPr sz="3400" b="1" i="0">
                <a:solidFill>
                  <a:srgbClr val="FFC72C"/>
                </a:solidFill>
                <a:latin typeface="Cambria"/>
              </a:rPr>
              <a:t>“</a:t>
            </a:r>
          </a:p>
        </p:txBody>
      </p:sp>
      <p:sp>
        <p:nvSpPr>
          <p:cNvPr id="35" name="TextBox 34"/>
          <p:cNvSpPr txBox="1"/>
          <p:nvPr/>
        </p:nvSpPr>
        <p:spPr>
          <a:xfrm>
            <a:off x="6309360" y="4224528"/>
            <a:ext cx="3474720" cy="1097280"/>
          </a:xfrm>
          <a:prstGeom prst="rect">
            <a:avLst/>
          </a:prstGeom>
          <a:noFill/>
        </p:spPr>
        <p:txBody>
          <a:bodyPr wrap="square" lIns="0" tIns="0" rIns="0" bIns="0" anchor="t">
            <a:spAutoFit/>
          </a:bodyPr>
          <a:lstStyle/>
          <a:p>
            <a:pPr algn="l">
              <a:lnSpc>
                <a:spcPct val="115000"/>
              </a:lnSpc>
            </a:pPr>
            <a:r>
              <a:rPr sz="1300" b="0" i="1">
                <a:solidFill>
                  <a:srgbClr val="FFFFFF"/>
                </a:solidFill>
                <a:latin typeface="Cambria"/>
              </a:rPr>
              <a:t>“[Strategic intelligence is] the knowledge upon which our nation’s foreign</a:t>
            </a:r>
          </a:p>
          <a:p>
            <a:pPr algn="l">
              <a:lnSpc>
                <a:spcPct val="115000"/>
              </a:lnSpc>
            </a:pPr>
            <a:r>
              <a:rPr sz="1300" b="0" i="1">
                <a:solidFill>
                  <a:srgbClr val="FFFFFF"/>
                </a:solidFill>
                <a:latin typeface="Cambria"/>
              </a:rPr>
              <a:t>relations, in war and peace, must rest.”</a:t>
            </a:r>
          </a:p>
        </p:txBody>
      </p:sp>
      <p:sp>
        <p:nvSpPr>
          <p:cNvPr id="36" name="TextBox 35"/>
          <p:cNvSpPr txBox="1"/>
          <p:nvPr/>
        </p:nvSpPr>
        <p:spPr>
          <a:xfrm>
            <a:off x="6309360" y="5349240"/>
            <a:ext cx="3520440" cy="457200"/>
          </a:xfrm>
          <a:prstGeom prst="rect">
            <a:avLst/>
          </a:prstGeom>
          <a:noFill/>
        </p:spPr>
        <p:txBody>
          <a:bodyPr wrap="square" lIns="0" tIns="0" rIns="0" bIns="0" anchor="t">
            <a:spAutoFit/>
          </a:bodyPr>
          <a:lstStyle/>
          <a:p>
            <a:pPr algn="l">
              <a:lnSpc>
                <a:spcPct val="110000"/>
              </a:lnSpc>
            </a:pPr>
            <a:r>
              <a:rPr sz="1000" b="1" i="0">
                <a:solidFill>
                  <a:srgbClr val="8CA3C7"/>
                </a:solidFill>
                <a:latin typeface="Calibri"/>
              </a:rPr>
              <a:t>— Sherman Kent, “father of intelligence analysis,”</a:t>
            </a:r>
          </a:p>
          <a:p>
            <a:pPr algn="l">
              <a:lnSpc>
                <a:spcPct val="110000"/>
              </a:lnSpc>
            </a:pPr>
            <a:r>
              <a:rPr sz="1000" b="1" i="0">
                <a:solidFill>
                  <a:srgbClr val="8CA3C7"/>
                </a:solidFill>
                <a:latin typeface="Calibri"/>
              </a:rPr>
              <a:t>Strategic Intelligence for American World Policy, 1949</a:t>
            </a:r>
          </a:p>
        </p:txBody>
      </p:sp>
      <p:sp>
        <p:nvSpPr>
          <p:cNvPr id="37" name="TextBox 36"/>
          <p:cNvSpPr txBox="1"/>
          <p:nvPr/>
        </p:nvSpPr>
        <p:spPr>
          <a:xfrm>
            <a:off x="11475720" y="6473952"/>
            <a:ext cx="548640" cy="274320"/>
          </a:xfrm>
          <a:prstGeom prst="rect">
            <a:avLst/>
          </a:prstGeom>
          <a:noFill/>
        </p:spPr>
        <p:txBody>
          <a:bodyPr wrap="square" lIns="0" tIns="0" rIns="0" bIns="0" anchor="t">
            <a:spAutoFit/>
          </a:bodyPr>
          <a:lstStyle/>
          <a:p>
            <a:pPr algn="r"/>
            <a:r>
              <a:rPr sz="1000" b="0" i="0">
                <a:solidFill>
                  <a:srgbClr val="8CA3C7"/>
                </a:solidFill>
                <a:latin typeface="Calibri"/>
              </a:rPr>
              <a:t>02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2284B"/>
        </a:solidFill>
        <a:effectLst/>
      </p:bgPr>
    </p:bg>
    <p:spTree>
      <p:nvGrpSpPr>
        <p:cNvPr id="1" name=""/>
        <p:cNvGrpSpPr/>
        <p:nvPr/>
      </p:nvGrpSpPr>
      <p:grpSpPr>
        <a:xfrm>
          <a:off x="0" y="0"/>
          <a:ext cx="0" cy="0"/>
          <a:chOff x="0" y="0"/>
          <a:chExt cx="0" cy="0"/>
        </a:xfrm>
      </p:grpSpPr>
      <p:sp>
        <p:nvSpPr>
          <p:cNvPr id="2" name="Shape 0"/>
          <p:cNvSpPr/>
          <p:nvPr/>
        </p:nvSpPr>
        <p:spPr>
          <a:xfrm>
            <a:off x="8046720" y="2011680"/>
            <a:ext cx="5486400" cy="5486400"/>
          </a:xfrm>
          <a:prstGeom prst="ellipse">
            <a:avLst/>
          </a:prstGeom>
          <a:solidFill>
            <a:srgbClr val="17325C"/>
          </a:solidFill>
          <a:ln/>
        </p:spPr>
        <p:txBody>
          <a:bodyPr/>
          <a:lstStyle/>
          <a:p>
            <a:endParaRPr/>
          </a:p>
        </p:txBody>
      </p:sp>
      <p:sp>
        <p:nvSpPr>
          <p:cNvPr id="3" name="Text 1"/>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THE MISSION</a:t>
            </a:r>
            <a:endParaRPr lang="en-US" sz="1300" dirty="0"/>
          </a:p>
        </p:txBody>
      </p:sp>
      <p:sp>
        <p:nvSpPr>
          <p:cNvPr id="4" name="Text 2"/>
          <p:cNvSpPr txBox="1"/>
          <p:nvPr/>
        </p:nvSpPr>
        <p:spPr>
          <a:xfrm>
            <a:off x="548640" y="658368"/>
            <a:ext cx="6035040" cy="2103120"/>
          </a:xfrm>
          <a:prstGeom prst="rect">
            <a:avLst/>
          </a:prstGeom>
          <a:noFill/>
          <a:ln/>
        </p:spPr>
        <p:txBody>
          <a:bodyPr wrap="square" rtlCol="0" anchor="ctr"/>
          <a:lstStyle/>
          <a:p>
            <a:pPr marL="0" indent="0">
              <a:lnSpc>
                <a:spcPct val="100000"/>
              </a:lnSpc>
              <a:buNone/>
            </a:pPr>
            <a:r>
              <a:rPr lang="en-US" sz="3000" b="1" dirty="0">
                <a:solidFill>
                  <a:srgbClr val="FFFFFF"/>
                </a:solidFill>
                <a:latin typeface="Cambria" pitchFamily="34" charset="0"/>
                <a:ea typeface="Cambria" pitchFamily="34" charset="-122"/>
                <a:cs typeface="Cambria" pitchFamily="34" charset="-120"/>
              </a:rPr>
              <a:t>Intelligence is how the</a:t>
            </a:r>
            <a:endParaRPr lang="en-US" sz="3000" dirty="0"/>
          </a:p>
          <a:p>
            <a:pPr marL="0" indent="0">
              <a:lnSpc>
                <a:spcPct val="100000"/>
              </a:lnSpc>
              <a:buNone/>
            </a:pPr>
            <a:r>
              <a:rPr lang="en-US" sz="3000" b="1" dirty="0">
                <a:solidFill>
                  <a:srgbClr val="FFFFFF"/>
                </a:solidFill>
                <a:latin typeface="Cambria" pitchFamily="34" charset="0"/>
                <a:ea typeface="Cambria" pitchFamily="34" charset="-122"/>
                <a:cs typeface="Cambria" pitchFamily="34" charset="-120"/>
              </a:rPr>
              <a:t>Air Force knows what it</a:t>
            </a:r>
            <a:endParaRPr lang="en-US" sz="3000" dirty="0"/>
          </a:p>
          <a:p>
            <a:pPr marL="0" indent="0">
              <a:lnSpc>
                <a:spcPct val="100000"/>
              </a:lnSpc>
              <a:buNone/>
            </a:pPr>
            <a:r>
              <a:rPr lang="en-US" sz="3000" b="1" dirty="0">
                <a:solidFill>
                  <a:srgbClr val="FFFFFF"/>
                </a:solidFill>
                <a:latin typeface="Cambria" pitchFamily="34" charset="0"/>
                <a:ea typeface="Cambria" pitchFamily="34" charset="-122"/>
                <a:cs typeface="Cambria" pitchFamily="34" charset="-120"/>
              </a:rPr>
              <a:t>doesn’t know</a:t>
            </a:r>
            <a:endParaRPr lang="en-US" sz="3000" dirty="0"/>
          </a:p>
        </p:txBody>
      </p:sp>
      <p:sp>
        <p:nvSpPr>
          <p:cNvPr id="5" name="Text 3"/>
          <p:cNvSpPr txBox="1"/>
          <p:nvPr/>
        </p:nvSpPr>
        <p:spPr>
          <a:xfrm>
            <a:off x="548640" y="3063240"/>
            <a:ext cx="5852160" cy="1463040"/>
          </a:xfrm>
          <a:prstGeom prst="rect">
            <a:avLst/>
          </a:prstGeom>
          <a:noFill/>
          <a:ln/>
        </p:spPr>
        <p:txBody>
          <a:bodyPr wrap="square" rtlCol="0" anchor="ctr"/>
          <a:lstStyle/>
          <a:p>
            <a:pPr marL="0" indent="0">
              <a:lnSpc>
                <a:spcPct val="130000"/>
              </a:lnSpc>
              <a:buNone/>
            </a:pPr>
            <a:r>
              <a:rPr lang="en-US" sz="1450" dirty="0">
                <a:solidFill>
                  <a:srgbClr val="8CA3C7"/>
                </a:solidFill>
                <a:latin typeface="Calibri" pitchFamily="34" charset="0"/>
                <a:ea typeface="Calibri" pitchFamily="34" charset="-122"/>
                <a:cs typeface="Calibri" pitchFamily="34" charset="-120"/>
              </a:rPr>
              <a:t>Intelligence officers find the gaps in situational awareness, task collection assets to close them, and fuse the results into a product a commander can act on — before a mission, during it, and after.</a:t>
            </a:r>
            <a:endParaRPr lang="en-US" sz="1450" dirty="0"/>
          </a:p>
        </p:txBody>
      </p:sp>
      <p:sp>
        <p:nvSpPr>
          <p:cNvPr id="6" name="Shape 4"/>
          <p:cNvSpPr/>
          <p:nvPr/>
        </p:nvSpPr>
        <p:spPr>
          <a:xfrm>
            <a:off x="548640" y="4709160"/>
            <a:ext cx="566928" cy="566928"/>
          </a:xfrm>
          <a:prstGeom prst="ellipse">
            <a:avLst/>
          </a:prstGeom>
          <a:solidFill>
            <a:srgbClr val="17325C"/>
          </a:solidFill>
          <a:ln/>
        </p:spPr>
        <p:txBody>
          <a:bodyPr/>
          <a:lstStyle/>
          <a:p>
            <a:endParaRPr/>
          </a:p>
        </p:txBody>
      </p:sp>
      <p:pic>
        <p:nvPicPr>
          <p:cNvPr id="7" name="Image 0" descr="C:\Users\Trey\AppData\Local\Temp\claude\c--Projects-astral-project-src-pages-eftShopping\d9389cc2-8d3b-4f0d-be7e-28501db0dc02\scratchpad\afintel\icons\eye_gold.png"/>
          <p:cNvPicPr>
            <a:picLocks noChangeAspect="1"/>
          </p:cNvPicPr>
          <p:nvPr/>
        </p:nvPicPr>
        <p:blipFill>
          <a:blip r:embed="rId3"/>
          <a:stretch>
            <a:fillRect/>
          </a:stretch>
        </p:blipFill>
        <p:spPr>
          <a:xfrm>
            <a:off x="685800" y="4846320"/>
            <a:ext cx="292608" cy="292608"/>
          </a:xfrm>
          <a:prstGeom prst="rect">
            <a:avLst/>
          </a:prstGeom>
        </p:spPr>
      </p:pic>
      <p:sp>
        <p:nvSpPr>
          <p:cNvPr id="8" name="Text 5"/>
          <p:cNvSpPr txBox="1"/>
          <p:nvPr/>
        </p:nvSpPr>
        <p:spPr>
          <a:xfrm>
            <a:off x="228600" y="5330952"/>
            <a:ext cx="1188720" cy="27432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Collect</a:t>
            </a:r>
            <a:endParaRPr lang="en-US" sz="1200" dirty="0"/>
          </a:p>
        </p:txBody>
      </p:sp>
      <p:sp>
        <p:nvSpPr>
          <p:cNvPr id="9" name="Shape 6"/>
          <p:cNvSpPr/>
          <p:nvPr/>
        </p:nvSpPr>
        <p:spPr>
          <a:xfrm>
            <a:off x="1207008" y="4992624"/>
            <a:ext cx="502920" cy="0"/>
          </a:xfrm>
          <a:prstGeom prst="line">
            <a:avLst/>
          </a:prstGeom>
          <a:noFill/>
          <a:ln w="19050">
            <a:solidFill>
              <a:srgbClr val="FFC72C"/>
            </a:solidFill>
            <a:prstDash val="solid"/>
            <a:tailEnd type="triangle"/>
          </a:ln>
        </p:spPr>
        <p:txBody>
          <a:bodyPr/>
          <a:lstStyle/>
          <a:p>
            <a:endParaRPr/>
          </a:p>
        </p:txBody>
      </p:sp>
      <p:sp>
        <p:nvSpPr>
          <p:cNvPr id="10" name="Shape 7"/>
          <p:cNvSpPr/>
          <p:nvPr/>
        </p:nvSpPr>
        <p:spPr>
          <a:xfrm>
            <a:off x="2514600" y="4709160"/>
            <a:ext cx="566928" cy="566928"/>
          </a:xfrm>
          <a:prstGeom prst="ellipse">
            <a:avLst/>
          </a:prstGeom>
          <a:solidFill>
            <a:srgbClr val="17325C"/>
          </a:solidFill>
          <a:ln/>
        </p:spPr>
        <p:txBody>
          <a:bodyPr/>
          <a:lstStyle/>
          <a:p>
            <a:endParaRPr/>
          </a:p>
        </p:txBody>
      </p:sp>
      <p:pic>
        <p:nvPicPr>
          <p:cNvPr id="11" name="Image 1" descr="C:\Users\Trey\AppData\Local\Temp\claude\c--Projects-astral-project-src-pages-eftShopping\d9389cc2-8d3b-4f0d-be7e-28501db0dc02\scratchpad\afintel\icons\sitemap_gold.png"/>
          <p:cNvPicPr>
            <a:picLocks noChangeAspect="1"/>
          </p:cNvPicPr>
          <p:nvPr/>
        </p:nvPicPr>
        <p:blipFill>
          <a:blip r:embed="rId4"/>
          <a:stretch>
            <a:fillRect/>
          </a:stretch>
        </p:blipFill>
        <p:spPr>
          <a:xfrm>
            <a:off x="2651760" y="4846320"/>
            <a:ext cx="292608" cy="292608"/>
          </a:xfrm>
          <a:prstGeom prst="rect">
            <a:avLst/>
          </a:prstGeom>
        </p:spPr>
      </p:pic>
      <p:sp>
        <p:nvSpPr>
          <p:cNvPr id="12" name="Text 8"/>
          <p:cNvSpPr txBox="1"/>
          <p:nvPr/>
        </p:nvSpPr>
        <p:spPr>
          <a:xfrm>
            <a:off x="2194560" y="5330952"/>
            <a:ext cx="1188720" cy="27432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Analyze</a:t>
            </a:r>
            <a:endParaRPr lang="en-US" sz="1200" dirty="0"/>
          </a:p>
        </p:txBody>
      </p:sp>
      <p:sp>
        <p:nvSpPr>
          <p:cNvPr id="13" name="Shape 9"/>
          <p:cNvSpPr/>
          <p:nvPr/>
        </p:nvSpPr>
        <p:spPr>
          <a:xfrm>
            <a:off x="3172968" y="4992624"/>
            <a:ext cx="502920" cy="0"/>
          </a:xfrm>
          <a:prstGeom prst="line">
            <a:avLst/>
          </a:prstGeom>
          <a:noFill/>
          <a:ln w="19050">
            <a:solidFill>
              <a:srgbClr val="FFC72C"/>
            </a:solidFill>
            <a:prstDash val="solid"/>
            <a:tailEnd type="triangle"/>
          </a:ln>
        </p:spPr>
        <p:txBody>
          <a:bodyPr/>
          <a:lstStyle/>
          <a:p>
            <a:endParaRPr/>
          </a:p>
        </p:txBody>
      </p:sp>
      <p:sp>
        <p:nvSpPr>
          <p:cNvPr id="14" name="Shape 10"/>
          <p:cNvSpPr/>
          <p:nvPr/>
        </p:nvSpPr>
        <p:spPr>
          <a:xfrm>
            <a:off x="4480560" y="4709160"/>
            <a:ext cx="566928" cy="566928"/>
          </a:xfrm>
          <a:prstGeom prst="ellipse">
            <a:avLst/>
          </a:prstGeom>
          <a:solidFill>
            <a:srgbClr val="17325C"/>
          </a:solidFill>
          <a:ln/>
        </p:spPr>
        <p:txBody>
          <a:bodyPr/>
          <a:lstStyle/>
          <a:p>
            <a:endParaRPr/>
          </a:p>
        </p:txBody>
      </p:sp>
      <p:pic>
        <p:nvPicPr>
          <p:cNvPr id="15" name="Image 2" descr="C:\Users\Trey\AppData\Local\Temp\claude\c--Projects-astral-project-src-pages-eftShopping\d9389cc2-8d3b-4f0d-be7e-28501db0dc02\scratchpad\afintel\icons\shield_gold.png"/>
          <p:cNvPicPr>
            <a:picLocks noChangeAspect="1"/>
          </p:cNvPicPr>
          <p:nvPr/>
        </p:nvPicPr>
        <p:blipFill>
          <a:blip r:embed="rId5"/>
          <a:stretch>
            <a:fillRect/>
          </a:stretch>
        </p:blipFill>
        <p:spPr>
          <a:xfrm>
            <a:off x="4617720" y="4846320"/>
            <a:ext cx="292608" cy="292608"/>
          </a:xfrm>
          <a:prstGeom prst="rect">
            <a:avLst/>
          </a:prstGeom>
        </p:spPr>
      </p:pic>
      <p:sp>
        <p:nvSpPr>
          <p:cNvPr id="16" name="Text 11"/>
          <p:cNvSpPr txBox="1"/>
          <p:nvPr/>
        </p:nvSpPr>
        <p:spPr>
          <a:xfrm>
            <a:off x="4160520" y="5330952"/>
            <a:ext cx="1188720" cy="27432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Decide</a:t>
            </a:r>
            <a:endParaRPr lang="en-US" sz="1200" dirty="0"/>
          </a:p>
        </p:txBody>
      </p:sp>
      <p:sp>
        <p:nvSpPr>
          <p:cNvPr id="17" name="Shape 12"/>
          <p:cNvSpPr/>
          <p:nvPr/>
        </p:nvSpPr>
        <p:spPr>
          <a:xfrm>
            <a:off x="7315200" y="1783080"/>
            <a:ext cx="4343400" cy="4206240"/>
          </a:xfrm>
          <a:prstGeom prst="roundRect">
            <a:avLst>
              <a:gd name="adj" fmla="val 2174"/>
            </a:avLst>
          </a:prstGeom>
          <a:solidFill>
            <a:srgbClr val="17325C"/>
          </a:solidFill>
          <a:ln/>
          <a:effectLst>
            <a:outerShdw blurRad="101600" dist="38100" dir="5400000" algn="bl" rotWithShape="0">
              <a:srgbClr val="0B1B34">
                <a:alpha val="35000"/>
              </a:srgbClr>
            </a:outerShdw>
          </a:effectLst>
        </p:spPr>
        <p:txBody>
          <a:bodyPr/>
          <a:lstStyle/>
          <a:p>
            <a:endParaRPr/>
          </a:p>
        </p:txBody>
      </p:sp>
      <p:sp>
        <p:nvSpPr>
          <p:cNvPr id="18" name="Shape 13"/>
          <p:cNvSpPr/>
          <p:nvPr/>
        </p:nvSpPr>
        <p:spPr>
          <a:xfrm>
            <a:off x="7680960" y="2148840"/>
            <a:ext cx="548640" cy="548640"/>
          </a:xfrm>
          <a:prstGeom prst="ellipse">
            <a:avLst/>
          </a:prstGeom>
          <a:solidFill>
            <a:srgbClr val="0B1B34"/>
          </a:solidFill>
          <a:ln/>
        </p:spPr>
        <p:txBody>
          <a:bodyPr/>
          <a:lstStyle/>
          <a:p>
            <a:endParaRPr/>
          </a:p>
        </p:txBody>
      </p:sp>
      <p:pic>
        <p:nvPicPr>
          <p:cNvPr id="19" name="Image 3" descr="C:\Users\Trey\AppData\Local\Temp\claude\c--Projects-astral-project-src-pages-eftShopping\d9389cc2-8d3b-4f0d-be7e-28501db0dc02\scratchpad\afintel\icons\compass_gold.png"/>
          <p:cNvPicPr>
            <a:picLocks noChangeAspect="1"/>
          </p:cNvPicPr>
          <p:nvPr/>
        </p:nvPicPr>
        <p:blipFill>
          <a:blip r:embed="rId6"/>
          <a:stretch>
            <a:fillRect/>
          </a:stretch>
        </p:blipFill>
        <p:spPr>
          <a:xfrm>
            <a:off x="7818120" y="2286000"/>
            <a:ext cx="274320" cy="274320"/>
          </a:xfrm>
          <a:prstGeom prst="rect">
            <a:avLst/>
          </a:prstGeom>
        </p:spPr>
      </p:pic>
      <p:sp>
        <p:nvSpPr>
          <p:cNvPr id="20" name="Text 14"/>
          <p:cNvSpPr txBox="1"/>
          <p:nvPr/>
        </p:nvSpPr>
        <p:spPr>
          <a:xfrm>
            <a:off x="7635240" y="2834640"/>
            <a:ext cx="3657600" cy="640080"/>
          </a:xfrm>
          <a:prstGeom prst="rect">
            <a:avLst/>
          </a:prstGeom>
          <a:noFill/>
          <a:ln/>
        </p:spPr>
        <p:txBody>
          <a:bodyPr wrap="square" rtlCol="0" anchor="ctr"/>
          <a:lstStyle/>
          <a:p>
            <a:pPr marL="0" indent="0">
              <a:buNone/>
            </a:pPr>
            <a:r>
              <a:rPr lang="en-US" sz="3000" b="1" dirty="0">
                <a:solidFill>
                  <a:srgbClr val="FFC72C"/>
                </a:solidFill>
                <a:latin typeface="Cambria" pitchFamily="34" charset="0"/>
                <a:ea typeface="Cambria" pitchFamily="34" charset="-122"/>
                <a:cs typeface="Cambria" pitchFamily="34" charset="-120"/>
              </a:rPr>
              <a:t>OODA</a:t>
            </a:r>
            <a:endParaRPr lang="en-US" sz="3000" dirty="0"/>
          </a:p>
        </p:txBody>
      </p:sp>
      <p:sp>
        <p:nvSpPr>
          <p:cNvPr id="21" name="Text 15"/>
          <p:cNvSpPr txBox="1"/>
          <p:nvPr/>
        </p:nvSpPr>
        <p:spPr>
          <a:xfrm>
            <a:off x="7635240" y="3429000"/>
            <a:ext cx="3749040" cy="365760"/>
          </a:xfrm>
          <a:prstGeom prst="rect">
            <a:avLst/>
          </a:prstGeom>
          <a:noFill/>
          <a:ln/>
        </p:spPr>
        <p:txBody>
          <a:bodyPr wrap="square" rtlCol="0" anchor="ctr"/>
          <a:lstStyle/>
          <a:p>
            <a:pPr marL="0" indent="0">
              <a:buNone/>
            </a:pPr>
            <a:r>
              <a:rPr lang="en-US" sz="1250" i="1" dirty="0">
                <a:solidFill>
                  <a:srgbClr val="8CA3C7"/>
                </a:solidFill>
                <a:latin typeface="Calibri" pitchFamily="34" charset="0"/>
                <a:ea typeface="Calibri" pitchFamily="34" charset="-122"/>
                <a:cs typeface="Calibri" pitchFamily="34" charset="-120"/>
              </a:rPr>
              <a:t>Observe → Orient → Decide → Act</a:t>
            </a:r>
            <a:endParaRPr lang="en-US" sz="1250" dirty="0"/>
          </a:p>
        </p:txBody>
      </p:sp>
      <p:sp>
        <p:nvSpPr>
          <p:cNvPr id="22" name="Text 16"/>
          <p:cNvSpPr txBox="1"/>
          <p:nvPr/>
        </p:nvSpPr>
        <p:spPr>
          <a:xfrm>
            <a:off x="7635240" y="3977640"/>
            <a:ext cx="3749040" cy="1737360"/>
          </a:xfrm>
          <a:prstGeom prst="rect">
            <a:avLst/>
          </a:prstGeom>
          <a:noFill/>
          <a:ln/>
        </p:spPr>
        <p:txBody>
          <a:bodyPr wrap="square" rtlCol="0" anchor="ctr"/>
          <a:lstStyle/>
          <a:p>
            <a:pPr marL="0" indent="0">
              <a:lnSpc>
                <a:spcPct val="130000"/>
              </a:lnSpc>
              <a:buNone/>
            </a:pPr>
            <a:r>
              <a:rPr lang="en-US" sz="1250" dirty="0">
                <a:solidFill>
                  <a:srgbClr val="F4F6FA"/>
                </a:solidFill>
                <a:latin typeface="Calibri" pitchFamily="34" charset="0"/>
                <a:ea typeface="Calibri" pitchFamily="34" charset="-122"/>
                <a:cs typeface="Calibri" pitchFamily="34" charset="-120"/>
              </a:rPr>
              <a:t>Intelligence exists to compress this loop — giving commanders better information, faster than the adversary can react to it. That speed and accuracy is called decision advantage.</a:t>
            </a:r>
            <a:endParaRPr lang="en-US" sz="1250" dirty="0"/>
          </a:p>
        </p:txBody>
      </p:sp>
      <p:sp>
        <p:nvSpPr>
          <p:cNvPr id="23" name="Text 17"/>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8CA3C7"/>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TWO TRACKS, ONE MISSION</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12284B"/>
                </a:solidFill>
                <a:latin typeface="Cambria" pitchFamily="34" charset="0"/>
                <a:ea typeface="Cambria" pitchFamily="34" charset="-122"/>
                <a:cs typeface="Cambria" pitchFamily="34" charset="-120"/>
              </a:rPr>
              <a:t>The officer role — and the team beside it</a:t>
            </a:r>
            <a:endParaRPr lang="en-US" sz="3200" dirty="0"/>
          </a:p>
        </p:txBody>
      </p:sp>
      <p:sp>
        <p:nvSpPr>
          <p:cNvPr id="4" name="Shape 2"/>
          <p:cNvSpPr/>
          <p:nvPr/>
        </p:nvSpPr>
        <p:spPr>
          <a:xfrm>
            <a:off x="548640" y="1828800"/>
            <a:ext cx="5212080" cy="4160520"/>
          </a:xfrm>
          <a:prstGeom prst="roundRect">
            <a:avLst>
              <a:gd name="adj" fmla="val 2198"/>
            </a:avLst>
          </a:prstGeom>
          <a:solidFill>
            <a:srgbClr val="12284B"/>
          </a:solidFill>
          <a:ln/>
          <a:effectLst>
            <a:outerShdw blurRad="101600" dist="38100" dir="5400000" algn="bl" rotWithShape="0">
              <a:srgbClr val="0B1B34">
                <a:alpha val="35000"/>
              </a:srgbClr>
            </a:outerShdw>
          </a:effectLst>
        </p:spPr>
        <p:txBody>
          <a:bodyPr/>
          <a:lstStyle/>
          <a:p>
            <a:endParaRPr/>
          </a:p>
        </p:txBody>
      </p:sp>
      <p:sp>
        <p:nvSpPr>
          <p:cNvPr id="5" name="Shape 3"/>
          <p:cNvSpPr/>
          <p:nvPr/>
        </p:nvSpPr>
        <p:spPr>
          <a:xfrm>
            <a:off x="914400" y="2194560"/>
            <a:ext cx="640080" cy="640080"/>
          </a:xfrm>
          <a:prstGeom prst="ellipse">
            <a:avLst/>
          </a:prstGeom>
          <a:solidFill>
            <a:srgbClr val="17325C"/>
          </a:solidFill>
          <a:ln/>
        </p:spPr>
        <p:txBody>
          <a:bodyPr/>
          <a:lstStyle/>
          <a:p>
            <a:endParaRPr/>
          </a:p>
        </p:txBody>
      </p:sp>
      <p:pic>
        <p:nvPicPr>
          <p:cNvPr id="6" name="Image 0" descr="C:\Users\Trey\AppData\Local\Temp\claude\c--Projects-astral-project-src-pages-eftShopping\d9389cc2-8d3b-4f0d-be7e-28501db0dc02\scratchpad\afintel\icons\usertie_gold.png"/>
          <p:cNvPicPr>
            <a:picLocks noChangeAspect="1"/>
          </p:cNvPicPr>
          <p:nvPr/>
        </p:nvPicPr>
        <p:blipFill>
          <a:blip r:embed="rId3"/>
          <a:stretch>
            <a:fillRect/>
          </a:stretch>
        </p:blipFill>
        <p:spPr>
          <a:xfrm>
            <a:off x="1051560" y="2331720"/>
            <a:ext cx="365760" cy="365760"/>
          </a:xfrm>
          <a:prstGeom prst="rect">
            <a:avLst/>
          </a:prstGeom>
        </p:spPr>
      </p:pic>
      <p:sp>
        <p:nvSpPr>
          <p:cNvPr id="7" name="Text 4"/>
          <p:cNvSpPr txBox="1"/>
          <p:nvPr/>
        </p:nvSpPr>
        <p:spPr>
          <a:xfrm>
            <a:off x="1691640" y="2212848"/>
            <a:ext cx="3657600" cy="36576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Officer — 14N</a:t>
            </a:r>
            <a:endParaRPr lang="en-US" sz="1700" dirty="0"/>
          </a:p>
        </p:txBody>
      </p:sp>
      <p:sp>
        <p:nvSpPr>
          <p:cNvPr id="8" name="Text 5"/>
          <p:cNvSpPr txBox="1"/>
          <p:nvPr/>
        </p:nvSpPr>
        <p:spPr>
          <a:xfrm>
            <a:off x="1691640" y="2542032"/>
            <a:ext cx="3657600" cy="274320"/>
          </a:xfrm>
          <a:prstGeom prst="rect">
            <a:avLst/>
          </a:prstGeom>
          <a:noFill/>
          <a:ln/>
        </p:spPr>
        <p:txBody>
          <a:bodyPr wrap="square" rtlCol="0" anchor="ctr"/>
          <a:lstStyle/>
          <a:p>
            <a:pPr marL="0" indent="0">
              <a:buNone/>
            </a:pPr>
            <a:r>
              <a:rPr lang="en-US" sz="1200" i="1" dirty="0">
                <a:solidFill>
                  <a:srgbClr val="8CA3C7"/>
                </a:solidFill>
                <a:latin typeface="Calibri" pitchFamily="34" charset="0"/>
                <a:ea typeface="Calibri" pitchFamily="34" charset="-122"/>
                <a:cs typeface="Calibri" pitchFamily="34" charset="-120"/>
              </a:rPr>
              <a:t>Intelligence Officer</a:t>
            </a:r>
            <a:endParaRPr lang="en-US" sz="1200" dirty="0"/>
          </a:p>
        </p:txBody>
      </p:sp>
      <p:sp>
        <p:nvSpPr>
          <p:cNvPr id="11" name="Shape 8"/>
          <p:cNvSpPr/>
          <p:nvPr/>
        </p:nvSpPr>
        <p:spPr>
          <a:xfrm>
            <a:off x="914400" y="3826764"/>
            <a:ext cx="82296" cy="82296"/>
          </a:xfrm>
          <a:prstGeom prst="ellipse">
            <a:avLst/>
          </a:prstGeom>
          <a:solidFill>
            <a:srgbClr val="FFC72C"/>
          </a:solidFill>
          <a:ln/>
        </p:spPr>
        <p:txBody>
          <a:bodyPr/>
          <a:lstStyle/>
          <a:p>
            <a:endParaRPr/>
          </a:p>
        </p:txBody>
      </p:sp>
      <p:sp>
        <p:nvSpPr>
          <p:cNvPr id="12" name="Text 9"/>
          <p:cNvSpPr txBox="1"/>
          <p:nvPr/>
        </p:nvSpPr>
        <p:spPr>
          <a:xfrm>
            <a:off x="1143000" y="3584448"/>
            <a:ext cx="4389120" cy="566928"/>
          </a:xfrm>
          <a:prstGeom prst="rect">
            <a:avLst/>
          </a:prstGeom>
          <a:noFill/>
          <a:ln/>
        </p:spPr>
        <p:txBody>
          <a:bodyPr wrap="square" rtlCol="0" anchor="ctr"/>
          <a:lstStyle/>
          <a:p>
            <a:pPr marL="0" indent="0">
              <a:lnSpc>
                <a:spcPct val="115000"/>
              </a:lnSpc>
              <a:buNone/>
            </a:pPr>
            <a:r>
              <a:rPr lang="en-US" sz="1250" dirty="0">
                <a:solidFill>
                  <a:srgbClr val="F4F6FA"/>
                </a:solidFill>
                <a:latin typeface="Calibri" pitchFamily="34" charset="0"/>
                <a:ea typeface="Calibri" pitchFamily="34" charset="-122"/>
                <a:cs typeface="Calibri" pitchFamily="34" charset="-120"/>
              </a:rPr>
              <a:t>Directs collection &amp; owns the finished intel product</a:t>
            </a:r>
            <a:endParaRPr lang="en-US" sz="1250" dirty="0"/>
          </a:p>
        </p:txBody>
      </p:sp>
      <p:sp>
        <p:nvSpPr>
          <p:cNvPr id="13" name="Shape 10"/>
          <p:cNvSpPr/>
          <p:nvPr/>
        </p:nvSpPr>
        <p:spPr>
          <a:xfrm>
            <a:off x="914400" y="4393692"/>
            <a:ext cx="82296" cy="82296"/>
          </a:xfrm>
          <a:prstGeom prst="ellipse">
            <a:avLst/>
          </a:prstGeom>
          <a:solidFill>
            <a:srgbClr val="FFC72C"/>
          </a:solidFill>
          <a:ln/>
        </p:spPr>
        <p:txBody>
          <a:bodyPr/>
          <a:lstStyle/>
          <a:p>
            <a:endParaRPr/>
          </a:p>
        </p:txBody>
      </p:sp>
      <p:sp>
        <p:nvSpPr>
          <p:cNvPr id="14" name="Text 11"/>
          <p:cNvSpPr txBox="1"/>
          <p:nvPr/>
        </p:nvSpPr>
        <p:spPr>
          <a:xfrm>
            <a:off x="1143000" y="4151376"/>
            <a:ext cx="4389120" cy="566928"/>
          </a:xfrm>
          <a:prstGeom prst="rect">
            <a:avLst/>
          </a:prstGeom>
          <a:noFill/>
          <a:ln/>
        </p:spPr>
        <p:txBody>
          <a:bodyPr wrap="square" rtlCol="0" anchor="ctr"/>
          <a:lstStyle/>
          <a:p>
            <a:pPr marL="0" indent="0">
              <a:lnSpc>
                <a:spcPct val="115000"/>
              </a:lnSpc>
              <a:buNone/>
            </a:pPr>
            <a:r>
              <a:rPr lang="en-US" sz="1250" dirty="0">
                <a:solidFill>
                  <a:srgbClr val="F4F6FA"/>
                </a:solidFill>
                <a:latin typeface="Calibri" pitchFamily="34" charset="0"/>
                <a:ea typeface="Calibri" pitchFamily="34" charset="-122"/>
                <a:cs typeface="Calibri" pitchFamily="34" charset="-120"/>
              </a:rPr>
              <a:t>Briefs commanders and aircrew before every mission</a:t>
            </a:r>
            <a:endParaRPr lang="en-US" sz="1250" dirty="0"/>
          </a:p>
        </p:txBody>
      </p:sp>
      <p:sp>
        <p:nvSpPr>
          <p:cNvPr id="15" name="Shape 12"/>
          <p:cNvSpPr/>
          <p:nvPr/>
        </p:nvSpPr>
        <p:spPr>
          <a:xfrm>
            <a:off x="914400" y="4960620"/>
            <a:ext cx="82296" cy="82296"/>
          </a:xfrm>
          <a:prstGeom prst="ellipse">
            <a:avLst/>
          </a:prstGeom>
          <a:solidFill>
            <a:srgbClr val="FFC72C"/>
          </a:solidFill>
          <a:ln/>
        </p:spPr>
        <p:txBody>
          <a:bodyPr/>
          <a:lstStyle/>
          <a:p>
            <a:endParaRPr/>
          </a:p>
        </p:txBody>
      </p:sp>
      <p:sp>
        <p:nvSpPr>
          <p:cNvPr id="16" name="Text 13"/>
          <p:cNvSpPr txBox="1"/>
          <p:nvPr/>
        </p:nvSpPr>
        <p:spPr>
          <a:xfrm>
            <a:off x="1143000" y="4759452"/>
            <a:ext cx="4389120" cy="566928"/>
          </a:xfrm>
          <a:prstGeom prst="rect">
            <a:avLst/>
          </a:prstGeom>
          <a:noFill/>
          <a:ln/>
        </p:spPr>
        <p:txBody>
          <a:bodyPr wrap="square" rtlCol="0" anchor="ctr"/>
          <a:lstStyle/>
          <a:p>
            <a:pPr marL="0" indent="0">
              <a:lnSpc>
                <a:spcPct val="115000"/>
              </a:lnSpc>
              <a:buNone/>
            </a:pPr>
            <a:r>
              <a:rPr lang="en-US" sz="1250" dirty="0">
                <a:solidFill>
                  <a:srgbClr val="F4F6FA"/>
                </a:solidFill>
                <a:latin typeface="Calibri" pitchFamily="34" charset="0"/>
                <a:ea typeface="Calibri" pitchFamily="34" charset="-122"/>
                <a:cs typeface="Calibri" pitchFamily="34" charset="-120"/>
              </a:rPr>
              <a:t>Leads a team of all-source analysts</a:t>
            </a:r>
            <a:endParaRPr lang="en-US" sz="1250" dirty="0"/>
          </a:p>
        </p:txBody>
      </p:sp>
      <p:sp>
        <p:nvSpPr>
          <p:cNvPr id="19" name="Shape 16"/>
          <p:cNvSpPr/>
          <p:nvPr/>
        </p:nvSpPr>
        <p:spPr>
          <a:xfrm>
            <a:off x="6080760" y="1828800"/>
            <a:ext cx="5212080" cy="4160520"/>
          </a:xfrm>
          <a:prstGeom prst="roundRect">
            <a:avLst>
              <a:gd name="adj" fmla="val 2198"/>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20" name="Shape 17"/>
          <p:cNvSpPr/>
          <p:nvPr/>
        </p:nvSpPr>
        <p:spPr>
          <a:xfrm>
            <a:off x="6446520" y="2194560"/>
            <a:ext cx="640080" cy="640080"/>
          </a:xfrm>
          <a:prstGeom prst="ellipse">
            <a:avLst/>
          </a:prstGeom>
          <a:solidFill>
            <a:srgbClr val="12284B"/>
          </a:solidFill>
          <a:ln/>
        </p:spPr>
        <p:txBody>
          <a:bodyPr/>
          <a:lstStyle/>
          <a:p>
            <a:endParaRPr/>
          </a:p>
        </p:txBody>
      </p:sp>
      <p:pic>
        <p:nvPicPr>
          <p:cNvPr id="21" name="Image 1" descr="C:\Users\Trey\AppData\Local\Temp\claude\c--Projects-astral-project-src-pages-eftShopping\d9389cc2-8d3b-4f0d-be7e-28501db0dc02\scratchpad\afintel\icons\users_gold.png"/>
          <p:cNvPicPr>
            <a:picLocks noChangeAspect="1"/>
          </p:cNvPicPr>
          <p:nvPr/>
        </p:nvPicPr>
        <p:blipFill>
          <a:blip r:embed="rId4"/>
          <a:stretch>
            <a:fillRect/>
          </a:stretch>
        </p:blipFill>
        <p:spPr>
          <a:xfrm>
            <a:off x="6583680" y="2331720"/>
            <a:ext cx="365760" cy="365760"/>
          </a:xfrm>
          <a:prstGeom prst="rect">
            <a:avLst/>
          </a:prstGeom>
        </p:spPr>
      </p:pic>
      <p:sp>
        <p:nvSpPr>
          <p:cNvPr id="22" name="Text 18"/>
          <p:cNvSpPr txBox="1"/>
          <p:nvPr/>
        </p:nvSpPr>
        <p:spPr>
          <a:xfrm>
            <a:off x="7223760" y="2212848"/>
            <a:ext cx="3657600" cy="365760"/>
          </a:xfrm>
          <a:prstGeom prst="rect">
            <a:avLst/>
          </a:prstGeom>
          <a:noFill/>
          <a:ln/>
        </p:spPr>
        <p:txBody>
          <a:bodyPr wrap="square" rtlCol="0" anchor="ctr"/>
          <a:lstStyle/>
          <a:p>
            <a:pPr marL="0" indent="0">
              <a:buNone/>
            </a:pPr>
            <a:r>
              <a:rPr lang="en-US" sz="1700" b="1" dirty="0">
                <a:solidFill>
                  <a:srgbClr val="12284B"/>
                </a:solidFill>
                <a:latin typeface="Calibri" pitchFamily="34" charset="0"/>
                <a:ea typeface="Calibri" pitchFamily="34" charset="-122"/>
                <a:cs typeface="Calibri" pitchFamily="34" charset="-120"/>
              </a:rPr>
              <a:t>Analyst Team — 1N0X1</a:t>
            </a:r>
            <a:endParaRPr lang="en-US" sz="1700" dirty="0"/>
          </a:p>
        </p:txBody>
      </p:sp>
      <p:sp>
        <p:nvSpPr>
          <p:cNvPr id="23" name="Text 19"/>
          <p:cNvSpPr txBox="1"/>
          <p:nvPr/>
        </p:nvSpPr>
        <p:spPr>
          <a:xfrm>
            <a:off x="7223760" y="2542032"/>
            <a:ext cx="3840480" cy="274320"/>
          </a:xfrm>
          <a:prstGeom prst="rect">
            <a:avLst/>
          </a:prstGeom>
          <a:noFill/>
          <a:ln/>
        </p:spPr>
        <p:txBody>
          <a:bodyPr wrap="square" rtlCol="0" anchor="ctr"/>
          <a:lstStyle/>
          <a:p>
            <a:pPr marL="0" indent="0">
              <a:buNone/>
            </a:pPr>
            <a:r>
              <a:rPr lang="en-US" sz="1200" i="1" dirty="0">
                <a:solidFill>
                  <a:srgbClr val="5C6B82"/>
                </a:solidFill>
                <a:latin typeface="Calibri" pitchFamily="34" charset="0"/>
                <a:ea typeface="Calibri" pitchFamily="34" charset="-122"/>
                <a:cs typeface="Calibri" pitchFamily="34" charset="-120"/>
              </a:rPr>
              <a:t>All-Source Intelligence Analyst</a:t>
            </a:r>
            <a:endParaRPr lang="en-US" sz="1200" dirty="0"/>
          </a:p>
        </p:txBody>
      </p:sp>
      <p:sp>
        <p:nvSpPr>
          <p:cNvPr id="26" name="Shape 22"/>
          <p:cNvSpPr/>
          <p:nvPr/>
        </p:nvSpPr>
        <p:spPr>
          <a:xfrm>
            <a:off x="6080760" y="3826764"/>
            <a:ext cx="82296" cy="82296"/>
          </a:xfrm>
          <a:prstGeom prst="ellipse">
            <a:avLst/>
          </a:prstGeom>
          <a:solidFill>
            <a:srgbClr val="12284B"/>
          </a:solidFill>
          <a:ln/>
        </p:spPr>
        <p:txBody>
          <a:bodyPr/>
          <a:lstStyle/>
          <a:p>
            <a:endParaRPr/>
          </a:p>
        </p:txBody>
      </p:sp>
      <p:sp>
        <p:nvSpPr>
          <p:cNvPr id="27" name="Text 23"/>
          <p:cNvSpPr txBox="1"/>
          <p:nvPr/>
        </p:nvSpPr>
        <p:spPr>
          <a:xfrm>
            <a:off x="6309360" y="3584448"/>
            <a:ext cx="4754880" cy="566928"/>
          </a:xfrm>
          <a:prstGeom prst="rect">
            <a:avLst/>
          </a:prstGeom>
          <a:noFill/>
          <a:ln/>
        </p:spPr>
        <p:txBody>
          <a:bodyPr wrap="square" rtlCol="0" anchor="ctr"/>
          <a:lstStyle/>
          <a:p>
            <a:pPr marL="0" indent="0">
              <a:lnSpc>
                <a:spcPct val="115000"/>
              </a:lnSpc>
              <a:buNone/>
            </a:pPr>
            <a:r>
              <a:rPr lang="en-US" sz="1250" dirty="0">
                <a:solidFill>
                  <a:srgbClr val="1B2430"/>
                </a:solidFill>
                <a:latin typeface="Calibri" pitchFamily="34" charset="0"/>
                <a:ea typeface="Calibri" pitchFamily="34" charset="-122"/>
                <a:cs typeface="Calibri" pitchFamily="34" charset="-120"/>
              </a:rPr>
              <a:t>Builds the fused, all-source picture analysts work from</a:t>
            </a:r>
            <a:endParaRPr lang="en-US" sz="1250" dirty="0"/>
          </a:p>
        </p:txBody>
      </p:sp>
      <p:sp>
        <p:nvSpPr>
          <p:cNvPr id="28" name="Shape 24"/>
          <p:cNvSpPr/>
          <p:nvPr/>
        </p:nvSpPr>
        <p:spPr>
          <a:xfrm>
            <a:off x="6080760" y="4393692"/>
            <a:ext cx="82296" cy="82296"/>
          </a:xfrm>
          <a:prstGeom prst="ellipse">
            <a:avLst/>
          </a:prstGeom>
          <a:solidFill>
            <a:srgbClr val="12284B"/>
          </a:solidFill>
          <a:ln/>
        </p:spPr>
        <p:txBody>
          <a:bodyPr/>
          <a:lstStyle/>
          <a:p>
            <a:endParaRPr/>
          </a:p>
        </p:txBody>
      </p:sp>
      <p:sp>
        <p:nvSpPr>
          <p:cNvPr id="29" name="Text 25"/>
          <p:cNvSpPr txBox="1"/>
          <p:nvPr/>
        </p:nvSpPr>
        <p:spPr>
          <a:xfrm>
            <a:off x="6309360" y="4151376"/>
            <a:ext cx="4754880" cy="566928"/>
          </a:xfrm>
          <a:prstGeom prst="rect">
            <a:avLst/>
          </a:prstGeom>
          <a:noFill/>
          <a:ln/>
        </p:spPr>
        <p:txBody>
          <a:bodyPr wrap="square" rtlCol="0" anchor="ctr"/>
          <a:lstStyle/>
          <a:p>
            <a:pPr marL="0" indent="0">
              <a:lnSpc>
                <a:spcPct val="115000"/>
              </a:lnSpc>
              <a:buNone/>
            </a:pPr>
            <a:r>
              <a:rPr lang="en-US" sz="1250" dirty="0">
                <a:solidFill>
                  <a:srgbClr val="1B2430"/>
                </a:solidFill>
                <a:latin typeface="Calibri" pitchFamily="34" charset="0"/>
                <a:ea typeface="Calibri" pitchFamily="34" charset="-122"/>
                <a:cs typeface="Calibri" pitchFamily="34" charset="-120"/>
              </a:rPr>
              <a:t>Trains aircrews on collection &amp; reporting procedures</a:t>
            </a:r>
            <a:endParaRPr lang="en-US" sz="1250" dirty="0"/>
          </a:p>
        </p:txBody>
      </p:sp>
      <p:sp>
        <p:nvSpPr>
          <p:cNvPr id="30" name="Shape 26"/>
          <p:cNvSpPr/>
          <p:nvPr/>
        </p:nvSpPr>
        <p:spPr>
          <a:xfrm>
            <a:off x="6080760" y="4960620"/>
            <a:ext cx="82296" cy="82296"/>
          </a:xfrm>
          <a:prstGeom prst="ellipse">
            <a:avLst/>
          </a:prstGeom>
          <a:solidFill>
            <a:srgbClr val="12284B"/>
          </a:solidFill>
          <a:ln/>
        </p:spPr>
        <p:txBody>
          <a:bodyPr/>
          <a:lstStyle/>
          <a:p>
            <a:endParaRPr/>
          </a:p>
        </p:txBody>
      </p:sp>
      <p:sp>
        <p:nvSpPr>
          <p:cNvPr id="31" name="Text 27"/>
          <p:cNvSpPr txBox="1"/>
          <p:nvPr/>
        </p:nvSpPr>
        <p:spPr>
          <a:xfrm>
            <a:off x="6309360" y="4718304"/>
            <a:ext cx="4754880" cy="566928"/>
          </a:xfrm>
          <a:prstGeom prst="rect">
            <a:avLst/>
          </a:prstGeom>
          <a:noFill/>
          <a:ln/>
        </p:spPr>
        <p:txBody>
          <a:bodyPr wrap="square" rtlCol="0" anchor="ctr"/>
          <a:lstStyle/>
          <a:p>
            <a:pPr marL="0" indent="0">
              <a:lnSpc>
                <a:spcPct val="115000"/>
              </a:lnSpc>
              <a:buNone/>
            </a:pPr>
            <a:r>
              <a:rPr lang="en-US" sz="1250" dirty="0">
                <a:solidFill>
                  <a:srgbClr val="1B2430"/>
                </a:solidFill>
                <a:latin typeface="Calibri" pitchFamily="34" charset="0"/>
                <a:ea typeface="Calibri" pitchFamily="34" charset="-122"/>
                <a:cs typeface="Calibri" pitchFamily="34" charset="-120"/>
              </a:rPr>
              <a:t>Can specialize — targeting, fusion, collection mgmt</a:t>
            </a:r>
            <a:endParaRPr lang="en-US" sz="1250" dirty="0"/>
          </a:p>
        </p:txBody>
      </p:sp>
      <p:sp>
        <p:nvSpPr>
          <p:cNvPr id="32" name="Shape 28"/>
          <p:cNvSpPr/>
          <p:nvPr/>
        </p:nvSpPr>
        <p:spPr>
          <a:xfrm>
            <a:off x="6080760" y="5527548"/>
            <a:ext cx="82296" cy="82296"/>
          </a:xfrm>
          <a:prstGeom prst="ellipse">
            <a:avLst/>
          </a:prstGeom>
          <a:solidFill>
            <a:srgbClr val="12284B"/>
          </a:solidFill>
          <a:ln/>
        </p:spPr>
        <p:txBody>
          <a:bodyPr/>
          <a:lstStyle/>
          <a:p>
            <a:endParaRPr/>
          </a:p>
        </p:txBody>
      </p:sp>
      <p:sp>
        <p:nvSpPr>
          <p:cNvPr id="33" name="Text 29"/>
          <p:cNvSpPr txBox="1"/>
          <p:nvPr/>
        </p:nvSpPr>
        <p:spPr>
          <a:xfrm>
            <a:off x="6309360" y="5285232"/>
            <a:ext cx="4754880" cy="566928"/>
          </a:xfrm>
          <a:prstGeom prst="rect">
            <a:avLst/>
          </a:prstGeom>
          <a:noFill/>
          <a:ln/>
        </p:spPr>
        <p:txBody>
          <a:bodyPr wrap="square" rtlCol="0" anchor="ctr"/>
          <a:lstStyle/>
          <a:p>
            <a:pPr marL="0" indent="0">
              <a:lnSpc>
                <a:spcPct val="115000"/>
              </a:lnSpc>
              <a:buNone/>
            </a:pPr>
            <a:r>
              <a:rPr lang="en-US" sz="1250" dirty="0">
                <a:solidFill>
                  <a:srgbClr val="1B2430"/>
                </a:solidFill>
                <a:latin typeface="Calibri" pitchFamily="34" charset="0"/>
                <a:ea typeface="Calibri" pitchFamily="34" charset="-122"/>
                <a:cs typeface="Calibri" pitchFamily="34" charset="-120"/>
              </a:rPr>
              <a:t>Requires a Top Secret clearance</a:t>
            </a:r>
            <a:endParaRPr lang="en-US" sz="1250" dirty="0"/>
          </a:p>
        </p:txBody>
      </p:sp>
      <p:sp>
        <p:nvSpPr>
          <p:cNvPr id="34" name="Text 30"/>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5C6B82"/>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RAW DATA → USABLE INTEL</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12284B"/>
                </a:solidFill>
                <a:latin typeface="Cambria" pitchFamily="34" charset="0"/>
                <a:ea typeface="Cambria" pitchFamily="34" charset="-122"/>
                <a:cs typeface="Cambria" pitchFamily="34" charset="-120"/>
              </a:rPr>
              <a:t>The five main collection disciplines (“INTs”)</a:t>
            </a:r>
            <a:endParaRPr lang="en-US" sz="3200" dirty="0"/>
          </a:p>
        </p:txBody>
      </p:sp>
      <p:sp>
        <p:nvSpPr>
          <p:cNvPr id="4" name="Text 2"/>
          <p:cNvSpPr txBox="1"/>
          <p:nvPr/>
        </p:nvSpPr>
        <p:spPr>
          <a:xfrm>
            <a:off x="548640" y="1371600"/>
            <a:ext cx="9144000" cy="365760"/>
          </a:xfrm>
          <a:prstGeom prst="rect">
            <a:avLst/>
          </a:prstGeom>
          <a:noFill/>
          <a:ln/>
        </p:spPr>
        <p:txBody>
          <a:bodyPr wrap="square" rtlCol="0" anchor="ctr"/>
          <a:lstStyle/>
          <a:p>
            <a:pPr marL="0" indent="0">
              <a:buNone/>
            </a:pPr>
            <a:r>
              <a:rPr lang="en-US" sz="1300" i="1" dirty="0">
                <a:solidFill>
                  <a:srgbClr val="5C6B82"/>
                </a:solidFill>
                <a:latin typeface="Calibri" pitchFamily="34" charset="0"/>
                <a:ea typeface="Calibri" pitchFamily="34" charset="-122"/>
                <a:cs typeface="Calibri" pitchFamily="34" charset="-120"/>
              </a:rPr>
              <a:t>Officers task these collection sources, then fuse what comes back into one picture.</a:t>
            </a:r>
            <a:endParaRPr lang="en-US" sz="1300" dirty="0"/>
          </a:p>
        </p:txBody>
      </p:sp>
      <p:sp>
        <p:nvSpPr>
          <p:cNvPr id="5" name="Shape 3"/>
          <p:cNvSpPr/>
          <p:nvPr/>
        </p:nvSpPr>
        <p:spPr>
          <a:xfrm>
            <a:off x="548640" y="1965960"/>
            <a:ext cx="2121408" cy="3566160"/>
          </a:xfrm>
          <a:prstGeom prst="roundRect">
            <a:avLst>
              <a:gd name="adj" fmla="val 3448"/>
            </a:avLst>
          </a:prstGeom>
          <a:solidFill>
            <a:srgbClr val="12284B"/>
          </a:solidFill>
          <a:ln/>
          <a:effectLst>
            <a:outerShdw blurRad="101600" dist="38100" dir="5400000" algn="bl" rotWithShape="0">
              <a:srgbClr val="0B1B34">
                <a:alpha val="35000"/>
              </a:srgbClr>
            </a:outerShdw>
          </a:effectLst>
        </p:spPr>
        <p:txBody>
          <a:bodyPr/>
          <a:lstStyle/>
          <a:p>
            <a:endParaRPr/>
          </a:p>
        </p:txBody>
      </p:sp>
      <p:sp>
        <p:nvSpPr>
          <p:cNvPr id="6" name="Shape 4"/>
          <p:cNvSpPr/>
          <p:nvPr/>
        </p:nvSpPr>
        <p:spPr>
          <a:xfrm>
            <a:off x="1325880" y="2258568"/>
            <a:ext cx="566928" cy="566928"/>
          </a:xfrm>
          <a:prstGeom prst="ellipse">
            <a:avLst/>
          </a:prstGeom>
          <a:solidFill>
            <a:srgbClr val="0B1B34"/>
          </a:solidFill>
          <a:ln/>
        </p:spPr>
        <p:txBody>
          <a:bodyPr/>
          <a:lstStyle/>
          <a:p>
            <a:endParaRPr/>
          </a:p>
        </p:txBody>
      </p:sp>
      <p:pic>
        <p:nvPicPr>
          <p:cNvPr id="7" name="Image 0" descr="C:\Users\Trey\AppData\Local\Temp\claude\c--Projects-astral-project-src-pages-eftShopping\d9389cc2-8d3b-4f0d-be7e-28501db0dc02\scratchpad\afintel\icons\broadcast_gold.png"/>
          <p:cNvPicPr>
            <a:picLocks noChangeAspect="1"/>
          </p:cNvPicPr>
          <p:nvPr/>
        </p:nvPicPr>
        <p:blipFill>
          <a:blip r:embed="rId3"/>
          <a:stretch>
            <a:fillRect/>
          </a:stretch>
        </p:blipFill>
        <p:spPr>
          <a:xfrm>
            <a:off x="1463040" y="2395728"/>
            <a:ext cx="292608" cy="292608"/>
          </a:xfrm>
          <a:prstGeom prst="rect">
            <a:avLst/>
          </a:prstGeom>
        </p:spPr>
      </p:pic>
      <p:sp>
        <p:nvSpPr>
          <p:cNvPr id="8" name="Text 5"/>
          <p:cNvSpPr txBox="1"/>
          <p:nvPr/>
        </p:nvSpPr>
        <p:spPr>
          <a:xfrm>
            <a:off x="640080" y="3017520"/>
            <a:ext cx="1938528" cy="365760"/>
          </a:xfrm>
          <a:prstGeom prst="rect">
            <a:avLst/>
          </a:prstGeom>
          <a:noFill/>
          <a:ln/>
        </p:spPr>
        <p:txBody>
          <a:bodyPr wrap="square" rtlCol="0" anchor="ctr"/>
          <a:lstStyle/>
          <a:p>
            <a:pPr marL="0" indent="0" algn="ctr">
              <a:buNone/>
            </a:pPr>
            <a:r>
              <a:rPr lang="en-US" sz="1900" b="1" dirty="0">
                <a:solidFill>
                  <a:srgbClr val="FFC72C"/>
                </a:solidFill>
                <a:latin typeface="Cambria" pitchFamily="34" charset="0"/>
                <a:ea typeface="Cambria" pitchFamily="34" charset="-122"/>
                <a:cs typeface="Cambria" pitchFamily="34" charset="-120"/>
              </a:rPr>
              <a:t>SIGINT</a:t>
            </a:r>
            <a:endParaRPr lang="en-US" sz="1900" dirty="0"/>
          </a:p>
        </p:txBody>
      </p:sp>
      <p:sp>
        <p:nvSpPr>
          <p:cNvPr id="9" name="Text 6"/>
          <p:cNvSpPr txBox="1"/>
          <p:nvPr/>
        </p:nvSpPr>
        <p:spPr>
          <a:xfrm>
            <a:off x="658368" y="3429000"/>
            <a:ext cx="1901952" cy="502920"/>
          </a:xfrm>
          <a:prstGeom prst="rect">
            <a:avLst/>
          </a:prstGeom>
          <a:noFill/>
          <a:ln/>
        </p:spPr>
        <p:txBody>
          <a:bodyPr wrap="square" rtlCol="0" anchor="ctr"/>
          <a:lstStyle/>
          <a:p>
            <a:pPr marL="0" indent="0" algn="ctr">
              <a:lnSpc>
                <a:spcPct val="110000"/>
              </a:lnSpc>
              <a:buNone/>
            </a:pPr>
            <a:r>
              <a:rPr lang="en-US" sz="1050" b="1" dirty="0">
                <a:solidFill>
                  <a:srgbClr val="FFFFFF"/>
                </a:solidFill>
                <a:latin typeface="Calibri" pitchFamily="34" charset="0"/>
                <a:ea typeface="Calibri" pitchFamily="34" charset="-122"/>
                <a:cs typeface="Calibri" pitchFamily="34" charset="-120"/>
              </a:rPr>
              <a:t>Signals Intelligence</a:t>
            </a:r>
            <a:endParaRPr lang="en-US" sz="1050" dirty="0"/>
          </a:p>
        </p:txBody>
      </p:sp>
      <p:sp>
        <p:nvSpPr>
          <p:cNvPr id="10" name="Text 7"/>
          <p:cNvSpPr txBox="1"/>
          <p:nvPr/>
        </p:nvSpPr>
        <p:spPr>
          <a:xfrm>
            <a:off x="713232" y="4114800"/>
            <a:ext cx="1792224" cy="12801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Intercepted communications &amp; electronic signals</a:t>
            </a:r>
            <a:endParaRPr lang="en-US" sz="1050" dirty="0"/>
          </a:p>
        </p:txBody>
      </p:sp>
      <p:sp>
        <p:nvSpPr>
          <p:cNvPr id="11" name="Shape 8"/>
          <p:cNvSpPr/>
          <p:nvPr/>
        </p:nvSpPr>
        <p:spPr>
          <a:xfrm>
            <a:off x="2834640" y="1965960"/>
            <a:ext cx="2121408" cy="3566160"/>
          </a:xfrm>
          <a:prstGeom prst="roundRect">
            <a:avLst>
              <a:gd name="adj" fmla="val 3448"/>
            </a:avLst>
          </a:prstGeom>
          <a:solidFill>
            <a:srgbClr val="17325C"/>
          </a:solidFill>
          <a:ln/>
          <a:effectLst>
            <a:outerShdw blurRad="101600" dist="38100" dir="5400000" algn="bl" rotWithShape="0">
              <a:srgbClr val="0B1B34">
                <a:alpha val="35000"/>
              </a:srgbClr>
            </a:outerShdw>
          </a:effectLst>
        </p:spPr>
        <p:txBody>
          <a:bodyPr/>
          <a:lstStyle/>
          <a:p>
            <a:endParaRPr/>
          </a:p>
        </p:txBody>
      </p:sp>
      <p:sp>
        <p:nvSpPr>
          <p:cNvPr id="12" name="Shape 9"/>
          <p:cNvSpPr/>
          <p:nvPr/>
        </p:nvSpPr>
        <p:spPr>
          <a:xfrm>
            <a:off x="3611880" y="2258568"/>
            <a:ext cx="566928" cy="566928"/>
          </a:xfrm>
          <a:prstGeom prst="ellipse">
            <a:avLst/>
          </a:prstGeom>
          <a:solidFill>
            <a:srgbClr val="0B1B34"/>
          </a:solidFill>
          <a:ln/>
        </p:spPr>
        <p:txBody>
          <a:bodyPr/>
          <a:lstStyle/>
          <a:p>
            <a:endParaRPr/>
          </a:p>
        </p:txBody>
      </p:sp>
      <p:pic>
        <p:nvPicPr>
          <p:cNvPr id="13" name="Image 1" descr="C:\Users\Trey\AppData\Local\Temp\claude\c--Projects-astral-project-src-pages-eftShopping\d9389cc2-8d3b-4f0d-be7e-28501db0dc02\scratchpad\afintel\icons\satellite_gold.png"/>
          <p:cNvPicPr>
            <a:picLocks noChangeAspect="1"/>
          </p:cNvPicPr>
          <p:nvPr/>
        </p:nvPicPr>
        <p:blipFill>
          <a:blip r:embed="rId4"/>
          <a:stretch>
            <a:fillRect/>
          </a:stretch>
        </p:blipFill>
        <p:spPr>
          <a:xfrm>
            <a:off x="3749040" y="2395728"/>
            <a:ext cx="292608" cy="292608"/>
          </a:xfrm>
          <a:prstGeom prst="rect">
            <a:avLst/>
          </a:prstGeom>
        </p:spPr>
      </p:pic>
      <p:sp>
        <p:nvSpPr>
          <p:cNvPr id="14" name="Text 10"/>
          <p:cNvSpPr txBox="1"/>
          <p:nvPr/>
        </p:nvSpPr>
        <p:spPr>
          <a:xfrm>
            <a:off x="2926080" y="3017520"/>
            <a:ext cx="1938528" cy="365760"/>
          </a:xfrm>
          <a:prstGeom prst="rect">
            <a:avLst/>
          </a:prstGeom>
          <a:noFill/>
          <a:ln/>
        </p:spPr>
        <p:txBody>
          <a:bodyPr wrap="square" rtlCol="0" anchor="ctr"/>
          <a:lstStyle/>
          <a:p>
            <a:pPr marL="0" indent="0" algn="ctr">
              <a:buNone/>
            </a:pPr>
            <a:r>
              <a:rPr lang="en-US" sz="1900" b="1" dirty="0">
                <a:solidFill>
                  <a:srgbClr val="FFC72C"/>
                </a:solidFill>
                <a:latin typeface="Cambria" pitchFamily="34" charset="0"/>
                <a:ea typeface="Cambria" pitchFamily="34" charset="-122"/>
                <a:cs typeface="Cambria" pitchFamily="34" charset="-120"/>
              </a:rPr>
              <a:t>GEOINT</a:t>
            </a:r>
            <a:endParaRPr lang="en-US" sz="1900" dirty="0"/>
          </a:p>
        </p:txBody>
      </p:sp>
      <p:sp>
        <p:nvSpPr>
          <p:cNvPr id="15" name="Text 11"/>
          <p:cNvSpPr txBox="1"/>
          <p:nvPr/>
        </p:nvSpPr>
        <p:spPr>
          <a:xfrm>
            <a:off x="2944368" y="3429000"/>
            <a:ext cx="1901952" cy="502920"/>
          </a:xfrm>
          <a:prstGeom prst="rect">
            <a:avLst/>
          </a:prstGeom>
          <a:noFill/>
          <a:ln/>
        </p:spPr>
        <p:txBody>
          <a:bodyPr wrap="square" rtlCol="0" anchor="ctr"/>
          <a:lstStyle/>
          <a:p>
            <a:pPr marL="0" indent="0" algn="ctr">
              <a:lnSpc>
                <a:spcPct val="110000"/>
              </a:lnSpc>
              <a:buNone/>
            </a:pPr>
            <a:r>
              <a:rPr lang="en-US" sz="1050" b="1" dirty="0">
                <a:solidFill>
                  <a:srgbClr val="FFFFFF"/>
                </a:solidFill>
                <a:latin typeface="Calibri" pitchFamily="34" charset="0"/>
                <a:ea typeface="Calibri" pitchFamily="34" charset="-122"/>
                <a:cs typeface="Calibri" pitchFamily="34" charset="-120"/>
              </a:rPr>
              <a:t>Geospatial Intelligence</a:t>
            </a:r>
            <a:endParaRPr lang="en-US" sz="1050" dirty="0"/>
          </a:p>
        </p:txBody>
      </p:sp>
      <p:sp>
        <p:nvSpPr>
          <p:cNvPr id="16" name="Text 12"/>
          <p:cNvSpPr txBox="1"/>
          <p:nvPr/>
        </p:nvSpPr>
        <p:spPr>
          <a:xfrm>
            <a:off x="2999232" y="4114800"/>
            <a:ext cx="1792224" cy="12801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Imagery &amp; mapping — satellites, drones, sensors</a:t>
            </a:r>
            <a:endParaRPr lang="en-US" sz="1050" dirty="0"/>
          </a:p>
        </p:txBody>
      </p:sp>
      <p:sp>
        <p:nvSpPr>
          <p:cNvPr id="17" name="Shape 13"/>
          <p:cNvSpPr/>
          <p:nvPr/>
        </p:nvSpPr>
        <p:spPr>
          <a:xfrm>
            <a:off x="5120640" y="1965960"/>
            <a:ext cx="2121408" cy="3566160"/>
          </a:xfrm>
          <a:prstGeom prst="roundRect">
            <a:avLst>
              <a:gd name="adj" fmla="val 3448"/>
            </a:avLst>
          </a:prstGeom>
          <a:solidFill>
            <a:srgbClr val="12284B"/>
          </a:solidFill>
          <a:ln/>
          <a:effectLst>
            <a:outerShdw blurRad="101600" dist="38100" dir="5400000" algn="bl" rotWithShape="0">
              <a:srgbClr val="0B1B34">
                <a:alpha val="35000"/>
              </a:srgbClr>
            </a:outerShdw>
          </a:effectLst>
        </p:spPr>
        <p:txBody>
          <a:bodyPr/>
          <a:lstStyle/>
          <a:p>
            <a:endParaRPr/>
          </a:p>
        </p:txBody>
      </p:sp>
      <p:sp>
        <p:nvSpPr>
          <p:cNvPr id="18" name="Shape 14"/>
          <p:cNvSpPr/>
          <p:nvPr/>
        </p:nvSpPr>
        <p:spPr>
          <a:xfrm>
            <a:off x="5897880" y="2258568"/>
            <a:ext cx="566928" cy="566928"/>
          </a:xfrm>
          <a:prstGeom prst="ellipse">
            <a:avLst/>
          </a:prstGeom>
          <a:solidFill>
            <a:srgbClr val="0B1B34"/>
          </a:solidFill>
          <a:ln/>
        </p:spPr>
        <p:txBody>
          <a:bodyPr/>
          <a:lstStyle/>
          <a:p>
            <a:endParaRPr/>
          </a:p>
        </p:txBody>
      </p:sp>
      <p:pic>
        <p:nvPicPr>
          <p:cNvPr id="19" name="Image 2" descr="C:\Users\Trey\AppData\Local\Temp\claude\c--Projects-astral-project-src-pages-eftShopping\d9389cc2-8d3b-4f0d-be7e-28501db0dc02\scratchpad\afintel\icons\usersecret_gold.png"/>
          <p:cNvPicPr>
            <a:picLocks noChangeAspect="1"/>
          </p:cNvPicPr>
          <p:nvPr/>
        </p:nvPicPr>
        <p:blipFill>
          <a:blip r:embed="rId5"/>
          <a:stretch>
            <a:fillRect/>
          </a:stretch>
        </p:blipFill>
        <p:spPr>
          <a:xfrm>
            <a:off x="6035040" y="2395728"/>
            <a:ext cx="292608" cy="292608"/>
          </a:xfrm>
          <a:prstGeom prst="rect">
            <a:avLst/>
          </a:prstGeom>
        </p:spPr>
      </p:pic>
      <p:sp>
        <p:nvSpPr>
          <p:cNvPr id="20" name="Text 15"/>
          <p:cNvSpPr txBox="1"/>
          <p:nvPr/>
        </p:nvSpPr>
        <p:spPr>
          <a:xfrm>
            <a:off x="5212080" y="3017520"/>
            <a:ext cx="1938528" cy="365760"/>
          </a:xfrm>
          <a:prstGeom prst="rect">
            <a:avLst/>
          </a:prstGeom>
          <a:noFill/>
          <a:ln/>
        </p:spPr>
        <p:txBody>
          <a:bodyPr wrap="square" rtlCol="0" anchor="ctr"/>
          <a:lstStyle/>
          <a:p>
            <a:pPr marL="0" indent="0" algn="ctr">
              <a:buNone/>
            </a:pPr>
            <a:r>
              <a:rPr lang="en-US" sz="1900" b="1" dirty="0">
                <a:solidFill>
                  <a:srgbClr val="FFC72C"/>
                </a:solidFill>
                <a:latin typeface="Cambria" pitchFamily="34" charset="0"/>
                <a:ea typeface="Cambria" pitchFamily="34" charset="-122"/>
                <a:cs typeface="Cambria" pitchFamily="34" charset="-120"/>
              </a:rPr>
              <a:t>HUMINT</a:t>
            </a:r>
            <a:endParaRPr lang="en-US" sz="1900" dirty="0"/>
          </a:p>
        </p:txBody>
      </p:sp>
      <p:sp>
        <p:nvSpPr>
          <p:cNvPr id="21" name="Text 16"/>
          <p:cNvSpPr txBox="1"/>
          <p:nvPr/>
        </p:nvSpPr>
        <p:spPr>
          <a:xfrm>
            <a:off x="5230368" y="3429000"/>
            <a:ext cx="1901952" cy="502920"/>
          </a:xfrm>
          <a:prstGeom prst="rect">
            <a:avLst/>
          </a:prstGeom>
          <a:noFill/>
          <a:ln/>
        </p:spPr>
        <p:txBody>
          <a:bodyPr wrap="square" rtlCol="0" anchor="ctr"/>
          <a:lstStyle/>
          <a:p>
            <a:pPr marL="0" indent="0" algn="ctr">
              <a:lnSpc>
                <a:spcPct val="110000"/>
              </a:lnSpc>
              <a:buNone/>
            </a:pPr>
            <a:r>
              <a:rPr lang="en-US" sz="1050" b="1" dirty="0">
                <a:solidFill>
                  <a:srgbClr val="FFFFFF"/>
                </a:solidFill>
                <a:latin typeface="Calibri" pitchFamily="34" charset="0"/>
                <a:ea typeface="Calibri" pitchFamily="34" charset="-122"/>
                <a:cs typeface="Calibri" pitchFamily="34" charset="-120"/>
              </a:rPr>
              <a:t>Human Intelligence</a:t>
            </a:r>
            <a:endParaRPr lang="en-US" sz="1050" dirty="0"/>
          </a:p>
        </p:txBody>
      </p:sp>
      <p:sp>
        <p:nvSpPr>
          <p:cNvPr id="22" name="Text 17"/>
          <p:cNvSpPr txBox="1"/>
          <p:nvPr/>
        </p:nvSpPr>
        <p:spPr>
          <a:xfrm>
            <a:off x="5285232" y="4114800"/>
            <a:ext cx="1792224" cy="12801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Information from human sources</a:t>
            </a:r>
            <a:endParaRPr lang="en-US" sz="1050" dirty="0"/>
          </a:p>
        </p:txBody>
      </p:sp>
      <p:sp>
        <p:nvSpPr>
          <p:cNvPr id="23" name="Shape 18"/>
          <p:cNvSpPr/>
          <p:nvPr/>
        </p:nvSpPr>
        <p:spPr>
          <a:xfrm>
            <a:off x="7406640" y="1965960"/>
            <a:ext cx="2121408" cy="3566160"/>
          </a:xfrm>
          <a:prstGeom prst="roundRect">
            <a:avLst>
              <a:gd name="adj" fmla="val 3448"/>
            </a:avLst>
          </a:prstGeom>
          <a:solidFill>
            <a:srgbClr val="17325C"/>
          </a:solidFill>
          <a:ln/>
          <a:effectLst>
            <a:outerShdw blurRad="101600" dist="38100" dir="5400000" algn="bl" rotWithShape="0">
              <a:srgbClr val="0B1B34">
                <a:alpha val="35000"/>
              </a:srgbClr>
            </a:outerShdw>
          </a:effectLst>
        </p:spPr>
        <p:txBody>
          <a:bodyPr/>
          <a:lstStyle/>
          <a:p>
            <a:endParaRPr/>
          </a:p>
        </p:txBody>
      </p:sp>
      <p:sp>
        <p:nvSpPr>
          <p:cNvPr id="24" name="Shape 19"/>
          <p:cNvSpPr/>
          <p:nvPr/>
        </p:nvSpPr>
        <p:spPr>
          <a:xfrm>
            <a:off x="8183880" y="2258568"/>
            <a:ext cx="566928" cy="566928"/>
          </a:xfrm>
          <a:prstGeom prst="ellipse">
            <a:avLst/>
          </a:prstGeom>
          <a:solidFill>
            <a:srgbClr val="0B1B34"/>
          </a:solidFill>
          <a:ln/>
        </p:spPr>
        <p:txBody>
          <a:bodyPr/>
          <a:lstStyle/>
          <a:p>
            <a:endParaRPr/>
          </a:p>
        </p:txBody>
      </p:sp>
      <p:pic>
        <p:nvPicPr>
          <p:cNvPr id="25" name="Image 3" descr="C:\Users\Trey\AppData\Local\Temp\claude\c--Projects-astral-project-src-pages-eftShopping\d9389cc2-8d3b-4f0d-be7e-28501db0dc02\scratchpad\afintel\icons\wave_gold.png"/>
          <p:cNvPicPr>
            <a:picLocks noChangeAspect="1"/>
          </p:cNvPicPr>
          <p:nvPr/>
        </p:nvPicPr>
        <p:blipFill>
          <a:blip r:embed="rId6"/>
          <a:stretch>
            <a:fillRect/>
          </a:stretch>
        </p:blipFill>
        <p:spPr>
          <a:xfrm>
            <a:off x="8321040" y="2395728"/>
            <a:ext cx="292608" cy="292608"/>
          </a:xfrm>
          <a:prstGeom prst="rect">
            <a:avLst/>
          </a:prstGeom>
        </p:spPr>
      </p:pic>
      <p:sp>
        <p:nvSpPr>
          <p:cNvPr id="26" name="Text 20"/>
          <p:cNvSpPr txBox="1"/>
          <p:nvPr/>
        </p:nvSpPr>
        <p:spPr>
          <a:xfrm>
            <a:off x="7498080" y="3017520"/>
            <a:ext cx="1938528" cy="365760"/>
          </a:xfrm>
          <a:prstGeom prst="rect">
            <a:avLst/>
          </a:prstGeom>
          <a:noFill/>
          <a:ln/>
        </p:spPr>
        <p:txBody>
          <a:bodyPr wrap="square" rtlCol="0" anchor="ctr"/>
          <a:lstStyle/>
          <a:p>
            <a:pPr marL="0" indent="0" algn="ctr">
              <a:buNone/>
            </a:pPr>
            <a:r>
              <a:rPr lang="en-US" sz="1900" b="1" dirty="0">
                <a:solidFill>
                  <a:srgbClr val="FFC72C"/>
                </a:solidFill>
                <a:latin typeface="Cambria" pitchFamily="34" charset="0"/>
                <a:ea typeface="Cambria" pitchFamily="34" charset="-122"/>
                <a:cs typeface="Cambria" pitchFamily="34" charset="-120"/>
              </a:rPr>
              <a:t>MASINT</a:t>
            </a:r>
            <a:endParaRPr lang="en-US" sz="1900" dirty="0"/>
          </a:p>
        </p:txBody>
      </p:sp>
      <p:sp>
        <p:nvSpPr>
          <p:cNvPr id="27" name="Text 21"/>
          <p:cNvSpPr txBox="1"/>
          <p:nvPr/>
        </p:nvSpPr>
        <p:spPr>
          <a:xfrm>
            <a:off x="7516368" y="3429000"/>
            <a:ext cx="1901952" cy="502920"/>
          </a:xfrm>
          <a:prstGeom prst="rect">
            <a:avLst/>
          </a:prstGeom>
          <a:noFill/>
          <a:ln/>
        </p:spPr>
        <p:txBody>
          <a:bodyPr wrap="square" rtlCol="0" anchor="ctr"/>
          <a:lstStyle/>
          <a:p>
            <a:pPr marL="0" indent="0" algn="ctr">
              <a:lnSpc>
                <a:spcPct val="110000"/>
              </a:lnSpc>
              <a:buNone/>
            </a:pPr>
            <a:r>
              <a:rPr lang="en-US" sz="1050" b="1" dirty="0">
                <a:solidFill>
                  <a:srgbClr val="FFFFFF"/>
                </a:solidFill>
                <a:latin typeface="Calibri" pitchFamily="34" charset="0"/>
                <a:ea typeface="Calibri" pitchFamily="34" charset="-122"/>
                <a:cs typeface="Calibri" pitchFamily="34" charset="-120"/>
              </a:rPr>
              <a:t>Measurement &amp; Signature Intel</a:t>
            </a:r>
            <a:endParaRPr lang="en-US" sz="1050" dirty="0"/>
          </a:p>
        </p:txBody>
      </p:sp>
      <p:sp>
        <p:nvSpPr>
          <p:cNvPr id="28" name="Text 22"/>
          <p:cNvSpPr txBox="1"/>
          <p:nvPr/>
        </p:nvSpPr>
        <p:spPr>
          <a:xfrm>
            <a:off x="7571232" y="4114800"/>
            <a:ext cx="1792224" cy="12801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Technical signatures — radar, acoustic, nuclear</a:t>
            </a:r>
            <a:endParaRPr lang="en-US" sz="1050" dirty="0"/>
          </a:p>
        </p:txBody>
      </p:sp>
      <p:sp>
        <p:nvSpPr>
          <p:cNvPr id="29" name="Shape 23"/>
          <p:cNvSpPr/>
          <p:nvPr/>
        </p:nvSpPr>
        <p:spPr>
          <a:xfrm>
            <a:off x="9692640" y="1965960"/>
            <a:ext cx="2121408" cy="3566160"/>
          </a:xfrm>
          <a:prstGeom prst="roundRect">
            <a:avLst>
              <a:gd name="adj" fmla="val 3448"/>
            </a:avLst>
          </a:prstGeom>
          <a:solidFill>
            <a:srgbClr val="12284B"/>
          </a:solidFill>
          <a:ln/>
          <a:effectLst>
            <a:outerShdw blurRad="101600" dist="38100" dir="5400000" algn="bl" rotWithShape="0">
              <a:srgbClr val="0B1B34">
                <a:alpha val="35000"/>
              </a:srgbClr>
            </a:outerShdw>
          </a:effectLst>
        </p:spPr>
        <p:txBody>
          <a:bodyPr/>
          <a:lstStyle/>
          <a:p>
            <a:endParaRPr/>
          </a:p>
        </p:txBody>
      </p:sp>
      <p:sp>
        <p:nvSpPr>
          <p:cNvPr id="30" name="Shape 24"/>
          <p:cNvSpPr/>
          <p:nvPr/>
        </p:nvSpPr>
        <p:spPr>
          <a:xfrm>
            <a:off x="10469880" y="2258568"/>
            <a:ext cx="566928" cy="566928"/>
          </a:xfrm>
          <a:prstGeom prst="ellipse">
            <a:avLst/>
          </a:prstGeom>
          <a:solidFill>
            <a:srgbClr val="0B1B34"/>
          </a:solidFill>
          <a:ln/>
        </p:spPr>
        <p:txBody>
          <a:bodyPr/>
          <a:lstStyle/>
          <a:p>
            <a:endParaRPr/>
          </a:p>
        </p:txBody>
      </p:sp>
      <p:pic>
        <p:nvPicPr>
          <p:cNvPr id="31" name="Image 4" descr="C:\Users\Trey\AppData\Local\Temp\claude\c--Projects-astral-project-src-pages-eftShopping\d9389cc2-8d3b-4f0d-be7e-28501db0dc02\scratchpad\afintel\icons\globe_gold.png"/>
          <p:cNvPicPr>
            <a:picLocks noChangeAspect="1"/>
          </p:cNvPicPr>
          <p:nvPr/>
        </p:nvPicPr>
        <p:blipFill>
          <a:blip r:embed="rId7"/>
          <a:stretch>
            <a:fillRect/>
          </a:stretch>
        </p:blipFill>
        <p:spPr>
          <a:xfrm>
            <a:off x="10607040" y="2395728"/>
            <a:ext cx="292608" cy="292608"/>
          </a:xfrm>
          <a:prstGeom prst="rect">
            <a:avLst/>
          </a:prstGeom>
        </p:spPr>
      </p:pic>
      <p:sp>
        <p:nvSpPr>
          <p:cNvPr id="32" name="Text 25"/>
          <p:cNvSpPr txBox="1"/>
          <p:nvPr/>
        </p:nvSpPr>
        <p:spPr>
          <a:xfrm>
            <a:off x="9784080" y="3017520"/>
            <a:ext cx="1938528" cy="365760"/>
          </a:xfrm>
          <a:prstGeom prst="rect">
            <a:avLst/>
          </a:prstGeom>
          <a:noFill/>
          <a:ln/>
        </p:spPr>
        <p:txBody>
          <a:bodyPr wrap="square" rtlCol="0" anchor="ctr"/>
          <a:lstStyle/>
          <a:p>
            <a:pPr marL="0" indent="0" algn="ctr">
              <a:buNone/>
            </a:pPr>
            <a:r>
              <a:rPr lang="en-US" sz="1900" b="1" dirty="0">
                <a:solidFill>
                  <a:srgbClr val="FFC72C"/>
                </a:solidFill>
                <a:latin typeface="Cambria" pitchFamily="34" charset="0"/>
                <a:ea typeface="Cambria" pitchFamily="34" charset="-122"/>
                <a:cs typeface="Cambria" pitchFamily="34" charset="-120"/>
              </a:rPr>
              <a:t>OSINT</a:t>
            </a:r>
            <a:endParaRPr lang="en-US" sz="1900" dirty="0"/>
          </a:p>
        </p:txBody>
      </p:sp>
      <p:sp>
        <p:nvSpPr>
          <p:cNvPr id="33" name="Text 26"/>
          <p:cNvSpPr txBox="1"/>
          <p:nvPr/>
        </p:nvSpPr>
        <p:spPr>
          <a:xfrm>
            <a:off x="9802368" y="3429000"/>
            <a:ext cx="1901952" cy="502920"/>
          </a:xfrm>
          <a:prstGeom prst="rect">
            <a:avLst/>
          </a:prstGeom>
          <a:noFill/>
          <a:ln/>
        </p:spPr>
        <p:txBody>
          <a:bodyPr wrap="square" rtlCol="0" anchor="ctr"/>
          <a:lstStyle/>
          <a:p>
            <a:pPr marL="0" indent="0" algn="ctr">
              <a:lnSpc>
                <a:spcPct val="110000"/>
              </a:lnSpc>
              <a:buNone/>
            </a:pPr>
            <a:r>
              <a:rPr lang="en-US" sz="1050" b="1" dirty="0">
                <a:solidFill>
                  <a:srgbClr val="FFFFFF"/>
                </a:solidFill>
                <a:latin typeface="Calibri" pitchFamily="34" charset="0"/>
                <a:ea typeface="Calibri" pitchFamily="34" charset="-122"/>
                <a:cs typeface="Calibri" pitchFamily="34" charset="-120"/>
              </a:rPr>
              <a:t>Open-Source Intelligence</a:t>
            </a:r>
            <a:endParaRPr lang="en-US" sz="1050" dirty="0"/>
          </a:p>
        </p:txBody>
      </p:sp>
      <p:sp>
        <p:nvSpPr>
          <p:cNvPr id="34" name="Text 27"/>
          <p:cNvSpPr txBox="1"/>
          <p:nvPr/>
        </p:nvSpPr>
        <p:spPr>
          <a:xfrm>
            <a:off x="9857232" y="4114800"/>
            <a:ext cx="1792224" cy="12801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Publicly available media, data &amp; reporting</a:t>
            </a:r>
            <a:endParaRPr lang="en-US" sz="1050" dirty="0"/>
          </a:p>
        </p:txBody>
      </p:sp>
      <p:sp>
        <p:nvSpPr>
          <p:cNvPr id="35" name="Text 28"/>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5C6B8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4F6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PUTTING IT TOGETHER</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12284B"/>
                </a:solidFill>
                <a:latin typeface="Cambria" pitchFamily="34" charset="0"/>
                <a:ea typeface="Cambria" pitchFamily="34" charset="-122"/>
                <a:cs typeface="Cambria" pitchFamily="34" charset="-120"/>
              </a:rPr>
              <a:t>All-source analysis: the real job</a:t>
            </a:r>
            <a:endParaRPr lang="en-US" sz="3200" dirty="0"/>
          </a:p>
        </p:txBody>
      </p:sp>
      <p:sp>
        <p:nvSpPr>
          <p:cNvPr id="4" name="Text 2"/>
          <p:cNvSpPr txBox="1"/>
          <p:nvPr/>
        </p:nvSpPr>
        <p:spPr>
          <a:xfrm>
            <a:off x="548640" y="1417320"/>
            <a:ext cx="5120640" cy="1554480"/>
          </a:xfrm>
          <a:prstGeom prst="rect">
            <a:avLst/>
          </a:prstGeom>
          <a:noFill/>
          <a:ln/>
        </p:spPr>
        <p:txBody>
          <a:bodyPr wrap="square" rtlCol="0" anchor="ctr"/>
          <a:lstStyle/>
          <a:p>
            <a:pPr marL="0" indent="0">
              <a:lnSpc>
                <a:spcPct val="135000"/>
              </a:lnSpc>
              <a:buNone/>
            </a:pPr>
            <a:r>
              <a:rPr lang="en-US" sz="1400" dirty="0">
                <a:solidFill>
                  <a:srgbClr val="1B2430"/>
                </a:solidFill>
                <a:latin typeface="Calibri" pitchFamily="34" charset="0"/>
                <a:ea typeface="Calibri" pitchFamily="34" charset="-122"/>
                <a:cs typeface="Calibri" pitchFamily="34" charset="-120"/>
              </a:rPr>
              <a:t>No single INT tells the whole story. The core skill in this career field is fusion — weighing partial, sometimes contradictory reports from every discipline into one assessment a commander can trust.</a:t>
            </a:r>
            <a:endParaRPr lang="en-US" sz="1400" dirty="0"/>
          </a:p>
        </p:txBody>
      </p:sp>
      <p:sp>
        <p:nvSpPr>
          <p:cNvPr id="5" name="Shape 3"/>
          <p:cNvSpPr/>
          <p:nvPr/>
        </p:nvSpPr>
        <p:spPr>
          <a:xfrm>
            <a:off x="548640" y="3108960"/>
            <a:ext cx="292608" cy="292608"/>
          </a:xfrm>
          <a:prstGeom prst="roundRect">
            <a:avLst>
              <a:gd name="adj" fmla="val 18750"/>
            </a:avLst>
          </a:prstGeom>
          <a:solidFill>
            <a:srgbClr val="12284B"/>
          </a:solidFill>
          <a:ln/>
        </p:spPr>
        <p:txBody>
          <a:bodyPr/>
          <a:lstStyle/>
          <a:p>
            <a:endParaRPr/>
          </a:p>
        </p:txBody>
      </p:sp>
      <p:sp>
        <p:nvSpPr>
          <p:cNvPr id="6" name="Text 4"/>
          <p:cNvSpPr txBox="1"/>
          <p:nvPr/>
        </p:nvSpPr>
        <p:spPr>
          <a:xfrm>
            <a:off x="548640" y="3108960"/>
            <a:ext cx="292608" cy="292608"/>
          </a:xfrm>
          <a:prstGeom prst="rect">
            <a:avLst/>
          </a:prstGeom>
          <a:noFill/>
          <a:ln/>
        </p:spPr>
        <p:txBody>
          <a:bodyPr wrap="square" rtlCol="0" anchor="ctr"/>
          <a:lstStyle/>
          <a:p>
            <a:pPr marL="0" indent="0" algn="ctr">
              <a:buNone/>
            </a:pPr>
            <a:r>
              <a:rPr lang="en-US" sz="1300" b="1" dirty="0">
                <a:solidFill>
                  <a:srgbClr val="FFC72C"/>
                </a:solidFill>
                <a:latin typeface="Calibri" pitchFamily="34" charset="0"/>
                <a:ea typeface="Calibri" pitchFamily="34" charset="-122"/>
                <a:cs typeface="Calibri" pitchFamily="34" charset="-120"/>
              </a:rPr>
              <a:t>✓</a:t>
            </a:r>
            <a:endParaRPr lang="en-US" sz="1300" dirty="0"/>
          </a:p>
        </p:txBody>
      </p:sp>
      <p:sp>
        <p:nvSpPr>
          <p:cNvPr id="7" name="Text 5"/>
          <p:cNvSpPr txBox="1"/>
          <p:nvPr/>
        </p:nvSpPr>
        <p:spPr>
          <a:xfrm>
            <a:off x="987552" y="3035808"/>
            <a:ext cx="4709160" cy="594360"/>
          </a:xfrm>
          <a:prstGeom prst="rect">
            <a:avLst/>
          </a:prstGeom>
          <a:noFill/>
          <a:ln/>
        </p:spPr>
        <p:txBody>
          <a:bodyPr wrap="square" rtlCol="0" anchor="ctr"/>
          <a:lstStyle/>
          <a:p>
            <a:pPr marL="0" indent="0">
              <a:lnSpc>
                <a:spcPct val="120000"/>
              </a:lnSpc>
              <a:buNone/>
            </a:pPr>
            <a:r>
              <a:rPr lang="en-US" sz="1250" dirty="0">
                <a:solidFill>
                  <a:srgbClr val="1B2430"/>
                </a:solidFill>
                <a:latin typeface="Calibri" pitchFamily="34" charset="0"/>
                <a:ea typeface="Calibri" pitchFamily="34" charset="-122"/>
                <a:cs typeface="Calibri" pitchFamily="34" charset="-120"/>
              </a:rPr>
              <a:t>Cross-check sources against each other for confidence, not just volume</a:t>
            </a:r>
            <a:endParaRPr lang="en-US" sz="1250" dirty="0"/>
          </a:p>
        </p:txBody>
      </p:sp>
      <p:sp>
        <p:nvSpPr>
          <p:cNvPr id="8" name="Shape 6"/>
          <p:cNvSpPr/>
          <p:nvPr/>
        </p:nvSpPr>
        <p:spPr>
          <a:xfrm>
            <a:off x="548640" y="3886200"/>
            <a:ext cx="292608" cy="292608"/>
          </a:xfrm>
          <a:prstGeom prst="roundRect">
            <a:avLst>
              <a:gd name="adj" fmla="val 18750"/>
            </a:avLst>
          </a:prstGeom>
          <a:solidFill>
            <a:srgbClr val="12284B"/>
          </a:solidFill>
          <a:ln/>
        </p:spPr>
        <p:txBody>
          <a:bodyPr/>
          <a:lstStyle/>
          <a:p>
            <a:endParaRPr/>
          </a:p>
        </p:txBody>
      </p:sp>
      <p:sp>
        <p:nvSpPr>
          <p:cNvPr id="9" name="Text 7"/>
          <p:cNvSpPr txBox="1"/>
          <p:nvPr/>
        </p:nvSpPr>
        <p:spPr>
          <a:xfrm>
            <a:off x="548640" y="3886200"/>
            <a:ext cx="292608" cy="292608"/>
          </a:xfrm>
          <a:prstGeom prst="rect">
            <a:avLst/>
          </a:prstGeom>
          <a:noFill/>
          <a:ln/>
        </p:spPr>
        <p:txBody>
          <a:bodyPr wrap="square" rtlCol="0" anchor="ctr"/>
          <a:lstStyle/>
          <a:p>
            <a:pPr marL="0" indent="0" algn="ctr">
              <a:buNone/>
            </a:pPr>
            <a:r>
              <a:rPr lang="en-US" sz="1300" b="1" dirty="0">
                <a:solidFill>
                  <a:srgbClr val="FFC72C"/>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987552" y="3813048"/>
            <a:ext cx="4709160" cy="594360"/>
          </a:xfrm>
          <a:prstGeom prst="rect">
            <a:avLst/>
          </a:prstGeom>
          <a:noFill/>
          <a:ln/>
        </p:spPr>
        <p:txBody>
          <a:bodyPr wrap="square" rtlCol="0" anchor="ctr"/>
          <a:lstStyle/>
          <a:p>
            <a:pPr marL="0" indent="0">
              <a:lnSpc>
                <a:spcPct val="120000"/>
              </a:lnSpc>
              <a:buNone/>
            </a:pPr>
            <a:r>
              <a:rPr lang="en-US" sz="1250" dirty="0">
                <a:solidFill>
                  <a:srgbClr val="1B2430"/>
                </a:solidFill>
                <a:latin typeface="Calibri" pitchFamily="34" charset="0"/>
                <a:ea typeface="Calibri" pitchFamily="34" charset="-122"/>
                <a:cs typeface="Calibri" pitchFamily="34" charset="-120"/>
              </a:rPr>
              <a:t>Flag gaps honestly — what we don’t know shapes the next collection tasking</a:t>
            </a:r>
            <a:endParaRPr lang="en-US" sz="1250" dirty="0"/>
          </a:p>
        </p:txBody>
      </p:sp>
      <p:sp>
        <p:nvSpPr>
          <p:cNvPr id="11" name="Shape 9"/>
          <p:cNvSpPr/>
          <p:nvPr/>
        </p:nvSpPr>
        <p:spPr>
          <a:xfrm>
            <a:off x="548640" y="4663440"/>
            <a:ext cx="292608" cy="292608"/>
          </a:xfrm>
          <a:prstGeom prst="roundRect">
            <a:avLst>
              <a:gd name="adj" fmla="val 18750"/>
            </a:avLst>
          </a:prstGeom>
          <a:solidFill>
            <a:srgbClr val="12284B"/>
          </a:solidFill>
          <a:ln/>
        </p:spPr>
        <p:txBody>
          <a:bodyPr/>
          <a:lstStyle/>
          <a:p>
            <a:endParaRPr/>
          </a:p>
        </p:txBody>
      </p:sp>
      <p:sp>
        <p:nvSpPr>
          <p:cNvPr id="12" name="Text 10"/>
          <p:cNvSpPr txBox="1"/>
          <p:nvPr/>
        </p:nvSpPr>
        <p:spPr>
          <a:xfrm>
            <a:off x="548640" y="4663440"/>
            <a:ext cx="292608" cy="292608"/>
          </a:xfrm>
          <a:prstGeom prst="rect">
            <a:avLst/>
          </a:prstGeom>
          <a:noFill/>
          <a:ln/>
        </p:spPr>
        <p:txBody>
          <a:bodyPr wrap="square" rtlCol="0" anchor="ctr"/>
          <a:lstStyle/>
          <a:p>
            <a:pPr marL="0" indent="0" algn="ctr">
              <a:buNone/>
            </a:pPr>
            <a:r>
              <a:rPr lang="en-US" sz="1300" b="1" dirty="0">
                <a:solidFill>
                  <a:srgbClr val="FFC72C"/>
                </a:solidFill>
                <a:latin typeface="Calibri" pitchFamily="34" charset="0"/>
                <a:ea typeface="Calibri" pitchFamily="34" charset="-122"/>
                <a:cs typeface="Calibri" pitchFamily="34" charset="-120"/>
              </a:rPr>
              <a:t>✓</a:t>
            </a:r>
            <a:endParaRPr lang="en-US" sz="1300" dirty="0"/>
          </a:p>
        </p:txBody>
      </p:sp>
      <p:sp>
        <p:nvSpPr>
          <p:cNvPr id="13" name="Text 11"/>
          <p:cNvSpPr txBox="1"/>
          <p:nvPr/>
        </p:nvSpPr>
        <p:spPr>
          <a:xfrm>
            <a:off x="987552" y="4590288"/>
            <a:ext cx="4709160" cy="594360"/>
          </a:xfrm>
          <a:prstGeom prst="rect">
            <a:avLst/>
          </a:prstGeom>
          <a:noFill/>
          <a:ln/>
        </p:spPr>
        <p:txBody>
          <a:bodyPr wrap="square" rtlCol="0" anchor="ctr"/>
          <a:lstStyle/>
          <a:p>
            <a:pPr marL="0" indent="0">
              <a:lnSpc>
                <a:spcPct val="120000"/>
              </a:lnSpc>
              <a:buNone/>
            </a:pPr>
            <a:r>
              <a:rPr lang="en-US" sz="1250" dirty="0">
                <a:solidFill>
                  <a:srgbClr val="1B2430"/>
                </a:solidFill>
                <a:latin typeface="Calibri" pitchFamily="34" charset="0"/>
                <a:ea typeface="Calibri" pitchFamily="34" charset="-122"/>
                <a:cs typeface="Calibri" pitchFamily="34" charset="-120"/>
              </a:rPr>
              <a:t>Package findings for the audience: a wing commander needs different detail than a strike planner</a:t>
            </a:r>
            <a:endParaRPr lang="en-US" sz="1250" dirty="0"/>
          </a:p>
        </p:txBody>
      </p:sp>
      <p:sp>
        <p:nvSpPr>
          <p:cNvPr id="14" name="Shape 12"/>
          <p:cNvSpPr/>
          <p:nvPr/>
        </p:nvSpPr>
        <p:spPr>
          <a:xfrm>
            <a:off x="8915400" y="3337560"/>
            <a:ext cx="822960" cy="822960"/>
          </a:xfrm>
          <a:prstGeom prst="ellipse">
            <a:avLst/>
          </a:prstGeom>
          <a:solidFill>
            <a:srgbClr val="12284B"/>
          </a:solidFill>
          <a:ln/>
        </p:spPr>
        <p:txBody>
          <a:bodyPr/>
          <a:lstStyle/>
          <a:p>
            <a:endParaRPr/>
          </a:p>
        </p:txBody>
      </p:sp>
      <p:pic>
        <p:nvPicPr>
          <p:cNvPr id="15" name="Image 0" descr="C:\Users\Trey\AppData\Local\Temp\claude\c--Projects-astral-project-src-pages-eftShopping\d9389cc2-8d3b-4f0d-be7e-28501db0dc02\scratchpad\afintel\icons\shield_gold.png"/>
          <p:cNvPicPr>
            <a:picLocks noChangeAspect="1"/>
          </p:cNvPicPr>
          <p:nvPr/>
        </p:nvPicPr>
        <p:blipFill>
          <a:blip r:embed="rId3"/>
          <a:stretch>
            <a:fillRect/>
          </a:stretch>
        </p:blipFill>
        <p:spPr>
          <a:xfrm>
            <a:off x="9116568" y="3538728"/>
            <a:ext cx="420624" cy="420624"/>
          </a:xfrm>
          <a:prstGeom prst="rect">
            <a:avLst/>
          </a:prstGeom>
        </p:spPr>
      </p:pic>
      <p:sp>
        <p:nvSpPr>
          <p:cNvPr id="16" name="Text 13"/>
          <p:cNvSpPr txBox="1"/>
          <p:nvPr/>
        </p:nvSpPr>
        <p:spPr>
          <a:xfrm>
            <a:off x="8412480" y="4251960"/>
            <a:ext cx="1828800" cy="548640"/>
          </a:xfrm>
          <a:prstGeom prst="rect">
            <a:avLst/>
          </a:prstGeom>
          <a:noFill/>
          <a:ln/>
        </p:spPr>
        <p:txBody>
          <a:bodyPr wrap="square" rtlCol="0" anchor="ctr"/>
          <a:lstStyle/>
          <a:p>
            <a:pPr marL="0" indent="0" algn="ctr">
              <a:lnSpc>
                <a:spcPct val="110000"/>
              </a:lnSpc>
              <a:buNone/>
            </a:pPr>
            <a:r>
              <a:rPr lang="en-US" sz="1100" b="1" dirty="0">
                <a:solidFill>
                  <a:srgbClr val="12284B"/>
                </a:solidFill>
                <a:latin typeface="Calibri" pitchFamily="34" charset="0"/>
                <a:ea typeface="Calibri" pitchFamily="34" charset="-122"/>
                <a:cs typeface="Calibri" pitchFamily="34" charset="-120"/>
              </a:rPr>
              <a:t>FUSED</a:t>
            </a:r>
            <a:endParaRPr lang="en-US" sz="1100" dirty="0"/>
          </a:p>
          <a:p>
            <a:pPr marL="0" indent="0" algn="ctr">
              <a:lnSpc>
                <a:spcPct val="110000"/>
              </a:lnSpc>
              <a:buNone/>
            </a:pPr>
            <a:r>
              <a:rPr lang="en-US" sz="1100" b="1" dirty="0">
                <a:solidFill>
                  <a:srgbClr val="12284B"/>
                </a:solidFill>
                <a:latin typeface="Calibri" pitchFamily="34" charset="0"/>
                <a:ea typeface="Calibri" pitchFamily="34" charset="-122"/>
                <a:cs typeface="Calibri" pitchFamily="34" charset="-120"/>
              </a:rPr>
              <a:t>PICTURE</a:t>
            </a:r>
            <a:endParaRPr lang="en-US" sz="1100" dirty="0"/>
          </a:p>
        </p:txBody>
      </p:sp>
      <p:sp>
        <p:nvSpPr>
          <p:cNvPr id="17" name="Shape 14"/>
          <p:cNvSpPr/>
          <p:nvPr/>
        </p:nvSpPr>
        <p:spPr>
          <a:xfrm>
            <a:off x="6693408" y="2121408"/>
            <a:ext cx="512064" cy="512064"/>
          </a:xfrm>
          <a:prstGeom prst="ellipse">
            <a:avLst/>
          </a:prstGeom>
          <a:solidFill>
            <a:srgbClr val="17325C"/>
          </a:solidFill>
          <a:ln/>
        </p:spPr>
        <p:txBody>
          <a:bodyPr/>
          <a:lstStyle/>
          <a:p>
            <a:endParaRPr/>
          </a:p>
        </p:txBody>
      </p:sp>
      <p:pic>
        <p:nvPicPr>
          <p:cNvPr id="18" name="Image 1" descr="C:\Users\Trey\AppData\Local\Temp\claude\c--Projects-astral-project-src-pages-eftShopping\d9389cc2-8d3b-4f0d-be7e-28501db0dc02\scratchpad\afintel\icons\broadcast_white.png"/>
          <p:cNvPicPr>
            <a:picLocks noChangeAspect="1"/>
          </p:cNvPicPr>
          <p:nvPr/>
        </p:nvPicPr>
        <p:blipFill>
          <a:blip r:embed="rId4"/>
          <a:stretch>
            <a:fillRect/>
          </a:stretch>
        </p:blipFill>
        <p:spPr>
          <a:xfrm>
            <a:off x="6821424" y="2249424"/>
            <a:ext cx="256032" cy="256032"/>
          </a:xfrm>
          <a:prstGeom prst="rect">
            <a:avLst/>
          </a:prstGeom>
        </p:spPr>
      </p:pic>
      <p:sp>
        <p:nvSpPr>
          <p:cNvPr id="19" name="Shape 15"/>
          <p:cNvSpPr/>
          <p:nvPr/>
        </p:nvSpPr>
        <p:spPr>
          <a:xfrm>
            <a:off x="6949440" y="2377440"/>
            <a:ext cx="2377440" cy="1371600"/>
          </a:xfrm>
          <a:prstGeom prst="line">
            <a:avLst/>
          </a:prstGeom>
          <a:noFill/>
          <a:ln w="12700">
            <a:solidFill>
              <a:srgbClr val="8CA3C7"/>
            </a:solidFill>
            <a:prstDash val="dash"/>
          </a:ln>
        </p:spPr>
        <p:txBody>
          <a:bodyPr/>
          <a:lstStyle/>
          <a:p>
            <a:endParaRPr/>
          </a:p>
        </p:txBody>
      </p:sp>
      <p:sp>
        <p:nvSpPr>
          <p:cNvPr id="20" name="Shape 16"/>
          <p:cNvSpPr/>
          <p:nvPr/>
        </p:nvSpPr>
        <p:spPr>
          <a:xfrm>
            <a:off x="9436608" y="1664208"/>
            <a:ext cx="512064" cy="512064"/>
          </a:xfrm>
          <a:prstGeom prst="ellipse">
            <a:avLst/>
          </a:prstGeom>
          <a:solidFill>
            <a:srgbClr val="17325C"/>
          </a:solidFill>
          <a:ln/>
        </p:spPr>
        <p:txBody>
          <a:bodyPr/>
          <a:lstStyle/>
          <a:p>
            <a:endParaRPr/>
          </a:p>
        </p:txBody>
      </p:sp>
      <p:pic>
        <p:nvPicPr>
          <p:cNvPr id="21" name="Image 2" descr="C:\Users\Trey\AppData\Local\Temp\claude\c--Projects-astral-project-src-pages-eftShopping\d9389cc2-8d3b-4f0d-be7e-28501db0dc02\scratchpad\afintel\icons\satellite_white.png"/>
          <p:cNvPicPr>
            <a:picLocks noChangeAspect="1"/>
          </p:cNvPicPr>
          <p:nvPr/>
        </p:nvPicPr>
        <p:blipFill>
          <a:blip r:embed="rId5"/>
          <a:stretch>
            <a:fillRect/>
          </a:stretch>
        </p:blipFill>
        <p:spPr>
          <a:xfrm>
            <a:off x="9564624" y="1792224"/>
            <a:ext cx="256032" cy="256032"/>
          </a:xfrm>
          <a:prstGeom prst="rect">
            <a:avLst/>
          </a:prstGeom>
        </p:spPr>
      </p:pic>
      <p:sp>
        <p:nvSpPr>
          <p:cNvPr id="22" name="Shape 17"/>
          <p:cNvSpPr/>
          <p:nvPr/>
        </p:nvSpPr>
        <p:spPr>
          <a:xfrm flipH="1">
            <a:off x="9326880" y="1920240"/>
            <a:ext cx="365760" cy="1828800"/>
          </a:xfrm>
          <a:prstGeom prst="line">
            <a:avLst/>
          </a:prstGeom>
          <a:noFill/>
          <a:ln w="12700">
            <a:solidFill>
              <a:srgbClr val="8CA3C7"/>
            </a:solidFill>
            <a:prstDash val="dash"/>
          </a:ln>
        </p:spPr>
        <p:txBody>
          <a:bodyPr/>
          <a:lstStyle/>
          <a:p>
            <a:endParaRPr/>
          </a:p>
        </p:txBody>
      </p:sp>
      <p:sp>
        <p:nvSpPr>
          <p:cNvPr id="23" name="Shape 18"/>
          <p:cNvSpPr/>
          <p:nvPr/>
        </p:nvSpPr>
        <p:spPr>
          <a:xfrm>
            <a:off x="11448288" y="2578608"/>
            <a:ext cx="512064" cy="512064"/>
          </a:xfrm>
          <a:prstGeom prst="ellipse">
            <a:avLst/>
          </a:prstGeom>
          <a:solidFill>
            <a:srgbClr val="17325C"/>
          </a:solidFill>
          <a:ln/>
        </p:spPr>
        <p:txBody>
          <a:bodyPr/>
          <a:lstStyle/>
          <a:p>
            <a:endParaRPr/>
          </a:p>
        </p:txBody>
      </p:sp>
      <p:pic>
        <p:nvPicPr>
          <p:cNvPr id="24" name="Image 3" descr="C:\Users\Trey\AppData\Local\Temp\claude\c--Projects-astral-project-src-pages-eftShopping\d9389cc2-8d3b-4f0d-be7e-28501db0dc02\scratchpad\afintel\icons\usersecret_white.png"/>
          <p:cNvPicPr>
            <a:picLocks noChangeAspect="1"/>
          </p:cNvPicPr>
          <p:nvPr/>
        </p:nvPicPr>
        <p:blipFill>
          <a:blip r:embed="rId6"/>
          <a:stretch>
            <a:fillRect/>
          </a:stretch>
        </p:blipFill>
        <p:spPr>
          <a:xfrm>
            <a:off x="11576304" y="2706624"/>
            <a:ext cx="256032" cy="256032"/>
          </a:xfrm>
          <a:prstGeom prst="rect">
            <a:avLst/>
          </a:prstGeom>
        </p:spPr>
      </p:pic>
      <p:sp>
        <p:nvSpPr>
          <p:cNvPr id="25" name="Shape 19"/>
          <p:cNvSpPr/>
          <p:nvPr/>
        </p:nvSpPr>
        <p:spPr>
          <a:xfrm flipH="1">
            <a:off x="9326880" y="2834640"/>
            <a:ext cx="2377440" cy="914400"/>
          </a:xfrm>
          <a:prstGeom prst="line">
            <a:avLst/>
          </a:prstGeom>
          <a:noFill/>
          <a:ln w="12700">
            <a:solidFill>
              <a:srgbClr val="8CA3C7"/>
            </a:solidFill>
            <a:prstDash val="dash"/>
          </a:ln>
        </p:spPr>
        <p:txBody>
          <a:bodyPr/>
          <a:lstStyle/>
          <a:p>
            <a:endParaRPr/>
          </a:p>
        </p:txBody>
      </p:sp>
      <p:sp>
        <p:nvSpPr>
          <p:cNvPr id="26" name="Shape 20"/>
          <p:cNvSpPr/>
          <p:nvPr/>
        </p:nvSpPr>
        <p:spPr>
          <a:xfrm>
            <a:off x="11448288" y="4407408"/>
            <a:ext cx="512064" cy="512064"/>
          </a:xfrm>
          <a:prstGeom prst="ellipse">
            <a:avLst/>
          </a:prstGeom>
          <a:solidFill>
            <a:srgbClr val="17325C"/>
          </a:solidFill>
          <a:ln/>
        </p:spPr>
        <p:txBody>
          <a:bodyPr/>
          <a:lstStyle/>
          <a:p>
            <a:endParaRPr/>
          </a:p>
        </p:txBody>
      </p:sp>
      <p:pic>
        <p:nvPicPr>
          <p:cNvPr id="27" name="Image 4" descr="C:\Users\Trey\AppData\Local\Temp\claude\c--Projects-astral-project-src-pages-eftShopping\d9389cc2-8d3b-4f0d-be7e-28501db0dc02\scratchpad\afintel\icons\wave_white.png"/>
          <p:cNvPicPr>
            <a:picLocks noChangeAspect="1"/>
          </p:cNvPicPr>
          <p:nvPr/>
        </p:nvPicPr>
        <p:blipFill>
          <a:blip r:embed="rId7"/>
          <a:stretch>
            <a:fillRect/>
          </a:stretch>
        </p:blipFill>
        <p:spPr>
          <a:xfrm>
            <a:off x="11576304" y="4535424"/>
            <a:ext cx="256032" cy="256032"/>
          </a:xfrm>
          <a:prstGeom prst="rect">
            <a:avLst/>
          </a:prstGeom>
        </p:spPr>
      </p:pic>
      <p:sp>
        <p:nvSpPr>
          <p:cNvPr id="28" name="Shape 21"/>
          <p:cNvSpPr/>
          <p:nvPr/>
        </p:nvSpPr>
        <p:spPr>
          <a:xfrm>
            <a:off x="9326880" y="3749040"/>
            <a:ext cx="2377440" cy="914400"/>
          </a:xfrm>
          <a:prstGeom prst="line">
            <a:avLst/>
          </a:prstGeom>
          <a:noFill/>
          <a:ln w="12700">
            <a:solidFill>
              <a:srgbClr val="8CA3C7"/>
            </a:solidFill>
            <a:prstDash val="dash"/>
          </a:ln>
        </p:spPr>
        <p:txBody>
          <a:bodyPr/>
          <a:lstStyle/>
          <a:p>
            <a:endParaRPr/>
          </a:p>
        </p:txBody>
      </p:sp>
      <p:sp>
        <p:nvSpPr>
          <p:cNvPr id="29" name="Shape 22"/>
          <p:cNvSpPr/>
          <p:nvPr/>
        </p:nvSpPr>
        <p:spPr>
          <a:xfrm>
            <a:off x="6693408" y="4407408"/>
            <a:ext cx="512064" cy="512064"/>
          </a:xfrm>
          <a:prstGeom prst="ellipse">
            <a:avLst/>
          </a:prstGeom>
          <a:solidFill>
            <a:srgbClr val="17325C"/>
          </a:solidFill>
          <a:ln/>
        </p:spPr>
        <p:txBody>
          <a:bodyPr/>
          <a:lstStyle/>
          <a:p>
            <a:endParaRPr/>
          </a:p>
        </p:txBody>
      </p:sp>
      <p:pic>
        <p:nvPicPr>
          <p:cNvPr id="30" name="Image 5" descr="C:\Users\Trey\AppData\Local\Temp\claude\c--Projects-astral-project-src-pages-eftShopping\d9389cc2-8d3b-4f0d-be7e-28501db0dc02\scratchpad\afintel\icons\globe_white.png"/>
          <p:cNvPicPr>
            <a:picLocks noChangeAspect="1"/>
          </p:cNvPicPr>
          <p:nvPr/>
        </p:nvPicPr>
        <p:blipFill>
          <a:blip r:embed="rId8"/>
          <a:stretch>
            <a:fillRect/>
          </a:stretch>
        </p:blipFill>
        <p:spPr>
          <a:xfrm>
            <a:off x="6821424" y="4535424"/>
            <a:ext cx="256032" cy="256032"/>
          </a:xfrm>
          <a:prstGeom prst="rect">
            <a:avLst/>
          </a:prstGeom>
        </p:spPr>
      </p:pic>
      <p:sp>
        <p:nvSpPr>
          <p:cNvPr id="31" name="Shape 23"/>
          <p:cNvSpPr/>
          <p:nvPr/>
        </p:nvSpPr>
        <p:spPr>
          <a:xfrm flipH="1">
            <a:off x="6949440" y="3749040"/>
            <a:ext cx="2377440" cy="914400"/>
          </a:xfrm>
          <a:prstGeom prst="line">
            <a:avLst/>
          </a:prstGeom>
          <a:noFill/>
          <a:ln w="12700">
            <a:solidFill>
              <a:srgbClr val="8CA3C7"/>
            </a:solidFill>
            <a:prstDash val="dash"/>
          </a:ln>
        </p:spPr>
        <p:txBody>
          <a:bodyPr/>
          <a:lstStyle/>
          <a:p>
            <a:endParaRPr/>
          </a:p>
        </p:txBody>
      </p:sp>
      <p:sp>
        <p:nvSpPr>
          <p:cNvPr id="32" name="Text 24"/>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5C6B8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GETTING THERE</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12284B"/>
                </a:solidFill>
                <a:latin typeface="Cambria" pitchFamily="34" charset="0"/>
                <a:ea typeface="Cambria" pitchFamily="34" charset="-122"/>
                <a:cs typeface="Cambria" pitchFamily="34" charset="-120"/>
              </a:rPr>
              <a:t>Becoming a 14N Intelligence Officer</a:t>
            </a:r>
            <a:endParaRPr lang="en-US" sz="3200" dirty="0"/>
          </a:p>
        </p:txBody>
      </p:sp>
      <p:sp>
        <p:nvSpPr>
          <p:cNvPr id="4" name="Shape 2"/>
          <p:cNvSpPr/>
          <p:nvPr/>
        </p:nvSpPr>
        <p:spPr>
          <a:xfrm>
            <a:off x="548640" y="1874520"/>
            <a:ext cx="2514600" cy="2834640"/>
          </a:xfrm>
          <a:prstGeom prst="roundRect">
            <a:avLst>
              <a:gd name="adj" fmla="val 2909"/>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5" name="Shape 3"/>
          <p:cNvSpPr/>
          <p:nvPr/>
        </p:nvSpPr>
        <p:spPr>
          <a:xfrm>
            <a:off x="1531620" y="2148840"/>
            <a:ext cx="548640" cy="548640"/>
          </a:xfrm>
          <a:prstGeom prst="ellipse">
            <a:avLst/>
          </a:prstGeom>
          <a:solidFill>
            <a:srgbClr val="12284B"/>
          </a:solidFill>
          <a:ln/>
        </p:spPr>
        <p:txBody>
          <a:bodyPr/>
          <a:lstStyle/>
          <a:p>
            <a:endParaRPr/>
          </a:p>
        </p:txBody>
      </p:sp>
      <p:pic>
        <p:nvPicPr>
          <p:cNvPr id="6" name="Image 0" descr="C:\Users\Trey\AppData\Local\Temp\claude\c--Projects-astral-project-src-pages-eftShopping\d9389cc2-8d3b-4f0d-be7e-28501db0dc02\scratchpad\afintel\icons\gradcap_gold.png"/>
          <p:cNvPicPr>
            <a:picLocks noChangeAspect="1"/>
          </p:cNvPicPr>
          <p:nvPr/>
        </p:nvPicPr>
        <p:blipFill>
          <a:blip r:embed="rId3"/>
          <a:stretch>
            <a:fillRect/>
          </a:stretch>
        </p:blipFill>
        <p:spPr>
          <a:xfrm>
            <a:off x="1668780" y="2286000"/>
            <a:ext cx="274320" cy="274320"/>
          </a:xfrm>
          <a:prstGeom prst="rect">
            <a:avLst/>
          </a:prstGeom>
        </p:spPr>
      </p:pic>
      <p:sp>
        <p:nvSpPr>
          <p:cNvPr id="7" name="Text 4"/>
          <p:cNvSpPr txBox="1"/>
          <p:nvPr/>
        </p:nvSpPr>
        <p:spPr>
          <a:xfrm>
            <a:off x="685800" y="2880360"/>
            <a:ext cx="2240280" cy="457200"/>
          </a:xfrm>
          <a:prstGeom prst="rect">
            <a:avLst/>
          </a:prstGeom>
          <a:noFill/>
          <a:ln/>
        </p:spPr>
        <p:txBody>
          <a:bodyPr wrap="square" rtlCol="0" anchor="ctr"/>
          <a:lstStyle/>
          <a:p>
            <a:pPr marL="0" indent="0" algn="ctr">
              <a:lnSpc>
                <a:spcPct val="110000"/>
              </a:lnSpc>
              <a:buNone/>
            </a:pPr>
            <a:r>
              <a:rPr lang="en-US" sz="1350" b="1" dirty="0">
                <a:solidFill>
                  <a:srgbClr val="12284B"/>
                </a:solidFill>
                <a:latin typeface="Calibri" pitchFamily="34" charset="0"/>
                <a:ea typeface="Calibri" pitchFamily="34" charset="-122"/>
                <a:cs typeface="Calibri" pitchFamily="34" charset="-120"/>
              </a:rPr>
              <a:t>Commission</a:t>
            </a:r>
            <a:endParaRPr lang="en-US" sz="1350" dirty="0"/>
          </a:p>
        </p:txBody>
      </p:sp>
      <p:sp>
        <p:nvSpPr>
          <p:cNvPr id="8" name="Text 5"/>
          <p:cNvSpPr txBox="1"/>
          <p:nvPr/>
        </p:nvSpPr>
        <p:spPr>
          <a:xfrm>
            <a:off x="731520" y="3383280"/>
            <a:ext cx="2148840" cy="1234440"/>
          </a:xfrm>
          <a:prstGeom prst="rect">
            <a:avLst/>
          </a:prstGeom>
          <a:noFill/>
          <a:ln/>
        </p:spPr>
        <p:txBody>
          <a:bodyPr wrap="square" rtlCol="0" anchor="ctr"/>
          <a:lstStyle/>
          <a:p>
            <a:pPr marL="0" indent="0" algn="ctr">
              <a:lnSpc>
                <a:spcPct val="125000"/>
              </a:lnSpc>
              <a:buNone/>
            </a:pPr>
            <a:r>
              <a:rPr lang="en-US" sz="1080" dirty="0">
                <a:solidFill>
                  <a:srgbClr val="5C6B82"/>
                </a:solidFill>
                <a:latin typeface="Calibri" pitchFamily="34" charset="0"/>
                <a:ea typeface="Calibri" pitchFamily="34" charset="-122"/>
                <a:cs typeface="Calibri" pitchFamily="34" charset="-120"/>
              </a:rPr>
              <a:t>AFROTC, OTS, or USAFA — any bachelor’s degree qualifies</a:t>
            </a:r>
            <a:endParaRPr lang="en-US" sz="1080" dirty="0"/>
          </a:p>
        </p:txBody>
      </p:sp>
      <p:sp>
        <p:nvSpPr>
          <p:cNvPr id="9" name="Shape 6"/>
          <p:cNvSpPr/>
          <p:nvPr/>
        </p:nvSpPr>
        <p:spPr>
          <a:xfrm>
            <a:off x="3264408" y="1874520"/>
            <a:ext cx="2514600" cy="2834640"/>
          </a:xfrm>
          <a:prstGeom prst="roundRect">
            <a:avLst>
              <a:gd name="adj" fmla="val 2909"/>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10" name="Shape 7"/>
          <p:cNvSpPr/>
          <p:nvPr/>
        </p:nvSpPr>
        <p:spPr>
          <a:xfrm>
            <a:off x="4247388" y="2148840"/>
            <a:ext cx="548640" cy="548640"/>
          </a:xfrm>
          <a:prstGeom prst="ellipse">
            <a:avLst/>
          </a:prstGeom>
          <a:solidFill>
            <a:srgbClr val="12284B"/>
          </a:solidFill>
          <a:ln/>
        </p:spPr>
        <p:txBody>
          <a:bodyPr/>
          <a:lstStyle/>
          <a:p>
            <a:endParaRPr/>
          </a:p>
        </p:txBody>
      </p:sp>
      <p:pic>
        <p:nvPicPr>
          <p:cNvPr id="11" name="Image 1" descr="C:\Users\Trey\AppData\Local\Temp\claude\c--Projects-astral-project-src-pages-eftShopping\d9389cc2-8d3b-4f0d-be7e-28501db0dc02\scratchpad\afintel\icons\shield_gold.png"/>
          <p:cNvPicPr>
            <a:picLocks noChangeAspect="1"/>
          </p:cNvPicPr>
          <p:nvPr/>
        </p:nvPicPr>
        <p:blipFill>
          <a:blip r:embed="rId4"/>
          <a:stretch>
            <a:fillRect/>
          </a:stretch>
        </p:blipFill>
        <p:spPr>
          <a:xfrm>
            <a:off x="4384548" y="2286000"/>
            <a:ext cx="274320" cy="274320"/>
          </a:xfrm>
          <a:prstGeom prst="rect">
            <a:avLst/>
          </a:prstGeom>
        </p:spPr>
      </p:pic>
      <p:sp>
        <p:nvSpPr>
          <p:cNvPr id="12" name="Text 8"/>
          <p:cNvSpPr txBox="1"/>
          <p:nvPr/>
        </p:nvSpPr>
        <p:spPr>
          <a:xfrm>
            <a:off x="3401568" y="2880360"/>
            <a:ext cx="2240280" cy="457200"/>
          </a:xfrm>
          <a:prstGeom prst="rect">
            <a:avLst/>
          </a:prstGeom>
          <a:noFill/>
          <a:ln/>
        </p:spPr>
        <p:txBody>
          <a:bodyPr wrap="square" rtlCol="0" anchor="ctr"/>
          <a:lstStyle/>
          <a:p>
            <a:pPr marL="0" indent="0" algn="ctr">
              <a:lnSpc>
                <a:spcPct val="110000"/>
              </a:lnSpc>
              <a:buNone/>
            </a:pPr>
            <a:r>
              <a:rPr lang="en-US" sz="1350" b="1" dirty="0">
                <a:solidFill>
                  <a:srgbClr val="12284B"/>
                </a:solidFill>
                <a:latin typeface="Calibri" pitchFamily="34" charset="0"/>
                <a:ea typeface="Calibri" pitchFamily="34" charset="-122"/>
                <a:cs typeface="Calibri" pitchFamily="34" charset="-120"/>
              </a:rPr>
              <a:t>Citizenship</a:t>
            </a:r>
            <a:endParaRPr lang="en-US" sz="1350" dirty="0"/>
          </a:p>
        </p:txBody>
      </p:sp>
      <p:sp>
        <p:nvSpPr>
          <p:cNvPr id="13" name="Text 9"/>
          <p:cNvSpPr txBox="1"/>
          <p:nvPr/>
        </p:nvSpPr>
        <p:spPr>
          <a:xfrm>
            <a:off x="3447288" y="3383280"/>
            <a:ext cx="2148840" cy="1234440"/>
          </a:xfrm>
          <a:prstGeom prst="rect">
            <a:avLst/>
          </a:prstGeom>
          <a:noFill/>
          <a:ln/>
        </p:spPr>
        <p:txBody>
          <a:bodyPr wrap="square" rtlCol="0" anchor="ctr"/>
          <a:lstStyle/>
          <a:p>
            <a:pPr marL="0" indent="0" algn="ctr">
              <a:lnSpc>
                <a:spcPct val="125000"/>
              </a:lnSpc>
              <a:buNone/>
            </a:pPr>
            <a:r>
              <a:rPr lang="en-US" sz="1080" dirty="0">
                <a:solidFill>
                  <a:srgbClr val="5C6B82"/>
                </a:solidFill>
                <a:latin typeface="Calibri" pitchFamily="34" charset="0"/>
                <a:ea typeface="Calibri" pitchFamily="34" charset="-122"/>
                <a:cs typeface="Calibri" pitchFamily="34" charset="-120"/>
              </a:rPr>
              <a:t>U.S. citizenship is required for the AFSC</a:t>
            </a:r>
            <a:endParaRPr lang="en-US" sz="1080" dirty="0"/>
          </a:p>
        </p:txBody>
      </p:sp>
      <p:sp>
        <p:nvSpPr>
          <p:cNvPr id="14" name="Shape 10"/>
          <p:cNvSpPr/>
          <p:nvPr/>
        </p:nvSpPr>
        <p:spPr>
          <a:xfrm>
            <a:off x="5980176" y="1874520"/>
            <a:ext cx="2514600" cy="2834640"/>
          </a:xfrm>
          <a:prstGeom prst="roundRect">
            <a:avLst>
              <a:gd name="adj" fmla="val 2909"/>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15" name="Shape 11"/>
          <p:cNvSpPr/>
          <p:nvPr/>
        </p:nvSpPr>
        <p:spPr>
          <a:xfrm>
            <a:off x="6963156" y="2148840"/>
            <a:ext cx="548640" cy="548640"/>
          </a:xfrm>
          <a:prstGeom prst="ellipse">
            <a:avLst/>
          </a:prstGeom>
          <a:solidFill>
            <a:srgbClr val="12284B"/>
          </a:solidFill>
          <a:ln/>
        </p:spPr>
        <p:txBody>
          <a:bodyPr/>
          <a:lstStyle/>
          <a:p>
            <a:endParaRPr/>
          </a:p>
        </p:txBody>
      </p:sp>
      <p:pic>
        <p:nvPicPr>
          <p:cNvPr id="16" name="Image 2" descr="C:\Users\Trey\AppData\Local\Temp\claude\c--Projects-astral-project-src-pages-eftShopping\d9389cc2-8d3b-4f0d-be7e-28501db0dc02\scratchpad\afintel\icons\clipboardcheck_gold.png"/>
          <p:cNvPicPr>
            <a:picLocks noChangeAspect="1"/>
          </p:cNvPicPr>
          <p:nvPr/>
        </p:nvPicPr>
        <p:blipFill>
          <a:blip r:embed="rId5"/>
          <a:stretch>
            <a:fillRect/>
          </a:stretch>
        </p:blipFill>
        <p:spPr>
          <a:xfrm>
            <a:off x="7100316" y="2286000"/>
            <a:ext cx="274320" cy="274320"/>
          </a:xfrm>
          <a:prstGeom prst="rect">
            <a:avLst/>
          </a:prstGeom>
        </p:spPr>
      </p:pic>
      <p:sp>
        <p:nvSpPr>
          <p:cNvPr id="17" name="Text 12"/>
          <p:cNvSpPr txBox="1"/>
          <p:nvPr/>
        </p:nvSpPr>
        <p:spPr>
          <a:xfrm>
            <a:off x="6117336" y="2880360"/>
            <a:ext cx="2240280" cy="457200"/>
          </a:xfrm>
          <a:prstGeom prst="rect">
            <a:avLst/>
          </a:prstGeom>
          <a:noFill/>
          <a:ln/>
        </p:spPr>
        <p:txBody>
          <a:bodyPr wrap="square" rtlCol="0" anchor="ctr"/>
          <a:lstStyle/>
          <a:p>
            <a:pPr marL="0" indent="0" algn="ctr">
              <a:lnSpc>
                <a:spcPct val="110000"/>
              </a:lnSpc>
              <a:buNone/>
            </a:pPr>
            <a:r>
              <a:rPr lang="en-US" sz="1350" b="1" dirty="0">
                <a:solidFill>
                  <a:srgbClr val="12284B"/>
                </a:solidFill>
                <a:latin typeface="Calibri" pitchFamily="34" charset="0"/>
                <a:ea typeface="Calibri" pitchFamily="34" charset="-122"/>
                <a:cs typeface="Calibri" pitchFamily="34" charset="-120"/>
              </a:rPr>
              <a:t>Tier 5 Investigation</a:t>
            </a:r>
            <a:endParaRPr lang="en-US" sz="1350" dirty="0"/>
          </a:p>
        </p:txBody>
      </p:sp>
      <p:sp>
        <p:nvSpPr>
          <p:cNvPr id="18" name="Text 13"/>
          <p:cNvSpPr txBox="1"/>
          <p:nvPr/>
        </p:nvSpPr>
        <p:spPr>
          <a:xfrm>
            <a:off x="6163056" y="3383280"/>
            <a:ext cx="2148840" cy="1234440"/>
          </a:xfrm>
          <a:prstGeom prst="rect">
            <a:avLst/>
          </a:prstGeom>
          <a:noFill/>
          <a:ln/>
        </p:spPr>
        <p:txBody>
          <a:bodyPr wrap="square" rtlCol="0" anchor="ctr"/>
          <a:lstStyle/>
          <a:p>
            <a:pPr marL="0" indent="0" algn="ctr">
              <a:lnSpc>
                <a:spcPct val="125000"/>
              </a:lnSpc>
              <a:buNone/>
            </a:pPr>
            <a:r>
              <a:rPr lang="en-US" sz="1080" dirty="0">
                <a:solidFill>
                  <a:srgbClr val="5C6B82"/>
                </a:solidFill>
                <a:latin typeface="Calibri" pitchFamily="34" charset="0"/>
                <a:ea typeface="Calibri" pitchFamily="34" charset="-122"/>
                <a:cs typeface="Calibri" pitchFamily="34" charset="-120"/>
              </a:rPr>
              <a:t>Background clearance process — often under a year, varies by background</a:t>
            </a:r>
            <a:endParaRPr lang="en-US" sz="1080" dirty="0"/>
          </a:p>
        </p:txBody>
      </p:sp>
      <p:sp>
        <p:nvSpPr>
          <p:cNvPr id="19" name="Shape 14"/>
          <p:cNvSpPr/>
          <p:nvPr/>
        </p:nvSpPr>
        <p:spPr>
          <a:xfrm>
            <a:off x="8695944" y="1874520"/>
            <a:ext cx="2514600" cy="2834640"/>
          </a:xfrm>
          <a:prstGeom prst="roundRect">
            <a:avLst>
              <a:gd name="adj" fmla="val 2909"/>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20" name="Shape 15"/>
          <p:cNvSpPr/>
          <p:nvPr/>
        </p:nvSpPr>
        <p:spPr>
          <a:xfrm>
            <a:off x="9678924" y="2148840"/>
            <a:ext cx="548640" cy="548640"/>
          </a:xfrm>
          <a:prstGeom prst="ellipse">
            <a:avLst/>
          </a:prstGeom>
          <a:solidFill>
            <a:srgbClr val="12284B"/>
          </a:solidFill>
          <a:ln/>
        </p:spPr>
        <p:txBody>
          <a:bodyPr/>
          <a:lstStyle/>
          <a:p>
            <a:endParaRPr/>
          </a:p>
        </p:txBody>
      </p:sp>
      <p:pic>
        <p:nvPicPr>
          <p:cNvPr id="21" name="Image 3" descr="C:\Users\Trey\AppData\Local\Temp\claude\c--Projects-astral-project-src-pages-eftShopping\d9389cc2-8d3b-4f0d-be7e-28501db0dc02\scratchpad\afintel\icons\sitemap_gold.png"/>
          <p:cNvPicPr>
            <a:picLocks noChangeAspect="1"/>
          </p:cNvPicPr>
          <p:nvPr/>
        </p:nvPicPr>
        <p:blipFill>
          <a:blip r:embed="rId6"/>
          <a:stretch>
            <a:fillRect/>
          </a:stretch>
        </p:blipFill>
        <p:spPr>
          <a:xfrm>
            <a:off x="9816084" y="2286000"/>
            <a:ext cx="274320" cy="274320"/>
          </a:xfrm>
          <a:prstGeom prst="rect">
            <a:avLst/>
          </a:prstGeom>
        </p:spPr>
      </p:pic>
      <p:sp>
        <p:nvSpPr>
          <p:cNvPr id="22" name="Text 16"/>
          <p:cNvSpPr txBox="1"/>
          <p:nvPr/>
        </p:nvSpPr>
        <p:spPr>
          <a:xfrm>
            <a:off x="8833104" y="2880360"/>
            <a:ext cx="2240280" cy="457200"/>
          </a:xfrm>
          <a:prstGeom prst="rect">
            <a:avLst/>
          </a:prstGeom>
          <a:noFill/>
          <a:ln/>
        </p:spPr>
        <p:txBody>
          <a:bodyPr wrap="square" rtlCol="0" anchor="ctr"/>
          <a:lstStyle/>
          <a:p>
            <a:pPr marL="0" indent="0" algn="ctr">
              <a:lnSpc>
                <a:spcPct val="110000"/>
              </a:lnSpc>
              <a:buNone/>
            </a:pPr>
            <a:r>
              <a:rPr lang="en-US" sz="1350" b="1" dirty="0">
                <a:solidFill>
                  <a:srgbClr val="12284B"/>
                </a:solidFill>
                <a:latin typeface="Calibri" pitchFamily="34" charset="0"/>
                <a:ea typeface="Calibri" pitchFamily="34" charset="-122"/>
                <a:cs typeface="Calibri" pitchFamily="34" charset="-120"/>
              </a:rPr>
              <a:t>No Prior Intel Required</a:t>
            </a:r>
            <a:endParaRPr lang="en-US" sz="1350" dirty="0"/>
          </a:p>
        </p:txBody>
      </p:sp>
      <p:sp>
        <p:nvSpPr>
          <p:cNvPr id="23" name="Text 17"/>
          <p:cNvSpPr txBox="1"/>
          <p:nvPr/>
        </p:nvSpPr>
        <p:spPr>
          <a:xfrm>
            <a:off x="8878824" y="3383280"/>
            <a:ext cx="2148840" cy="1234440"/>
          </a:xfrm>
          <a:prstGeom prst="rect">
            <a:avLst/>
          </a:prstGeom>
          <a:noFill/>
          <a:ln/>
        </p:spPr>
        <p:txBody>
          <a:bodyPr wrap="square" rtlCol="0" anchor="ctr"/>
          <a:lstStyle/>
          <a:p>
            <a:pPr marL="0" indent="0" algn="ctr">
              <a:lnSpc>
                <a:spcPct val="125000"/>
              </a:lnSpc>
              <a:buNone/>
            </a:pPr>
            <a:r>
              <a:rPr lang="en-US" sz="1080" dirty="0">
                <a:solidFill>
                  <a:srgbClr val="5C6B82"/>
                </a:solidFill>
                <a:latin typeface="Calibri" pitchFamily="34" charset="0"/>
                <a:ea typeface="Calibri" pitchFamily="34" charset="-122"/>
                <a:cs typeface="Calibri" pitchFamily="34" charset="-120"/>
              </a:rPr>
              <a:t>Trained from scratch after commissioning</a:t>
            </a:r>
            <a:endParaRPr lang="en-US" sz="1080" dirty="0"/>
          </a:p>
        </p:txBody>
      </p:sp>
      <p:sp>
        <p:nvSpPr>
          <p:cNvPr id="24" name="Shape 18"/>
          <p:cNvSpPr/>
          <p:nvPr/>
        </p:nvSpPr>
        <p:spPr>
          <a:xfrm>
            <a:off x="548640" y="4983480"/>
            <a:ext cx="11064240" cy="1005840"/>
          </a:xfrm>
          <a:prstGeom prst="roundRect">
            <a:avLst>
              <a:gd name="adj" fmla="val 7273"/>
            </a:avLst>
          </a:prstGeom>
          <a:solidFill>
            <a:srgbClr val="12284B"/>
          </a:solidFill>
          <a:ln/>
        </p:spPr>
        <p:txBody>
          <a:bodyPr/>
          <a:lstStyle/>
          <a:p>
            <a:endParaRPr/>
          </a:p>
        </p:txBody>
      </p:sp>
      <p:sp>
        <p:nvSpPr>
          <p:cNvPr id="25" name="Shape 19"/>
          <p:cNvSpPr/>
          <p:nvPr/>
        </p:nvSpPr>
        <p:spPr>
          <a:xfrm>
            <a:off x="777240" y="5166360"/>
            <a:ext cx="594360" cy="594360"/>
          </a:xfrm>
          <a:prstGeom prst="ellipse">
            <a:avLst/>
          </a:prstGeom>
          <a:solidFill>
            <a:srgbClr val="17325C"/>
          </a:solidFill>
          <a:ln/>
        </p:spPr>
        <p:txBody>
          <a:bodyPr/>
          <a:lstStyle/>
          <a:p>
            <a:endParaRPr/>
          </a:p>
        </p:txBody>
      </p:sp>
      <p:pic>
        <p:nvPicPr>
          <p:cNvPr id="26" name="Image 4" descr="C:\Users\Trey\AppData\Local\Temp\claude\c--Projects-astral-project-src-pages-eftShopping\d9389cc2-8d3b-4f0d-be7e-28501db0dc02\scratchpad\afintel\icons\medal_gold.png"/>
          <p:cNvPicPr>
            <a:picLocks noChangeAspect="1"/>
          </p:cNvPicPr>
          <p:nvPr/>
        </p:nvPicPr>
        <p:blipFill>
          <a:blip r:embed="rId7"/>
          <a:stretch>
            <a:fillRect/>
          </a:stretch>
        </p:blipFill>
        <p:spPr>
          <a:xfrm>
            <a:off x="914400" y="5303520"/>
            <a:ext cx="320040" cy="320040"/>
          </a:xfrm>
          <a:prstGeom prst="rect">
            <a:avLst/>
          </a:prstGeom>
        </p:spPr>
      </p:pic>
      <p:sp>
        <p:nvSpPr>
          <p:cNvPr id="27" name="Text 20"/>
          <p:cNvSpPr txBox="1"/>
          <p:nvPr/>
        </p:nvSpPr>
        <p:spPr>
          <a:xfrm>
            <a:off x="1554480" y="5074920"/>
            <a:ext cx="9784080" cy="822960"/>
          </a:xfrm>
          <a:prstGeom prst="rect">
            <a:avLst/>
          </a:prstGeom>
          <a:noFill/>
          <a:ln/>
        </p:spPr>
        <p:txBody>
          <a:bodyPr wrap="square" rtlCol="0" anchor="ctr"/>
          <a:lstStyle/>
          <a:p>
            <a:pPr marL="0" indent="0">
              <a:lnSpc>
                <a:spcPct val="125000"/>
              </a:lnSpc>
              <a:buNone/>
            </a:pPr>
            <a:r>
              <a:rPr lang="en-US" sz="1250" dirty="0">
                <a:solidFill>
                  <a:srgbClr val="F4F6FA"/>
                </a:solidFill>
                <a:latin typeface="Calibri" pitchFamily="34" charset="0"/>
                <a:ea typeface="Calibri" pitchFamily="34" charset="-122"/>
                <a:cs typeface="Calibri" pitchFamily="34" charset="-120"/>
              </a:rPr>
              <a:t>Special Experience Identifiers (SEIs) let 14Ns specialize further — collection management, targeting, HUMINT, or special access programs — on top of the base qualification.</a:t>
            </a:r>
            <a:endParaRPr lang="en-US" sz="1250" dirty="0"/>
          </a:p>
        </p:txBody>
      </p:sp>
      <p:sp>
        <p:nvSpPr>
          <p:cNvPr id="28" name="Text 21"/>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5C6B82"/>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2284B"/>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FROM COMMISSIONING TO THE SQUADRON</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FFFFFF"/>
                </a:solidFill>
                <a:latin typeface="Cambria" pitchFamily="34" charset="0"/>
                <a:ea typeface="Cambria" pitchFamily="34" charset="-122"/>
                <a:cs typeface="Cambria" pitchFamily="34" charset="-120"/>
              </a:rPr>
              <a:t>The training pipeline</a:t>
            </a:r>
            <a:endParaRPr lang="en-US" sz="3200" dirty="0"/>
          </a:p>
        </p:txBody>
      </p:sp>
      <p:sp>
        <p:nvSpPr>
          <p:cNvPr id="4" name="Shape 2"/>
          <p:cNvSpPr/>
          <p:nvPr/>
        </p:nvSpPr>
        <p:spPr>
          <a:xfrm>
            <a:off x="1380744" y="3300984"/>
            <a:ext cx="8229600" cy="0"/>
          </a:xfrm>
          <a:prstGeom prst="line">
            <a:avLst/>
          </a:prstGeom>
          <a:noFill/>
          <a:ln w="19050">
            <a:solidFill>
              <a:srgbClr val="8CA3C7"/>
            </a:solidFill>
            <a:prstDash val="dash"/>
          </a:ln>
        </p:spPr>
        <p:txBody>
          <a:bodyPr/>
          <a:lstStyle/>
          <a:p>
            <a:endParaRPr/>
          </a:p>
        </p:txBody>
      </p:sp>
      <p:sp>
        <p:nvSpPr>
          <p:cNvPr id="5" name="Shape 3"/>
          <p:cNvSpPr/>
          <p:nvPr/>
        </p:nvSpPr>
        <p:spPr>
          <a:xfrm>
            <a:off x="1097280" y="3017520"/>
            <a:ext cx="566928" cy="566928"/>
          </a:xfrm>
          <a:prstGeom prst="ellipse">
            <a:avLst/>
          </a:prstGeom>
          <a:solidFill>
            <a:srgbClr val="17325C"/>
          </a:solidFill>
          <a:ln/>
        </p:spPr>
        <p:txBody>
          <a:bodyPr/>
          <a:lstStyle/>
          <a:p>
            <a:endParaRPr/>
          </a:p>
        </p:txBody>
      </p:sp>
      <p:pic>
        <p:nvPicPr>
          <p:cNvPr id="6" name="Image 0" descr="C:\Users\Trey\AppData\Local\Temp\claude\c--Projects-astral-project-src-pages-eftShopping\d9389cc2-8d3b-4f0d-be7e-28501db0dc02\scratchpad\afintel\icons\gradcap_gold.png"/>
          <p:cNvPicPr>
            <a:picLocks noChangeAspect="1"/>
          </p:cNvPicPr>
          <p:nvPr/>
        </p:nvPicPr>
        <p:blipFill>
          <a:blip r:embed="rId3"/>
          <a:stretch>
            <a:fillRect/>
          </a:stretch>
        </p:blipFill>
        <p:spPr>
          <a:xfrm>
            <a:off x="1234440" y="3154680"/>
            <a:ext cx="292608" cy="292608"/>
          </a:xfrm>
          <a:prstGeom prst="rect">
            <a:avLst/>
          </a:prstGeom>
        </p:spPr>
      </p:pic>
      <p:sp>
        <p:nvSpPr>
          <p:cNvPr id="7" name="Shape 4"/>
          <p:cNvSpPr/>
          <p:nvPr/>
        </p:nvSpPr>
        <p:spPr>
          <a:xfrm>
            <a:off x="1497787" y="3418027"/>
            <a:ext cx="256032" cy="256032"/>
          </a:xfrm>
          <a:prstGeom prst="ellipse">
            <a:avLst/>
          </a:prstGeom>
          <a:solidFill>
            <a:srgbClr val="FFC72C"/>
          </a:solidFill>
          <a:ln w="25400">
            <a:solidFill>
              <a:srgbClr val="12284B"/>
            </a:solidFill>
            <a:prstDash val="solid"/>
          </a:ln>
        </p:spPr>
        <p:txBody>
          <a:bodyPr/>
          <a:lstStyle/>
          <a:p>
            <a:endParaRPr/>
          </a:p>
        </p:txBody>
      </p:sp>
      <p:sp>
        <p:nvSpPr>
          <p:cNvPr id="8" name="Text 5"/>
          <p:cNvSpPr txBox="1"/>
          <p:nvPr/>
        </p:nvSpPr>
        <p:spPr>
          <a:xfrm>
            <a:off x="1497787" y="3418027"/>
            <a:ext cx="256032" cy="256032"/>
          </a:xfrm>
          <a:prstGeom prst="rect">
            <a:avLst/>
          </a:prstGeom>
          <a:noFill/>
          <a:ln/>
        </p:spPr>
        <p:txBody>
          <a:bodyPr wrap="square" rtlCol="0" anchor="ctr"/>
          <a:lstStyle/>
          <a:p>
            <a:pPr marL="0" indent="0" algn="ctr">
              <a:buNone/>
            </a:pPr>
            <a:r>
              <a:rPr lang="en-US" sz="1050" b="1" dirty="0">
                <a:solidFill>
                  <a:srgbClr val="12284B"/>
                </a:solidFill>
                <a:latin typeface="Calibri" pitchFamily="34" charset="0"/>
                <a:ea typeface="Calibri" pitchFamily="34" charset="-122"/>
                <a:cs typeface="Calibri" pitchFamily="34" charset="-120"/>
              </a:rPr>
              <a:t>1</a:t>
            </a:r>
            <a:endParaRPr lang="en-US" sz="1050" dirty="0"/>
          </a:p>
        </p:txBody>
      </p:sp>
      <p:sp>
        <p:nvSpPr>
          <p:cNvPr id="9" name="Text 6"/>
          <p:cNvSpPr txBox="1"/>
          <p:nvPr/>
        </p:nvSpPr>
        <p:spPr>
          <a:xfrm>
            <a:off x="548640" y="3794760"/>
            <a:ext cx="1645920" cy="32004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Commissioning</a:t>
            </a:r>
            <a:endParaRPr lang="en-US" sz="1350" dirty="0"/>
          </a:p>
        </p:txBody>
      </p:sp>
      <p:sp>
        <p:nvSpPr>
          <p:cNvPr id="10" name="Text 7"/>
          <p:cNvSpPr txBox="1"/>
          <p:nvPr/>
        </p:nvSpPr>
        <p:spPr>
          <a:xfrm>
            <a:off x="411480" y="4133088"/>
            <a:ext cx="1920240" cy="8229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AFROTC / OTS / USAFA</a:t>
            </a:r>
            <a:endParaRPr lang="en-US" sz="1050" dirty="0"/>
          </a:p>
        </p:txBody>
      </p:sp>
      <p:sp>
        <p:nvSpPr>
          <p:cNvPr id="11" name="Shape 8"/>
          <p:cNvSpPr/>
          <p:nvPr/>
        </p:nvSpPr>
        <p:spPr>
          <a:xfrm>
            <a:off x="3840480" y="3017520"/>
            <a:ext cx="566928" cy="566928"/>
          </a:xfrm>
          <a:prstGeom prst="ellipse">
            <a:avLst/>
          </a:prstGeom>
          <a:solidFill>
            <a:srgbClr val="17325C"/>
          </a:solidFill>
          <a:ln/>
        </p:spPr>
        <p:txBody>
          <a:bodyPr/>
          <a:lstStyle/>
          <a:p>
            <a:endParaRPr/>
          </a:p>
        </p:txBody>
      </p:sp>
      <p:pic>
        <p:nvPicPr>
          <p:cNvPr id="12" name="Image 1" descr="C:\Users\Trey\AppData\Local\Temp\claude\c--Projects-astral-project-src-pages-eftShopping\d9389cc2-8d3b-4f0d-be7e-28501db0dc02\scratchpad\afintel\icons\compass_gold.png"/>
          <p:cNvPicPr>
            <a:picLocks noChangeAspect="1"/>
          </p:cNvPicPr>
          <p:nvPr/>
        </p:nvPicPr>
        <p:blipFill>
          <a:blip r:embed="rId4"/>
          <a:stretch>
            <a:fillRect/>
          </a:stretch>
        </p:blipFill>
        <p:spPr>
          <a:xfrm>
            <a:off x="3977640" y="3154680"/>
            <a:ext cx="292608" cy="292608"/>
          </a:xfrm>
          <a:prstGeom prst="rect">
            <a:avLst/>
          </a:prstGeom>
        </p:spPr>
      </p:pic>
      <p:sp>
        <p:nvSpPr>
          <p:cNvPr id="13" name="Shape 9"/>
          <p:cNvSpPr/>
          <p:nvPr/>
        </p:nvSpPr>
        <p:spPr>
          <a:xfrm>
            <a:off x="4240987" y="3418027"/>
            <a:ext cx="256032" cy="256032"/>
          </a:xfrm>
          <a:prstGeom prst="ellipse">
            <a:avLst/>
          </a:prstGeom>
          <a:solidFill>
            <a:srgbClr val="FFC72C"/>
          </a:solidFill>
          <a:ln w="25400">
            <a:solidFill>
              <a:srgbClr val="12284B"/>
            </a:solidFill>
            <a:prstDash val="solid"/>
          </a:ln>
        </p:spPr>
        <p:txBody>
          <a:bodyPr/>
          <a:lstStyle/>
          <a:p>
            <a:endParaRPr/>
          </a:p>
        </p:txBody>
      </p:sp>
      <p:sp>
        <p:nvSpPr>
          <p:cNvPr id="14" name="Text 10"/>
          <p:cNvSpPr txBox="1"/>
          <p:nvPr/>
        </p:nvSpPr>
        <p:spPr>
          <a:xfrm>
            <a:off x="4240987" y="3418027"/>
            <a:ext cx="256032" cy="256032"/>
          </a:xfrm>
          <a:prstGeom prst="rect">
            <a:avLst/>
          </a:prstGeom>
          <a:noFill/>
          <a:ln/>
        </p:spPr>
        <p:txBody>
          <a:bodyPr wrap="square" rtlCol="0" anchor="ctr"/>
          <a:lstStyle/>
          <a:p>
            <a:pPr marL="0" indent="0" algn="ctr">
              <a:buNone/>
            </a:pPr>
            <a:r>
              <a:rPr lang="en-US" sz="1050" b="1" dirty="0">
                <a:solidFill>
                  <a:srgbClr val="12284B"/>
                </a:solidFill>
                <a:latin typeface="Calibri" pitchFamily="34" charset="0"/>
                <a:ea typeface="Calibri" pitchFamily="34" charset="-122"/>
                <a:cs typeface="Calibri" pitchFamily="34" charset="-120"/>
              </a:rPr>
              <a:t>2</a:t>
            </a:r>
            <a:endParaRPr lang="en-US" sz="1050" dirty="0"/>
          </a:p>
        </p:txBody>
      </p:sp>
      <p:sp>
        <p:nvSpPr>
          <p:cNvPr id="15" name="Text 11"/>
          <p:cNvSpPr txBox="1"/>
          <p:nvPr/>
        </p:nvSpPr>
        <p:spPr>
          <a:xfrm>
            <a:off x="3291840" y="3794760"/>
            <a:ext cx="1645920" cy="32004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IOT</a:t>
            </a:r>
            <a:endParaRPr lang="en-US" sz="1350" dirty="0"/>
          </a:p>
        </p:txBody>
      </p:sp>
      <p:sp>
        <p:nvSpPr>
          <p:cNvPr id="16" name="Text 12"/>
          <p:cNvSpPr txBox="1"/>
          <p:nvPr/>
        </p:nvSpPr>
        <p:spPr>
          <a:xfrm>
            <a:off x="3154680" y="4133088"/>
            <a:ext cx="1920240" cy="8229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8.5-week Intelligence Officer</a:t>
            </a:r>
            <a:endParaRPr lang="en-US" sz="1050" dirty="0"/>
          </a:p>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Training at Goodfellow AFB, TX</a:t>
            </a:r>
            <a:endParaRPr lang="en-US" sz="1050" dirty="0"/>
          </a:p>
        </p:txBody>
      </p:sp>
      <p:sp>
        <p:nvSpPr>
          <p:cNvPr id="17" name="Shape 13"/>
          <p:cNvSpPr/>
          <p:nvPr/>
        </p:nvSpPr>
        <p:spPr>
          <a:xfrm>
            <a:off x="6583680" y="3017520"/>
            <a:ext cx="566928" cy="566928"/>
          </a:xfrm>
          <a:prstGeom prst="ellipse">
            <a:avLst/>
          </a:prstGeom>
          <a:solidFill>
            <a:srgbClr val="17325C"/>
          </a:solidFill>
          <a:ln/>
        </p:spPr>
        <p:txBody>
          <a:bodyPr/>
          <a:lstStyle/>
          <a:p>
            <a:endParaRPr/>
          </a:p>
        </p:txBody>
      </p:sp>
      <p:pic>
        <p:nvPicPr>
          <p:cNvPr id="18" name="Image 2" descr="C:\Users\Trey\AppData\Local\Temp\claude\c--Projects-astral-project-src-pages-eftShopping\d9389cc2-8d3b-4f0d-be7e-28501db0dc02\scratchpad\afintel\icons\sitemap_gold.png"/>
          <p:cNvPicPr>
            <a:picLocks noChangeAspect="1"/>
          </p:cNvPicPr>
          <p:nvPr/>
        </p:nvPicPr>
        <p:blipFill>
          <a:blip r:embed="rId5"/>
          <a:stretch>
            <a:fillRect/>
          </a:stretch>
        </p:blipFill>
        <p:spPr>
          <a:xfrm>
            <a:off x="6720840" y="3154680"/>
            <a:ext cx="292608" cy="292608"/>
          </a:xfrm>
          <a:prstGeom prst="rect">
            <a:avLst/>
          </a:prstGeom>
        </p:spPr>
      </p:pic>
      <p:sp>
        <p:nvSpPr>
          <p:cNvPr id="19" name="Shape 14"/>
          <p:cNvSpPr/>
          <p:nvPr/>
        </p:nvSpPr>
        <p:spPr>
          <a:xfrm>
            <a:off x="6984187" y="3418027"/>
            <a:ext cx="256032" cy="256032"/>
          </a:xfrm>
          <a:prstGeom prst="ellipse">
            <a:avLst/>
          </a:prstGeom>
          <a:solidFill>
            <a:srgbClr val="FFC72C"/>
          </a:solidFill>
          <a:ln w="25400">
            <a:solidFill>
              <a:srgbClr val="12284B"/>
            </a:solidFill>
            <a:prstDash val="solid"/>
          </a:ln>
        </p:spPr>
        <p:txBody>
          <a:bodyPr/>
          <a:lstStyle/>
          <a:p>
            <a:endParaRPr/>
          </a:p>
        </p:txBody>
      </p:sp>
      <p:sp>
        <p:nvSpPr>
          <p:cNvPr id="20" name="Text 15"/>
          <p:cNvSpPr txBox="1"/>
          <p:nvPr/>
        </p:nvSpPr>
        <p:spPr>
          <a:xfrm>
            <a:off x="6984187" y="3418027"/>
            <a:ext cx="256032" cy="256032"/>
          </a:xfrm>
          <a:prstGeom prst="rect">
            <a:avLst/>
          </a:prstGeom>
          <a:noFill/>
          <a:ln/>
        </p:spPr>
        <p:txBody>
          <a:bodyPr wrap="square" rtlCol="0" anchor="ctr"/>
          <a:lstStyle/>
          <a:p>
            <a:pPr marL="0" indent="0" algn="ctr">
              <a:buNone/>
            </a:pPr>
            <a:r>
              <a:rPr lang="en-US" sz="1050" b="1" dirty="0">
                <a:solidFill>
                  <a:srgbClr val="12284B"/>
                </a:solidFill>
                <a:latin typeface="Calibri" pitchFamily="34" charset="0"/>
                <a:ea typeface="Calibri" pitchFamily="34" charset="-122"/>
                <a:cs typeface="Calibri" pitchFamily="34" charset="-120"/>
              </a:rPr>
              <a:t>3</a:t>
            </a:r>
            <a:endParaRPr lang="en-US" sz="1050" dirty="0"/>
          </a:p>
        </p:txBody>
      </p:sp>
      <p:sp>
        <p:nvSpPr>
          <p:cNvPr id="21" name="Text 16"/>
          <p:cNvSpPr txBox="1"/>
          <p:nvPr/>
        </p:nvSpPr>
        <p:spPr>
          <a:xfrm>
            <a:off x="6035040" y="3794760"/>
            <a:ext cx="1645920" cy="32004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Follow-on Training</a:t>
            </a:r>
            <a:endParaRPr lang="en-US" sz="1350" dirty="0"/>
          </a:p>
        </p:txBody>
      </p:sp>
      <p:sp>
        <p:nvSpPr>
          <p:cNvPr id="22" name="Text 17"/>
          <p:cNvSpPr txBox="1"/>
          <p:nvPr/>
        </p:nvSpPr>
        <p:spPr>
          <a:xfrm>
            <a:off x="5897880" y="4133088"/>
            <a:ext cx="1920240" cy="8229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Platform- or mission-specific</a:t>
            </a:r>
            <a:endParaRPr lang="en-US" sz="1050" dirty="0"/>
          </a:p>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qualification course</a:t>
            </a:r>
            <a:endParaRPr lang="en-US" sz="1050" dirty="0"/>
          </a:p>
        </p:txBody>
      </p:sp>
      <p:sp>
        <p:nvSpPr>
          <p:cNvPr id="23" name="Shape 18"/>
          <p:cNvSpPr/>
          <p:nvPr/>
        </p:nvSpPr>
        <p:spPr>
          <a:xfrm>
            <a:off x="9326880" y="3017520"/>
            <a:ext cx="566928" cy="566928"/>
          </a:xfrm>
          <a:prstGeom prst="ellipse">
            <a:avLst/>
          </a:prstGeom>
          <a:solidFill>
            <a:srgbClr val="FFC72C"/>
          </a:solidFill>
          <a:ln/>
        </p:spPr>
        <p:txBody>
          <a:bodyPr/>
          <a:lstStyle/>
          <a:p>
            <a:endParaRPr/>
          </a:p>
        </p:txBody>
      </p:sp>
      <p:pic>
        <p:nvPicPr>
          <p:cNvPr id="24" name="Image 3" descr="C:\Users\Trey\AppData\Local\Temp\claude\c--Projects-astral-project-src-pages-eftShopping\d9389cc2-8d3b-4f0d-be7e-28501db0dc02\scratchpad\afintel\icons\jet_navy.png"/>
          <p:cNvPicPr>
            <a:picLocks noChangeAspect="1"/>
          </p:cNvPicPr>
          <p:nvPr/>
        </p:nvPicPr>
        <p:blipFill>
          <a:blip r:embed="rId6"/>
          <a:stretch>
            <a:fillRect/>
          </a:stretch>
        </p:blipFill>
        <p:spPr>
          <a:xfrm>
            <a:off x="9464040" y="3154680"/>
            <a:ext cx="292608" cy="292608"/>
          </a:xfrm>
          <a:prstGeom prst="rect">
            <a:avLst/>
          </a:prstGeom>
        </p:spPr>
      </p:pic>
      <p:sp>
        <p:nvSpPr>
          <p:cNvPr id="25" name="Shape 19"/>
          <p:cNvSpPr/>
          <p:nvPr/>
        </p:nvSpPr>
        <p:spPr>
          <a:xfrm>
            <a:off x="9727387" y="3418027"/>
            <a:ext cx="256032" cy="256032"/>
          </a:xfrm>
          <a:prstGeom prst="ellipse">
            <a:avLst/>
          </a:prstGeom>
          <a:solidFill>
            <a:srgbClr val="FFC72C"/>
          </a:solidFill>
          <a:ln w="25400">
            <a:solidFill>
              <a:srgbClr val="12284B"/>
            </a:solidFill>
            <a:prstDash val="solid"/>
          </a:ln>
        </p:spPr>
        <p:txBody>
          <a:bodyPr/>
          <a:lstStyle/>
          <a:p>
            <a:endParaRPr/>
          </a:p>
        </p:txBody>
      </p:sp>
      <p:sp>
        <p:nvSpPr>
          <p:cNvPr id="26" name="Text 20"/>
          <p:cNvSpPr txBox="1"/>
          <p:nvPr/>
        </p:nvSpPr>
        <p:spPr>
          <a:xfrm>
            <a:off x="9727387" y="3418027"/>
            <a:ext cx="256032" cy="256032"/>
          </a:xfrm>
          <a:prstGeom prst="rect">
            <a:avLst/>
          </a:prstGeom>
          <a:noFill/>
          <a:ln/>
        </p:spPr>
        <p:txBody>
          <a:bodyPr wrap="square" rtlCol="0" anchor="ctr"/>
          <a:lstStyle/>
          <a:p>
            <a:pPr marL="0" indent="0" algn="ctr">
              <a:buNone/>
            </a:pPr>
            <a:r>
              <a:rPr lang="en-US" sz="1050" b="1" dirty="0">
                <a:solidFill>
                  <a:srgbClr val="12284B"/>
                </a:solidFill>
                <a:latin typeface="Calibri" pitchFamily="34" charset="0"/>
                <a:ea typeface="Calibri" pitchFamily="34" charset="-122"/>
                <a:cs typeface="Calibri" pitchFamily="34" charset="-120"/>
              </a:rPr>
              <a:t>4</a:t>
            </a:r>
            <a:endParaRPr lang="en-US" sz="1050" dirty="0"/>
          </a:p>
        </p:txBody>
      </p:sp>
      <p:sp>
        <p:nvSpPr>
          <p:cNvPr id="27" name="Text 21"/>
          <p:cNvSpPr txBox="1"/>
          <p:nvPr/>
        </p:nvSpPr>
        <p:spPr>
          <a:xfrm>
            <a:off x="8778240" y="3794760"/>
            <a:ext cx="1645920" cy="32004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First Assignment</a:t>
            </a:r>
            <a:endParaRPr lang="en-US" sz="1350" dirty="0"/>
          </a:p>
        </p:txBody>
      </p:sp>
      <p:sp>
        <p:nvSpPr>
          <p:cNvPr id="28" name="Text 22"/>
          <p:cNvSpPr txBox="1"/>
          <p:nvPr/>
        </p:nvSpPr>
        <p:spPr>
          <a:xfrm>
            <a:off x="8641080" y="4133088"/>
            <a:ext cx="1920240" cy="822960"/>
          </a:xfrm>
          <a:prstGeom prst="rect">
            <a:avLst/>
          </a:prstGeom>
          <a:noFill/>
          <a:ln/>
        </p:spPr>
        <p:txBody>
          <a:bodyPr wrap="square" rtlCol="0" anchor="ctr"/>
          <a:lstStyle/>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Operations Group at a</a:t>
            </a:r>
            <a:endParaRPr lang="en-US" sz="1050" dirty="0"/>
          </a:p>
          <a:p>
            <a:pPr marL="0" indent="0" algn="ctr">
              <a:lnSpc>
                <a:spcPct val="120000"/>
              </a:lnSpc>
              <a:buNone/>
            </a:pPr>
            <a:r>
              <a:rPr lang="en-US" sz="1050" dirty="0">
                <a:solidFill>
                  <a:srgbClr val="8CA3C7"/>
                </a:solidFill>
                <a:latin typeface="Calibri" pitchFamily="34" charset="0"/>
                <a:ea typeface="Calibri" pitchFamily="34" charset="-122"/>
                <a:cs typeface="Calibri" pitchFamily="34" charset="-120"/>
              </a:rPr>
              <a:t>flying wing</a:t>
            </a:r>
            <a:endParaRPr lang="en-US" sz="1050" dirty="0"/>
          </a:p>
        </p:txBody>
      </p:sp>
      <p:sp>
        <p:nvSpPr>
          <p:cNvPr id="29" name="Text 23"/>
          <p:cNvSpPr txBox="1"/>
          <p:nvPr/>
        </p:nvSpPr>
        <p:spPr>
          <a:xfrm>
            <a:off x="548640" y="5349240"/>
            <a:ext cx="10515600" cy="457200"/>
          </a:xfrm>
          <a:prstGeom prst="rect">
            <a:avLst/>
          </a:prstGeom>
          <a:noFill/>
          <a:ln/>
        </p:spPr>
        <p:txBody>
          <a:bodyPr wrap="square" rtlCol="0" anchor="ctr"/>
          <a:lstStyle/>
          <a:p>
            <a:pPr marL="0" indent="0">
              <a:buNone/>
            </a:pPr>
            <a:r>
              <a:rPr lang="en-US" sz="1250" i="1" dirty="0">
                <a:solidFill>
                  <a:srgbClr val="8CA3C7"/>
                </a:solidFill>
                <a:latin typeface="Calibri" pitchFamily="34" charset="0"/>
                <a:ea typeface="Calibri" pitchFamily="34" charset="-122"/>
                <a:cs typeface="Calibri" pitchFamily="34" charset="-120"/>
              </a:rPr>
              <a:t>Goodfellow AFB, Texas is the schoolhouse for nearly all Air Force intelligence training.</a:t>
            </a:r>
            <a:endParaRPr lang="en-US" sz="1250" dirty="0"/>
          </a:p>
        </p:txBody>
      </p:sp>
      <p:sp>
        <p:nvSpPr>
          <p:cNvPr id="30" name="Text 24"/>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8CA3C7"/>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BEYOND THE BASELINE</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12284B"/>
                </a:solidFill>
                <a:latin typeface="Cambria" pitchFamily="34" charset="0"/>
                <a:ea typeface="Cambria" pitchFamily="34" charset="-122"/>
                <a:cs typeface="Cambria" pitchFamily="34" charset="-120"/>
              </a:rPr>
              <a:t>Specialty tracks inside Intel</a:t>
            </a:r>
            <a:endParaRPr lang="en-US" sz="3200" dirty="0"/>
          </a:p>
        </p:txBody>
      </p:sp>
      <p:sp>
        <p:nvSpPr>
          <p:cNvPr id="4" name="Shape 2"/>
          <p:cNvSpPr/>
          <p:nvPr/>
        </p:nvSpPr>
        <p:spPr>
          <a:xfrm>
            <a:off x="548640" y="1874520"/>
            <a:ext cx="2697480" cy="3931920"/>
          </a:xfrm>
          <a:prstGeom prst="roundRect">
            <a:avLst>
              <a:gd name="adj" fmla="val 2712"/>
            </a:avLst>
          </a:prstGeom>
          <a:solidFill>
            <a:srgbClr val="FFFFFF"/>
          </a:solidFill>
          <a:ln/>
          <a:effectLst>
            <a:outerShdw blurRad="101600" dist="38100" dir="5400000" algn="bl" rotWithShape="0">
              <a:srgbClr val="0B1B34">
                <a:alpha val="35000"/>
              </a:srgbClr>
            </a:outerShdw>
          </a:effectLst>
        </p:spPr>
        <p:txBody>
          <a:bodyPr/>
          <a:lstStyle/>
          <a:p>
            <a:endParaRPr/>
          </a:p>
        </p:txBody>
      </p:sp>
      <p:sp>
        <p:nvSpPr>
          <p:cNvPr id="5" name="Shape 3"/>
          <p:cNvSpPr/>
          <p:nvPr/>
        </p:nvSpPr>
        <p:spPr>
          <a:xfrm>
            <a:off x="777240" y="2148840"/>
            <a:ext cx="530352" cy="530352"/>
          </a:xfrm>
          <a:prstGeom prst="ellipse">
            <a:avLst/>
          </a:prstGeom>
          <a:solidFill>
            <a:srgbClr val="12284B"/>
          </a:solidFill>
          <a:ln/>
        </p:spPr>
        <p:txBody>
          <a:bodyPr/>
          <a:lstStyle/>
          <a:p>
            <a:endParaRPr/>
          </a:p>
        </p:txBody>
      </p:sp>
      <p:pic>
        <p:nvPicPr>
          <p:cNvPr id="6" name="Image 0" descr="C:\Users\Trey\AppData\Local\Temp\claude\c--Projects-astral-project-src-pages-eftShopping\d9389cc2-8d3b-4f0d-be7e-28501db0dc02\scratchpad\afintel\icons\crosshairs_gold.png"/>
          <p:cNvPicPr>
            <a:picLocks noChangeAspect="1"/>
          </p:cNvPicPr>
          <p:nvPr/>
        </p:nvPicPr>
        <p:blipFill>
          <a:blip r:embed="rId3"/>
          <a:stretch>
            <a:fillRect/>
          </a:stretch>
        </p:blipFill>
        <p:spPr>
          <a:xfrm>
            <a:off x="914400" y="2286000"/>
            <a:ext cx="256032" cy="256032"/>
          </a:xfrm>
          <a:prstGeom prst="rect">
            <a:avLst/>
          </a:prstGeom>
        </p:spPr>
      </p:pic>
      <p:sp>
        <p:nvSpPr>
          <p:cNvPr id="7" name="Text 4"/>
          <p:cNvSpPr txBox="1"/>
          <p:nvPr/>
        </p:nvSpPr>
        <p:spPr>
          <a:xfrm>
            <a:off x="749808" y="2880360"/>
            <a:ext cx="2295144" cy="640080"/>
          </a:xfrm>
          <a:prstGeom prst="rect">
            <a:avLst/>
          </a:prstGeom>
          <a:noFill/>
          <a:ln/>
        </p:spPr>
        <p:txBody>
          <a:bodyPr wrap="square" rtlCol="0" anchor="ctr"/>
          <a:lstStyle/>
          <a:p>
            <a:pPr marL="0" indent="0">
              <a:lnSpc>
                <a:spcPct val="115000"/>
              </a:lnSpc>
              <a:buNone/>
            </a:pPr>
            <a:r>
              <a:rPr lang="en-US" sz="1300" b="1" dirty="0">
                <a:solidFill>
                  <a:srgbClr val="12284B"/>
                </a:solidFill>
                <a:latin typeface="Calibri" pitchFamily="34" charset="0"/>
                <a:ea typeface="Calibri" pitchFamily="34" charset="-122"/>
                <a:cs typeface="Calibri" pitchFamily="34" charset="-120"/>
              </a:rPr>
              <a:t>Targeting</a:t>
            </a:r>
            <a:endParaRPr lang="en-US" sz="1300" dirty="0"/>
          </a:p>
        </p:txBody>
      </p:sp>
      <p:sp>
        <p:nvSpPr>
          <p:cNvPr id="8" name="Text 5"/>
          <p:cNvSpPr txBox="1"/>
          <p:nvPr/>
        </p:nvSpPr>
        <p:spPr>
          <a:xfrm>
            <a:off x="749808" y="3566160"/>
            <a:ext cx="2295144" cy="2103120"/>
          </a:xfrm>
          <a:prstGeom prst="rect">
            <a:avLst/>
          </a:prstGeom>
          <a:noFill/>
          <a:ln/>
        </p:spPr>
        <p:txBody>
          <a:bodyPr wrap="square" rtlCol="0" anchor="ctr"/>
          <a:lstStyle/>
          <a:p>
            <a:pPr marL="0" indent="0">
              <a:lnSpc>
                <a:spcPct val="130000"/>
              </a:lnSpc>
              <a:buNone/>
            </a:pPr>
            <a:r>
              <a:rPr lang="en-US" sz="1100" dirty="0">
                <a:solidFill>
                  <a:srgbClr val="5C6B82"/>
                </a:solidFill>
                <a:latin typeface="Calibri" pitchFamily="34" charset="0"/>
                <a:ea typeface="Calibri" pitchFamily="34" charset="-122"/>
                <a:cs typeface="Calibri" pitchFamily="34" charset="-120"/>
              </a:rPr>
              <a:t>Builds the packages that identify, prioritize &amp; characterize targets for strike planners — the most operationally direct role.</a:t>
            </a:r>
            <a:endParaRPr lang="en-US" sz="1100" dirty="0"/>
          </a:p>
        </p:txBody>
      </p:sp>
      <p:sp>
        <p:nvSpPr>
          <p:cNvPr id="9" name="Shape 6"/>
          <p:cNvSpPr/>
          <p:nvPr/>
        </p:nvSpPr>
        <p:spPr>
          <a:xfrm>
            <a:off x="3429000" y="1874520"/>
            <a:ext cx="2697480" cy="3931920"/>
          </a:xfrm>
          <a:prstGeom prst="roundRect">
            <a:avLst>
              <a:gd name="adj" fmla="val 2712"/>
            </a:avLst>
          </a:prstGeom>
          <a:solidFill>
            <a:srgbClr val="FFFFFF"/>
          </a:solidFill>
          <a:ln/>
          <a:effectLst>
            <a:outerShdw blurRad="101600" dist="38100" dir="5400000" algn="bl" rotWithShape="0">
              <a:srgbClr val="0B1B34">
                <a:alpha val="35000"/>
              </a:srgbClr>
            </a:outerShdw>
          </a:effectLst>
        </p:spPr>
        <p:txBody>
          <a:bodyPr/>
          <a:lstStyle/>
          <a:p>
            <a:endParaRPr/>
          </a:p>
        </p:txBody>
      </p:sp>
      <p:sp>
        <p:nvSpPr>
          <p:cNvPr id="10" name="Shape 7"/>
          <p:cNvSpPr/>
          <p:nvPr/>
        </p:nvSpPr>
        <p:spPr>
          <a:xfrm>
            <a:off x="3657600" y="2148840"/>
            <a:ext cx="530352" cy="530352"/>
          </a:xfrm>
          <a:prstGeom prst="ellipse">
            <a:avLst/>
          </a:prstGeom>
          <a:solidFill>
            <a:srgbClr val="12284B"/>
          </a:solidFill>
          <a:ln/>
        </p:spPr>
        <p:txBody>
          <a:bodyPr/>
          <a:lstStyle/>
          <a:p>
            <a:endParaRPr/>
          </a:p>
        </p:txBody>
      </p:sp>
      <p:pic>
        <p:nvPicPr>
          <p:cNvPr id="11" name="Image 1" descr="C:\Users\Trey\AppData\Local\Temp\claude\c--Projects-astral-project-src-pages-eftShopping\d9389cc2-8d3b-4f0d-be7e-28501db0dc02\scratchpad\afintel\icons\sitemap_gold.png"/>
          <p:cNvPicPr>
            <a:picLocks noChangeAspect="1"/>
          </p:cNvPicPr>
          <p:nvPr/>
        </p:nvPicPr>
        <p:blipFill>
          <a:blip r:embed="rId4"/>
          <a:stretch>
            <a:fillRect/>
          </a:stretch>
        </p:blipFill>
        <p:spPr>
          <a:xfrm>
            <a:off x="3794760" y="2286000"/>
            <a:ext cx="256032" cy="256032"/>
          </a:xfrm>
          <a:prstGeom prst="rect">
            <a:avLst/>
          </a:prstGeom>
        </p:spPr>
      </p:pic>
      <p:sp>
        <p:nvSpPr>
          <p:cNvPr id="12" name="Text 8"/>
          <p:cNvSpPr txBox="1"/>
          <p:nvPr/>
        </p:nvSpPr>
        <p:spPr>
          <a:xfrm>
            <a:off x="3630168" y="2880360"/>
            <a:ext cx="2295144" cy="640080"/>
          </a:xfrm>
          <a:prstGeom prst="rect">
            <a:avLst/>
          </a:prstGeom>
          <a:noFill/>
          <a:ln/>
        </p:spPr>
        <p:txBody>
          <a:bodyPr wrap="square" rtlCol="0" anchor="ctr"/>
          <a:lstStyle/>
          <a:p>
            <a:pPr marL="0" indent="0">
              <a:lnSpc>
                <a:spcPct val="115000"/>
              </a:lnSpc>
              <a:buNone/>
            </a:pPr>
            <a:r>
              <a:rPr lang="en-US" sz="1300" b="1" dirty="0">
                <a:solidFill>
                  <a:srgbClr val="12284B"/>
                </a:solidFill>
                <a:latin typeface="Calibri" pitchFamily="34" charset="0"/>
                <a:ea typeface="Calibri" pitchFamily="34" charset="-122"/>
                <a:cs typeface="Calibri" pitchFamily="34" charset="-120"/>
              </a:rPr>
              <a:t>Fusion Analyst</a:t>
            </a:r>
            <a:endParaRPr lang="en-US" sz="1300" dirty="0"/>
          </a:p>
        </p:txBody>
      </p:sp>
      <p:sp>
        <p:nvSpPr>
          <p:cNvPr id="13" name="Text 9"/>
          <p:cNvSpPr txBox="1"/>
          <p:nvPr/>
        </p:nvSpPr>
        <p:spPr>
          <a:xfrm>
            <a:off x="3630168" y="3566160"/>
            <a:ext cx="2295144" cy="2103120"/>
          </a:xfrm>
          <a:prstGeom prst="rect">
            <a:avLst/>
          </a:prstGeom>
          <a:noFill/>
          <a:ln/>
        </p:spPr>
        <p:txBody>
          <a:bodyPr wrap="square" rtlCol="0" anchor="ctr"/>
          <a:lstStyle/>
          <a:p>
            <a:pPr marL="0" indent="0">
              <a:lnSpc>
                <a:spcPct val="130000"/>
              </a:lnSpc>
              <a:buNone/>
            </a:pPr>
            <a:r>
              <a:rPr lang="en-US" sz="1100" dirty="0">
                <a:solidFill>
                  <a:srgbClr val="5C6B82"/>
                </a:solidFill>
                <a:latin typeface="Calibri" pitchFamily="34" charset="0"/>
                <a:ea typeface="Calibri" pitchFamily="34" charset="-122"/>
                <a:cs typeface="Calibri" pitchFamily="34" charset="-120"/>
              </a:rPr>
              <a:t>Works the same layer as all-source, with a focus on real-time operational support.</a:t>
            </a:r>
            <a:endParaRPr lang="en-US" sz="1100" dirty="0"/>
          </a:p>
        </p:txBody>
      </p:sp>
      <p:sp>
        <p:nvSpPr>
          <p:cNvPr id="14" name="Shape 10"/>
          <p:cNvSpPr/>
          <p:nvPr/>
        </p:nvSpPr>
        <p:spPr>
          <a:xfrm>
            <a:off x="6309360" y="1874520"/>
            <a:ext cx="2697480" cy="3931920"/>
          </a:xfrm>
          <a:prstGeom prst="roundRect">
            <a:avLst>
              <a:gd name="adj" fmla="val 2712"/>
            </a:avLst>
          </a:prstGeom>
          <a:solidFill>
            <a:srgbClr val="FFFFFF"/>
          </a:solidFill>
          <a:ln/>
          <a:effectLst>
            <a:outerShdw blurRad="101600" dist="38100" dir="5400000" algn="bl" rotWithShape="0">
              <a:srgbClr val="0B1B34">
                <a:alpha val="35000"/>
              </a:srgbClr>
            </a:outerShdw>
          </a:effectLst>
        </p:spPr>
        <p:txBody>
          <a:bodyPr/>
          <a:lstStyle/>
          <a:p>
            <a:endParaRPr/>
          </a:p>
        </p:txBody>
      </p:sp>
      <p:sp>
        <p:nvSpPr>
          <p:cNvPr id="15" name="Shape 11"/>
          <p:cNvSpPr/>
          <p:nvPr/>
        </p:nvSpPr>
        <p:spPr>
          <a:xfrm>
            <a:off x="6537960" y="2148840"/>
            <a:ext cx="530352" cy="530352"/>
          </a:xfrm>
          <a:prstGeom prst="ellipse">
            <a:avLst/>
          </a:prstGeom>
          <a:solidFill>
            <a:srgbClr val="12284B"/>
          </a:solidFill>
          <a:ln/>
        </p:spPr>
        <p:txBody>
          <a:bodyPr/>
          <a:lstStyle/>
          <a:p>
            <a:endParaRPr/>
          </a:p>
        </p:txBody>
      </p:sp>
      <p:pic>
        <p:nvPicPr>
          <p:cNvPr id="16" name="Image 2" descr="C:\Users\Trey\AppData\Local\Temp\claude\c--Projects-astral-project-src-pages-eftShopping\d9389cc2-8d3b-4f0d-be7e-28501db0dc02\scratchpad\afintel\icons\clipboardcheck_gold.png"/>
          <p:cNvPicPr>
            <a:picLocks noChangeAspect="1"/>
          </p:cNvPicPr>
          <p:nvPr/>
        </p:nvPicPr>
        <p:blipFill>
          <a:blip r:embed="rId5"/>
          <a:stretch>
            <a:fillRect/>
          </a:stretch>
        </p:blipFill>
        <p:spPr>
          <a:xfrm>
            <a:off x="6675120" y="2286000"/>
            <a:ext cx="256032" cy="256032"/>
          </a:xfrm>
          <a:prstGeom prst="rect">
            <a:avLst/>
          </a:prstGeom>
        </p:spPr>
      </p:pic>
      <p:sp>
        <p:nvSpPr>
          <p:cNvPr id="17" name="Text 12"/>
          <p:cNvSpPr txBox="1"/>
          <p:nvPr/>
        </p:nvSpPr>
        <p:spPr>
          <a:xfrm>
            <a:off x="6510528" y="2880360"/>
            <a:ext cx="2295144" cy="640080"/>
          </a:xfrm>
          <a:prstGeom prst="rect">
            <a:avLst/>
          </a:prstGeom>
          <a:noFill/>
          <a:ln/>
        </p:spPr>
        <p:txBody>
          <a:bodyPr wrap="square" rtlCol="0" anchor="ctr"/>
          <a:lstStyle/>
          <a:p>
            <a:pPr marL="0" indent="0">
              <a:lnSpc>
                <a:spcPct val="115000"/>
              </a:lnSpc>
              <a:buNone/>
            </a:pPr>
            <a:r>
              <a:rPr lang="en-US" sz="1300" b="1" dirty="0">
                <a:solidFill>
                  <a:srgbClr val="12284B"/>
                </a:solidFill>
                <a:latin typeface="Calibri" pitchFamily="34" charset="0"/>
                <a:ea typeface="Calibri" pitchFamily="34" charset="-122"/>
                <a:cs typeface="Calibri" pitchFamily="34" charset="-120"/>
              </a:rPr>
              <a:t>Collection Management</a:t>
            </a:r>
            <a:endParaRPr lang="en-US" sz="1300" dirty="0"/>
          </a:p>
        </p:txBody>
      </p:sp>
      <p:sp>
        <p:nvSpPr>
          <p:cNvPr id="18" name="Text 13"/>
          <p:cNvSpPr txBox="1"/>
          <p:nvPr/>
        </p:nvSpPr>
        <p:spPr>
          <a:xfrm>
            <a:off x="6510528" y="3566160"/>
            <a:ext cx="2295144" cy="2103120"/>
          </a:xfrm>
          <a:prstGeom prst="rect">
            <a:avLst/>
          </a:prstGeom>
          <a:noFill/>
          <a:ln/>
        </p:spPr>
        <p:txBody>
          <a:bodyPr wrap="square" rtlCol="0" anchor="ctr"/>
          <a:lstStyle/>
          <a:p>
            <a:pPr marL="0" indent="0">
              <a:lnSpc>
                <a:spcPct val="130000"/>
              </a:lnSpc>
              <a:buNone/>
            </a:pPr>
            <a:r>
              <a:rPr lang="en-US" sz="1100" dirty="0">
                <a:solidFill>
                  <a:srgbClr val="5C6B82"/>
                </a:solidFill>
                <a:latin typeface="Calibri" pitchFamily="34" charset="0"/>
                <a:ea typeface="Calibri" pitchFamily="34" charset="-122"/>
                <a:cs typeface="Calibri" pitchFamily="34" charset="-120"/>
              </a:rPr>
              <a:t>Decides which sensor or source gets tasked to close which intelligence gap.</a:t>
            </a:r>
            <a:endParaRPr lang="en-US" sz="1100" dirty="0"/>
          </a:p>
        </p:txBody>
      </p:sp>
      <p:sp>
        <p:nvSpPr>
          <p:cNvPr id="19" name="Shape 14"/>
          <p:cNvSpPr/>
          <p:nvPr/>
        </p:nvSpPr>
        <p:spPr>
          <a:xfrm>
            <a:off x="9189720" y="1874520"/>
            <a:ext cx="2697480" cy="3931920"/>
          </a:xfrm>
          <a:prstGeom prst="roundRect">
            <a:avLst>
              <a:gd name="adj" fmla="val 2712"/>
            </a:avLst>
          </a:prstGeom>
          <a:solidFill>
            <a:srgbClr val="FFFFFF"/>
          </a:solidFill>
          <a:ln/>
          <a:effectLst>
            <a:outerShdw blurRad="101600" dist="38100" dir="5400000" algn="bl" rotWithShape="0">
              <a:srgbClr val="0B1B34">
                <a:alpha val="35000"/>
              </a:srgbClr>
            </a:outerShdw>
          </a:effectLst>
        </p:spPr>
        <p:txBody>
          <a:bodyPr/>
          <a:lstStyle/>
          <a:p>
            <a:endParaRPr/>
          </a:p>
        </p:txBody>
      </p:sp>
      <p:sp>
        <p:nvSpPr>
          <p:cNvPr id="20" name="Shape 15"/>
          <p:cNvSpPr/>
          <p:nvPr/>
        </p:nvSpPr>
        <p:spPr>
          <a:xfrm>
            <a:off x="9418320" y="2148840"/>
            <a:ext cx="530352" cy="530352"/>
          </a:xfrm>
          <a:prstGeom prst="ellipse">
            <a:avLst/>
          </a:prstGeom>
          <a:solidFill>
            <a:srgbClr val="12284B"/>
          </a:solidFill>
          <a:ln/>
        </p:spPr>
        <p:txBody>
          <a:bodyPr/>
          <a:lstStyle/>
          <a:p>
            <a:endParaRPr/>
          </a:p>
        </p:txBody>
      </p:sp>
      <p:pic>
        <p:nvPicPr>
          <p:cNvPr id="21" name="Image 3" descr="C:\Users\Trey\AppData\Local\Temp\claude\c--Projects-astral-project-src-pages-eftShopping\d9389cc2-8d3b-4f0d-be7e-28501db0dc02\scratchpad\afintel\icons\usersecret_gold.png"/>
          <p:cNvPicPr>
            <a:picLocks noChangeAspect="1"/>
          </p:cNvPicPr>
          <p:nvPr/>
        </p:nvPicPr>
        <p:blipFill>
          <a:blip r:embed="rId6"/>
          <a:stretch>
            <a:fillRect/>
          </a:stretch>
        </p:blipFill>
        <p:spPr>
          <a:xfrm>
            <a:off x="9555480" y="2286000"/>
            <a:ext cx="256032" cy="256032"/>
          </a:xfrm>
          <a:prstGeom prst="rect">
            <a:avLst/>
          </a:prstGeom>
        </p:spPr>
      </p:pic>
      <p:sp>
        <p:nvSpPr>
          <p:cNvPr id="22" name="Text 16"/>
          <p:cNvSpPr txBox="1"/>
          <p:nvPr/>
        </p:nvSpPr>
        <p:spPr>
          <a:xfrm>
            <a:off x="9390888" y="2880360"/>
            <a:ext cx="2295144" cy="640080"/>
          </a:xfrm>
          <a:prstGeom prst="rect">
            <a:avLst/>
          </a:prstGeom>
          <a:noFill/>
          <a:ln/>
        </p:spPr>
        <p:txBody>
          <a:bodyPr wrap="square" rtlCol="0" anchor="ctr"/>
          <a:lstStyle/>
          <a:p>
            <a:pPr marL="0" indent="0">
              <a:lnSpc>
                <a:spcPct val="115000"/>
              </a:lnSpc>
              <a:buNone/>
            </a:pPr>
            <a:r>
              <a:rPr lang="en-US" sz="1300" b="1" dirty="0">
                <a:solidFill>
                  <a:srgbClr val="12284B"/>
                </a:solidFill>
                <a:latin typeface="Calibri" pitchFamily="34" charset="0"/>
                <a:ea typeface="Calibri" pitchFamily="34" charset="-122"/>
                <a:cs typeface="Calibri" pitchFamily="34" charset="-120"/>
              </a:rPr>
              <a:t>HUMINT / Special Access</a:t>
            </a:r>
            <a:endParaRPr lang="en-US" sz="1300" dirty="0"/>
          </a:p>
        </p:txBody>
      </p:sp>
      <p:sp>
        <p:nvSpPr>
          <p:cNvPr id="23" name="Text 17"/>
          <p:cNvSpPr txBox="1"/>
          <p:nvPr/>
        </p:nvSpPr>
        <p:spPr>
          <a:xfrm>
            <a:off x="9390888" y="3566160"/>
            <a:ext cx="2295144" cy="2103120"/>
          </a:xfrm>
          <a:prstGeom prst="rect">
            <a:avLst/>
          </a:prstGeom>
          <a:noFill/>
          <a:ln/>
        </p:spPr>
        <p:txBody>
          <a:bodyPr wrap="square" rtlCol="0" anchor="ctr"/>
          <a:lstStyle/>
          <a:p>
            <a:pPr marL="0" indent="0">
              <a:lnSpc>
                <a:spcPct val="130000"/>
              </a:lnSpc>
              <a:buNone/>
            </a:pPr>
            <a:r>
              <a:rPr lang="en-US" sz="1100" dirty="0">
                <a:solidFill>
                  <a:srgbClr val="5C6B82"/>
                </a:solidFill>
                <a:latin typeface="Calibri" pitchFamily="34" charset="0"/>
                <a:ea typeface="Calibri" pitchFamily="34" charset="-122"/>
                <a:cs typeface="Calibri" pitchFamily="34" charset="-120"/>
              </a:rPr>
              <a:t>Source-handling and highly compartmented programs — additional vetting required.</a:t>
            </a:r>
            <a:endParaRPr lang="en-US" sz="1100" dirty="0"/>
          </a:p>
        </p:txBody>
      </p:sp>
      <p:sp>
        <p:nvSpPr>
          <p:cNvPr id="24" name="Text 18"/>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5C6B8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ON THE JOB</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12284B"/>
                </a:solidFill>
                <a:latin typeface="Cambria" pitchFamily="34" charset="0"/>
                <a:ea typeface="Cambria" pitchFamily="34" charset="-122"/>
                <a:cs typeface="Cambria" pitchFamily="34" charset="-120"/>
              </a:rPr>
              <a:t>A day in the life</a:t>
            </a:r>
            <a:endParaRPr lang="en-US" sz="3200" dirty="0"/>
          </a:p>
        </p:txBody>
      </p:sp>
      <p:sp>
        <p:nvSpPr>
          <p:cNvPr id="4" name="Text 2"/>
          <p:cNvSpPr txBox="1"/>
          <p:nvPr/>
        </p:nvSpPr>
        <p:spPr>
          <a:xfrm>
            <a:off x="548640" y="1371600"/>
            <a:ext cx="10515600" cy="411480"/>
          </a:xfrm>
          <a:prstGeom prst="rect">
            <a:avLst/>
          </a:prstGeom>
          <a:noFill/>
          <a:ln/>
        </p:spPr>
        <p:txBody>
          <a:bodyPr wrap="square" rtlCol="0" anchor="ctr"/>
          <a:lstStyle/>
          <a:p>
            <a:pPr marL="0" indent="0">
              <a:buNone/>
            </a:pPr>
            <a:r>
              <a:rPr lang="en-US" sz="1300" i="1" dirty="0">
                <a:solidFill>
                  <a:srgbClr val="5C6B82"/>
                </a:solidFill>
                <a:latin typeface="Calibri" pitchFamily="34" charset="0"/>
                <a:ea typeface="Calibri" pitchFamily="34" charset="-122"/>
                <a:cs typeface="Calibri" pitchFamily="34" charset="-120"/>
              </a:rPr>
              <a:t>14N officers are attached to the Operations Group at a flying wing — the day runs on the flying schedule, not a clock.</a:t>
            </a:r>
            <a:endParaRPr lang="en-US" sz="1300" dirty="0"/>
          </a:p>
        </p:txBody>
      </p:sp>
      <p:sp>
        <p:nvSpPr>
          <p:cNvPr id="5" name="Shape 3"/>
          <p:cNvSpPr/>
          <p:nvPr/>
        </p:nvSpPr>
        <p:spPr>
          <a:xfrm>
            <a:off x="548640" y="2148840"/>
            <a:ext cx="10881360" cy="777240"/>
          </a:xfrm>
          <a:prstGeom prst="roundRect">
            <a:avLst>
              <a:gd name="adj" fmla="val 8235"/>
            </a:avLst>
          </a:prstGeom>
          <a:solidFill>
            <a:srgbClr val="F4F6FA"/>
          </a:solidFill>
          <a:ln/>
        </p:spPr>
        <p:txBody>
          <a:bodyPr/>
          <a:lstStyle/>
          <a:p>
            <a:endParaRPr/>
          </a:p>
        </p:txBody>
      </p:sp>
      <p:sp>
        <p:nvSpPr>
          <p:cNvPr id="6" name="Shape 4"/>
          <p:cNvSpPr/>
          <p:nvPr/>
        </p:nvSpPr>
        <p:spPr>
          <a:xfrm>
            <a:off x="731520" y="2258568"/>
            <a:ext cx="548640" cy="548640"/>
          </a:xfrm>
          <a:prstGeom prst="ellipse">
            <a:avLst/>
          </a:prstGeom>
          <a:solidFill>
            <a:srgbClr val="12284B"/>
          </a:solidFill>
          <a:ln/>
        </p:spPr>
        <p:txBody>
          <a:bodyPr/>
          <a:lstStyle/>
          <a:p>
            <a:endParaRPr/>
          </a:p>
        </p:txBody>
      </p:sp>
      <p:pic>
        <p:nvPicPr>
          <p:cNvPr id="7" name="Image 0" descr="C:\Users\Trey\AppData\Local\Temp\claude\c--Projects-astral-project-src-pages-eftShopping\d9389cc2-8d3b-4f0d-be7e-28501db0dc02\scratchpad\afintel\icons\clipboard_gold.png"/>
          <p:cNvPicPr>
            <a:picLocks noChangeAspect="1"/>
          </p:cNvPicPr>
          <p:nvPr/>
        </p:nvPicPr>
        <p:blipFill>
          <a:blip r:embed="rId3"/>
          <a:stretch>
            <a:fillRect/>
          </a:stretch>
        </p:blipFill>
        <p:spPr>
          <a:xfrm>
            <a:off x="868680" y="2395728"/>
            <a:ext cx="274320" cy="274320"/>
          </a:xfrm>
          <a:prstGeom prst="rect">
            <a:avLst/>
          </a:prstGeom>
        </p:spPr>
      </p:pic>
      <p:sp>
        <p:nvSpPr>
          <p:cNvPr id="8" name="Text 5"/>
          <p:cNvSpPr txBox="1"/>
          <p:nvPr/>
        </p:nvSpPr>
        <p:spPr>
          <a:xfrm>
            <a:off x="1508760" y="2221992"/>
            <a:ext cx="3108960" cy="640080"/>
          </a:xfrm>
          <a:prstGeom prst="rect">
            <a:avLst/>
          </a:prstGeom>
          <a:noFill/>
          <a:ln/>
        </p:spPr>
        <p:txBody>
          <a:bodyPr wrap="square" rtlCol="0" anchor="ctr"/>
          <a:lstStyle/>
          <a:p>
            <a:pPr marL="0" indent="0">
              <a:buNone/>
            </a:pPr>
            <a:r>
              <a:rPr lang="en-US" sz="1350" b="1" dirty="0">
                <a:solidFill>
                  <a:srgbClr val="12284B"/>
                </a:solidFill>
                <a:latin typeface="Calibri" pitchFamily="34" charset="0"/>
                <a:ea typeface="Calibri" pitchFamily="34" charset="-122"/>
                <a:cs typeface="Calibri" pitchFamily="34" charset="-120"/>
              </a:rPr>
              <a:t>Pre-mission threat brief</a:t>
            </a:r>
            <a:endParaRPr lang="en-US" sz="1350" dirty="0"/>
          </a:p>
        </p:txBody>
      </p:sp>
      <p:sp>
        <p:nvSpPr>
          <p:cNvPr id="9" name="Text 6"/>
          <p:cNvSpPr txBox="1"/>
          <p:nvPr/>
        </p:nvSpPr>
        <p:spPr>
          <a:xfrm>
            <a:off x="4754880" y="2221992"/>
            <a:ext cx="6492240" cy="640080"/>
          </a:xfrm>
          <a:prstGeom prst="rect">
            <a:avLst/>
          </a:prstGeom>
          <a:noFill/>
          <a:ln/>
        </p:spPr>
        <p:txBody>
          <a:bodyPr wrap="square" rtlCol="0" anchor="ctr"/>
          <a:lstStyle/>
          <a:p>
            <a:pPr marL="0" indent="0">
              <a:lnSpc>
                <a:spcPct val="115000"/>
              </a:lnSpc>
              <a:buNone/>
            </a:pPr>
            <a:r>
              <a:rPr lang="en-US" sz="1200" dirty="0">
                <a:solidFill>
                  <a:srgbClr val="1B2430"/>
                </a:solidFill>
                <a:latin typeface="Calibri" pitchFamily="34" charset="0"/>
                <a:ea typeface="Calibri" pitchFamily="34" charset="-122"/>
                <a:cs typeface="Calibri" pitchFamily="34" charset="-120"/>
              </a:rPr>
              <a:t>Walk aircrew through the current threat picture before they step to the jet.</a:t>
            </a:r>
            <a:endParaRPr lang="en-US" sz="1200" dirty="0"/>
          </a:p>
        </p:txBody>
      </p:sp>
      <p:sp>
        <p:nvSpPr>
          <p:cNvPr id="10" name="Shape 7"/>
          <p:cNvSpPr/>
          <p:nvPr/>
        </p:nvSpPr>
        <p:spPr>
          <a:xfrm>
            <a:off x="548640" y="3108960"/>
            <a:ext cx="10881360" cy="777240"/>
          </a:xfrm>
          <a:prstGeom prst="roundRect">
            <a:avLst>
              <a:gd name="adj" fmla="val 8235"/>
            </a:avLst>
          </a:prstGeom>
          <a:solidFill>
            <a:srgbClr val="FFFFFF"/>
          </a:solidFill>
          <a:ln/>
        </p:spPr>
        <p:txBody>
          <a:bodyPr/>
          <a:lstStyle/>
          <a:p>
            <a:endParaRPr/>
          </a:p>
        </p:txBody>
      </p:sp>
      <p:sp>
        <p:nvSpPr>
          <p:cNvPr id="11" name="Shape 8"/>
          <p:cNvSpPr/>
          <p:nvPr/>
        </p:nvSpPr>
        <p:spPr>
          <a:xfrm>
            <a:off x="731520" y="3218688"/>
            <a:ext cx="548640" cy="548640"/>
          </a:xfrm>
          <a:prstGeom prst="ellipse">
            <a:avLst/>
          </a:prstGeom>
          <a:solidFill>
            <a:srgbClr val="12284B"/>
          </a:solidFill>
          <a:ln/>
        </p:spPr>
        <p:txBody>
          <a:bodyPr/>
          <a:lstStyle/>
          <a:p>
            <a:endParaRPr/>
          </a:p>
        </p:txBody>
      </p:sp>
      <p:pic>
        <p:nvPicPr>
          <p:cNvPr id="12" name="Image 1" descr="C:\Users\Trey\AppData\Local\Temp\claude\c--Projects-astral-project-src-pages-eftShopping\d9389cc2-8d3b-4f0d-be7e-28501db0dc02\scratchpad\afintel\icons\sitemap_gold.png"/>
          <p:cNvPicPr>
            <a:picLocks noChangeAspect="1"/>
          </p:cNvPicPr>
          <p:nvPr/>
        </p:nvPicPr>
        <p:blipFill>
          <a:blip r:embed="rId4"/>
          <a:stretch>
            <a:fillRect/>
          </a:stretch>
        </p:blipFill>
        <p:spPr>
          <a:xfrm>
            <a:off x="868680" y="3355848"/>
            <a:ext cx="274320" cy="274320"/>
          </a:xfrm>
          <a:prstGeom prst="rect">
            <a:avLst/>
          </a:prstGeom>
        </p:spPr>
      </p:pic>
      <p:sp>
        <p:nvSpPr>
          <p:cNvPr id="13" name="Text 9"/>
          <p:cNvSpPr txBox="1"/>
          <p:nvPr/>
        </p:nvSpPr>
        <p:spPr>
          <a:xfrm>
            <a:off x="1508760" y="3182112"/>
            <a:ext cx="3108960" cy="640080"/>
          </a:xfrm>
          <a:prstGeom prst="rect">
            <a:avLst/>
          </a:prstGeom>
          <a:noFill/>
          <a:ln/>
        </p:spPr>
        <p:txBody>
          <a:bodyPr wrap="square" rtlCol="0" anchor="ctr"/>
          <a:lstStyle/>
          <a:p>
            <a:pPr marL="0" indent="0">
              <a:buNone/>
            </a:pPr>
            <a:r>
              <a:rPr lang="en-US" sz="1350" b="1" dirty="0">
                <a:solidFill>
                  <a:srgbClr val="12284B"/>
                </a:solidFill>
                <a:latin typeface="Calibri" pitchFamily="34" charset="0"/>
                <a:ea typeface="Calibri" pitchFamily="34" charset="-122"/>
                <a:cs typeface="Calibri" pitchFamily="34" charset="-120"/>
              </a:rPr>
              <a:t>All-source analysis</a:t>
            </a:r>
            <a:endParaRPr lang="en-US" sz="1350" dirty="0"/>
          </a:p>
        </p:txBody>
      </p:sp>
      <p:sp>
        <p:nvSpPr>
          <p:cNvPr id="14" name="Text 10"/>
          <p:cNvSpPr txBox="1"/>
          <p:nvPr/>
        </p:nvSpPr>
        <p:spPr>
          <a:xfrm>
            <a:off x="4754880" y="3182112"/>
            <a:ext cx="6492240" cy="640080"/>
          </a:xfrm>
          <a:prstGeom prst="rect">
            <a:avLst/>
          </a:prstGeom>
          <a:noFill/>
          <a:ln/>
        </p:spPr>
        <p:txBody>
          <a:bodyPr wrap="square" rtlCol="0" anchor="ctr"/>
          <a:lstStyle/>
          <a:p>
            <a:pPr marL="0" indent="0">
              <a:lnSpc>
                <a:spcPct val="115000"/>
              </a:lnSpc>
              <a:buNone/>
            </a:pPr>
            <a:r>
              <a:rPr lang="en-US" sz="1200" dirty="0">
                <a:solidFill>
                  <a:srgbClr val="1B2430"/>
                </a:solidFill>
                <a:latin typeface="Calibri" pitchFamily="34" charset="0"/>
                <a:ea typeface="Calibri" pitchFamily="34" charset="-122"/>
                <a:cs typeface="Calibri" pitchFamily="34" charset="-120"/>
              </a:rPr>
              <a:t>Fuse overnight reporting across every INT into an updated assessment.</a:t>
            </a:r>
            <a:endParaRPr lang="en-US" sz="1200" dirty="0"/>
          </a:p>
        </p:txBody>
      </p:sp>
      <p:sp>
        <p:nvSpPr>
          <p:cNvPr id="15" name="Shape 11"/>
          <p:cNvSpPr/>
          <p:nvPr/>
        </p:nvSpPr>
        <p:spPr>
          <a:xfrm>
            <a:off x="548640" y="4069080"/>
            <a:ext cx="10881360" cy="777240"/>
          </a:xfrm>
          <a:prstGeom prst="roundRect">
            <a:avLst>
              <a:gd name="adj" fmla="val 8235"/>
            </a:avLst>
          </a:prstGeom>
          <a:solidFill>
            <a:srgbClr val="F4F6FA"/>
          </a:solidFill>
          <a:ln/>
        </p:spPr>
        <p:txBody>
          <a:bodyPr/>
          <a:lstStyle/>
          <a:p>
            <a:endParaRPr/>
          </a:p>
        </p:txBody>
      </p:sp>
      <p:sp>
        <p:nvSpPr>
          <p:cNvPr id="16" name="Shape 12"/>
          <p:cNvSpPr/>
          <p:nvPr/>
        </p:nvSpPr>
        <p:spPr>
          <a:xfrm>
            <a:off x="731520" y="4178808"/>
            <a:ext cx="548640" cy="548640"/>
          </a:xfrm>
          <a:prstGeom prst="ellipse">
            <a:avLst/>
          </a:prstGeom>
          <a:solidFill>
            <a:srgbClr val="12284B"/>
          </a:solidFill>
          <a:ln/>
        </p:spPr>
        <p:txBody>
          <a:bodyPr/>
          <a:lstStyle/>
          <a:p>
            <a:endParaRPr/>
          </a:p>
        </p:txBody>
      </p:sp>
      <p:pic>
        <p:nvPicPr>
          <p:cNvPr id="17" name="Image 2" descr="C:\Users\Trey\AppData\Local\Temp\claude\c--Projects-astral-project-src-pages-eftShopping\d9389cc2-8d3b-4f0d-be7e-28501db0dc02\scratchpad\afintel\icons\users_gold.png"/>
          <p:cNvPicPr>
            <a:picLocks noChangeAspect="1"/>
          </p:cNvPicPr>
          <p:nvPr/>
        </p:nvPicPr>
        <p:blipFill>
          <a:blip r:embed="rId5"/>
          <a:stretch>
            <a:fillRect/>
          </a:stretch>
        </p:blipFill>
        <p:spPr>
          <a:xfrm>
            <a:off x="868680" y="4315968"/>
            <a:ext cx="274320" cy="274320"/>
          </a:xfrm>
          <a:prstGeom prst="rect">
            <a:avLst/>
          </a:prstGeom>
        </p:spPr>
      </p:pic>
      <p:sp>
        <p:nvSpPr>
          <p:cNvPr id="18" name="Text 13"/>
          <p:cNvSpPr txBox="1"/>
          <p:nvPr/>
        </p:nvSpPr>
        <p:spPr>
          <a:xfrm>
            <a:off x="1508760" y="4142232"/>
            <a:ext cx="3108960" cy="640080"/>
          </a:xfrm>
          <a:prstGeom prst="rect">
            <a:avLst/>
          </a:prstGeom>
          <a:noFill/>
          <a:ln/>
        </p:spPr>
        <p:txBody>
          <a:bodyPr wrap="square" rtlCol="0" anchor="ctr"/>
          <a:lstStyle/>
          <a:p>
            <a:pPr marL="0" indent="0">
              <a:buNone/>
            </a:pPr>
            <a:r>
              <a:rPr lang="en-US" sz="1350" b="1" dirty="0">
                <a:solidFill>
                  <a:srgbClr val="12284B"/>
                </a:solidFill>
                <a:latin typeface="Calibri" pitchFamily="34" charset="0"/>
                <a:ea typeface="Calibri" pitchFamily="34" charset="-122"/>
                <a:cs typeface="Calibri" pitchFamily="34" charset="-120"/>
              </a:rPr>
              <a:t>Manage production</a:t>
            </a:r>
            <a:endParaRPr lang="en-US" sz="1350" dirty="0"/>
          </a:p>
        </p:txBody>
      </p:sp>
      <p:sp>
        <p:nvSpPr>
          <p:cNvPr id="19" name="Text 14"/>
          <p:cNvSpPr txBox="1"/>
          <p:nvPr/>
        </p:nvSpPr>
        <p:spPr>
          <a:xfrm>
            <a:off x="4754880" y="4142232"/>
            <a:ext cx="6492240" cy="640080"/>
          </a:xfrm>
          <a:prstGeom prst="rect">
            <a:avLst/>
          </a:prstGeom>
          <a:noFill/>
          <a:ln/>
        </p:spPr>
        <p:txBody>
          <a:bodyPr wrap="square" rtlCol="0" anchor="ctr"/>
          <a:lstStyle/>
          <a:p>
            <a:pPr marL="0" indent="0">
              <a:lnSpc>
                <a:spcPct val="115000"/>
              </a:lnSpc>
              <a:buNone/>
            </a:pPr>
            <a:r>
              <a:rPr lang="en-US" sz="1200" dirty="0">
                <a:solidFill>
                  <a:srgbClr val="1B2430"/>
                </a:solidFill>
                <a:latin typeface="Calibri" pitchFamily="34" charset="0"/>
                <a:ea typeface="Calibri" pitchFamily="34" charset="-122"/>
                <a:cs typeface="Calibri" pitchFamily="34" charset="-120"/>
              </a:rPr>
              <a:t>Direct the analysts building the unit’s intelligence products.</a:t>
            </a:r>
            <a:endParaRPr lang="en-US" sz="1200" dirty="0"/>
          </a:p>
        </p:txBody>
      </p:sp>
      <p:sp>
        <p:nvSpPr>
          <p:cNvPr id="20" name="Shape 15"/>
          <p:cNvSpPr/>
          <p:nvPr/>
        </p:nvSpPr>
        <p:spPr>
          <a:xfrm>
            <a:off x="548640" y="5029200"/>
            <a:ext cx="10881360" cy="777240"/>
          </a:xfrm>
          <a:prstGeom prst="roundRect">
            <a:avLst>
              <a:gd name="adj" fmla="val 8235"/>
            </a:avLst>
          </a:prstGeom>
          <a:solidFill>
            <a:srgbClr val="FFFFFF"/>
          </a:solidFill>
          <a:ln/>
        </p:spPr>
        <p:txBody>
          <a:bodyPr/>
          <a:lstStyle/>
          <a:p>
            <a:endParaRPr/>
          </a:p>
        </p:txBody>
      </p:sp>
      <p:sp>
        <p:nvSpPr>
          <p:cNvPr id="21" name="Shape 16"/>
          <p:cNvSpPr/>
          <p:nvPr/>
        </p:nvSpPr>
        <p:spPr>
          <a:xfrm>
            <a:off x="731520" y="5138928"/>
            <a:ext cx="548640" cy="548640"/>
          </a:xfrm>
          <a:prstGeom prst="ellipse">
            <a:avLst/>
          </a:prstGeom>
          <a:solidFill>
            <a:srgbClr val="12284B"/>
          </a:solidFill>
          <a:ln/>
        </p:spPr>
        <p:txBody>
          <a:bodyPr/>
          <a:lstStyle/>
          <a:p>
            <a:endParaRPr/>
          </a:p>
        </p:txBody>
      </p:sp>
      <p:pic>
        <p:nvPicPr>
          <p:cNvPr id="22" name="Image 3" descr="C:\Users\Trey\AppData\Local\Temp\claude\c--Projects-astral-project-src-pages-eftShopping\d9389cc2-8d3b-4f0d-be7e-28501db0dc02\scratchpad\afintel\icons\shield_gold.png"/>
          <p:cNvPicPr>
            <a:picLocks noChangeAspect="1"/>
          </p:cNvPicPr>
          <p:nvPr/>
        </p:nvPicPr>
        <p:blipFill>
          <a:blip r:embed="rId6"/>
          <a:stretch>
            <a:fillRect/>
          </a:stretch>
        </p:blipFill>
        <p:spPr>
          <a:xfrm>
            <a:off x="868680" y="5276088"/>
            <a:ext cx="274320" cy="274320"/>
          </a:xfrm>
          <a:prstGeom prst="rect">
            <a:avLst/>
          </a:prstGeom>
        </p:spPr>
      </p:pic>
      <p:sp>
        <p:nvSpPr>
          <p:cNvPr id="23" name="Text 17"/>
          <p:cNvSpPr txBox="1"/>
          <p:nvPr/>
        </p:nvSpPr>
        <p:spPr>
          <a:xfrm>
            <a:off x="1508760" y="5102352"/>
            <a:ext cx="3108960" cy="640080"/>
          </a:xfrm>
          <a:prstGeom prst="rect">
            <a:avLst/>
          </a:prstGeom>
          <a:noFill/>
          <a:ln/>
        </p:spPr>
        <p:txBody>
          <a:bodyPr wrap="square" rtlCol="0" anchor="ctr"/>
          <a:lstStyle/>
          <a:p>
            <a:pPr marL="0" indent="0">
              <a:buNone/>
            </a:pPr>
            <a:r>
              <a:rPr lang="en-US" sz="1350" b="1" dirty="0">
                <a:solidFill>
                  <a:srgbClr val="12284B"/>
                </a:solidFill>
                <a:latin typeface="Calibri" pitchFamily="34" charset="0"/>
                <a:ea typeface="Calibri" pitchFamily="34" charset="-122"/>
                <a:cs typeface="Calibri" pitchFamily="34" charset="-120"/>
              </a:rPr>
              <a:t>Post-mission debrief</a:t>
            </a:r>
            <a:endParaRPr lang="en-US" sz="1350" dirty="0"/>
          </a:p>
        </p:txBody>
      </p:sp>
      <p:sp>
        <p:nvSpPr>
          <p:cNvPr id="24" name="Text 18"/>
          <p:cNvSpPr txBox="1"/>
          <p:nvPr/>
        </p:nvSpPr>
        <p:spPr>
          <a:xfrm>
            <a:off x="4754880" y="5102352"/>
            <a:ext cx="6492240" cy="640080"/>
          </a:xfrm>
          <a:prstGeom prst="rect">
            <a:avLst/>
          </a:prstGeom>
          <a:noFill/>
          <a:ln/>
        </p:spPr>
        <p:txBody>
          <a:bodyPr wrap="square" rtlCol="0" anchor="ctr"/>
          <a:lstStyle/>
          <a:p>
            <a:pPr marL="0" indent="0">
              <a:lnSpc>
                <a:spcPct val="115000"/>
              </a:lnSpc>
              <a:buNone/>
            </a:pPr>
            <a:r>
              <a:rPr lang="en-US" sz="1200" dirty="0">
                <a:solidFill>
                  <a:srgbClr val="1B2430"/>
                </a:solidFill>
                <a:latin typeface="Calibri" pitchFamily="34" charset="0"/>
                <a:ea typeface="Calibri" pitchFamily="34" charset="-122"/>
                <a:cs typeface="Calibri" pitchFamily="34" charset="-120"/>
              </a:rPr>
              <a:t>Capture what aircrew observed and feed it back into the picture.</a:t>
            </a:r>
            <a:endParaRPr lang="en-US" sz="1200" dirty="0"/>
          </a:p>
        </p:txBody>
      </p:sp>
      <p:sp>
        <p:nvSpPr>
          <p:cNvPr id="25" name="Text 19"/>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5C6B8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84B"/>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BIGGER PICTURE</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FFFFFF"/>
                </a:solidFill>
                <a:latin typeface="Cambria" pitchFamily="34" charset="0"/>
                <a:ea typeface="Cambria" pitchFamily="34" charset="-122"/>
                <a:cs typeface="Cambria" pitchFamily="34" charset="-120"/>
              </a:rPr>
              <a:t>Where Intel fits Air Force-wide</a:t>
            </a:r>
            <a:endParaRPr lang="en-US" sz="3200" dirty="0"/>
          </a:p>
        </p:txBody>
      </p:sp>
      <p:sp>
        <p:nvSpPr>
          <p:cNvPr id="4" name="Shape 2"/>
          <p:cNvSpPr/>
          <p:nvPr/>
        </p:nvSpPr>
        <p:spPr>
          <a:xfrm>
            <a:off x="594360" y="2011680"/>
            <a:ext cx="3429000" cy="3566160"/>
          </a:xfrm>
          <a:prstGeom prst="roundRect">
            <a:avLst>
              <a:gd name="adj" fmla="val 2667"/>
            </a:avLst>
          </a:prstGeom>
          <a:solidFill>
            <a:srgbClr val="17325C"/>
          </a:solidFill>
          <a:ln/>
          <a:effectLst>
            <a:outerShdw blurRad="101600" dist="38100" dir="5400000" algn="bl" rotWithShape="0">
              <a:srgbClr val="0B1B34">
                <a:alpha val="35000"/>
              </a:srgbClr>
            </a:outerShdw>
          </a:effectLst>
        </p:spPr>
        <p:txBody>
          <a:bodyPr/>
          <a:lstStyle/>
          <a:p>
            <a:endParaRPr/>
          </a:p>
        </p:txBody>
      </p:sp>
      <p:sp>
        <p:nvSpPr>
          <p:cNvPr id="5" name="Shape 3"/>
          <p:cNvSpPr/>
          <p:nvPr/>
        </p:nvSpPr>
        <p:spPr>
          <a:xfrm>
            <a:off x="2011680" y="2331720"/>
            <a:ext cx="594360" cy="594360"/>
          </a:xfrm>
          <a:prstGeom prst="ellipse">
            <a:avLst/>
          </a:prstGeom>
          <a:solidFill>
            <a:srgbClr val="0B1B34"/>
          </a:solidFill>
          <a:ln/>
        </p:spPr>
        <p:txBody>
          <a:bodyPr/>
          <a:lstStyle/>
          <a:p>
            <a:endParaRPr/>
          </a:p>
        </p:txBody>
      </p:sp>
      <p:pic>
        <p:nvPicPr>
          <p:cNvPr id="6" name="Image 0" descr="C:\Users\Trey\AppData\Local\Temp\claude\c--Projects-astral-project-src-pages-eftShopping\d9389cc2-8d3b-4f0d-be7e-28501db0dc02\scratchpad\afintel\icons\jet_gold.png"/>
          <p:cNvPicPr>
            <a:picLocks noChangeAspect="1"/>
          </p:cNvPicPr>
          <p:nvPr/>
        </p:nvPicPr>
        <p:blipFill>
          <a:blip r:embed="rId3"/>
          <a:stretch>
            <a:fillRect/>
          </a:stretch>
        </p:blipFill>
        <p:spPr>
          <a:xfrm>
            <a:off x="2148840" y="2468880"/>
            <a:ext cx="320040" cy="320040"/>
          </a:xfrm>
          <a:prstGeom prst="rect">
            <a:avLst/>
          </a:prstGeom>
        </p:spPr>
      </p:pic>
      <p:sp>
        <p:nvSpPr>
          <p:cNvPr id="7" name="Text 4"/>
          <p:cNvSpPr txBox="1"/>
          <p:nvPr/>
        </p:nvSpPr>
        <p:spPr>
          <a:xfrm>
            <a:off x="777240" y="3154680"/>
            <a:ext cx="3063240" cy="502920"/>
          </a:xfrm>
          <a:prstGeom prst="rect">
            <a:avLst/>
          </a:prstGeom>
          <a:noFill/>
          <a:ln/>
        </p:spPr>
        <p:txBody>
          <a:bodyPr wrap="square" rtlCol="0" anchor="ctr"/>
          <a:lstStyle/>
          <a:p>
            <a:pPr marL="0" indent="0" algn="ctr">
              <a:lnSpc>
                <a:spcPct val="110000"/>
              </a:lnSpc>
              <a:buNone/>
            </a:pPr>
            <a:r>
              <a:rPr lang="en-US" sz="1450" b="1" dirty="0">
                <a:solidFill>
                  <a:srgbClr val="FFC72C"/>
                </a:solidFill>
                <a:latin typeface="Calibri" pitchFamily="34" charset="0"/>
                <a:ea typeface="Calibri" pitchFamily="34" charset="-122"/>
                <a:cs typeface="Calibri" pitchFamily="34" charset="-120"/>
              </a:rPr>
              <a:t>Squadron / Wing</a:t>
            </a:r>
            <a:endParaRPr lang="en-US" sz="1450" dirty="0"/>
          </a:p>
        </p:txBody>
      </p:sp>
      <p:sp>
        <p:nvSpPr>
          <p:cNvPr id="8" name="Text 5"/>
          <p:cNvSpPr txBox="1"/>
          <p:nvPr/>
        </p:nvSpPr>
        <p:spPr>
          <a:xfrm>
            <a:off x="850392" y="3749040"/>
            <a:ext cx="2916936" cy="1691640"/>
          </a:xfrm>
          <a:prstGeom prst="rect">
            <a:avLst/>
          </a:prstGeom>
          <a:noFill/>
          <a:ln/>
        </p:spPr>
        <p:txBody>
          <a:bodyPr wrap="square" rtlCol="0" anchor="ctr"/>
          <a:lstStyle/>
          <a:p>
            <a:pPr marL="0" indent="0" algn="ctr">
              <a:lnSpc>
                <a:spcPct val="130000"/>
              </a:lnSpc>
              <a:buNone/>
            </a:pPr>
            <a:r>
              <a:rPr lang="en-US" sz="1150" dirty="0">
                <a:solidFill>
                  <a:srgbClr val="8CA3C7"/>
                </a:solidFill>
                <a:latin typeface="Calibri" pitchFamily="34" charset="0"/>
                <a:ea typeface="Calibri" pitchFamily="34" charset="-122"/>
                <a:cs typeface="Calibri" pitchFamily="34" charset="-120"/>
              </a:rPr>
              <a:t>Embedded 14N officers and their analyst teams support a specific flying unit’s missions directly.</a:t>
            </a:r>
            <a:endParaRPr lang="en-US" sz="1150" dirty="0"/>
          </a:p>
        </p:txBody>
      </p:sp>
      <p:sp>
        <p:nvSpPr>
          <p:cNvPr id="9" name="Shape 6"/>
          <p:cNvSpPr/>
          <p:nvPr/>
        </p:nvSpPr>
        <p:spPr>
          <a:xfrm>
            <a:off x="4041648" y="3794760"/>
            <a:ext cx="237744" cy="0"/>
          </a:xfrm>
          <a:prstGeom prst="line">
            <a:avLst/>
          </a:prstGeom>
          <a:noFill/>
          <a:ln w="19050">
            <a:solidFill>
              <a:srgbClr val="FFC72C"/>
            </a:solidFill>
            <a:prstDash val="solid"/>
            <a:tailEnd type="triangle"/>
          </a:ln>
        </p:spPr>
        <p:txBody>
          <a:bodyPr/>
          <a:lstStyle/>
          <a:p>
            <a:endParaRPr/>
          </a:p>
        </p:txBody>
      </p:sp>
      <p:sp>
        <p:nvSpPr>
          <p:cNvPr id="10" name="Shape 7"/>
          <p:cNvSpPr/>
          <p:nvPr/>
        </p:nvSpPr>
        <p:spPr>
          <a:xfrm>
            <a:off x="4297680" y="2011680"/>
            <a:ext cx="3429000" cy="3566160"/>
          </a:xfrm>
          <a:prstGeom prst="roundRect">
            <a:avLst>
              <a:gd name="adj" fmla="val 2667"/>
            </a:avLst>
          </a:prstGeom>
          <a:solidFill>
            <a:srgbClr val="17325C"/>
          </a:solidFill>
          <a:ln/>
          <a:effectLst>
            <a:outerShdw blurRad="101600" dist="38100" dir="5400000" algn="bl" rotWithShape="0">
              <a:srgbClr val="0B1B34">
                <a:alpha val="35000"/>
              </a:srgbClr>
            </a:outerShdw>
          </a:effectLst>
        </p:spPr>
        <p:txBody>
          <a:bodyPr/>
          <a:lstStyle/>
          <a:p>
            <a:endParaRPr/>
          </a:p>
        </p:txBody>
      </p:sp>
      <p:sp>
        <p:nvSpPr>
          <p:cNvPr id="11" name="Shape 8"/>
          <p:cNvSpPr/>
          <p:nvPr/>
        </p:nvSpPr>
        <p:spPr>
          <a:xfrm>
            <a:off x="5715000" y="2331720"/>
            <a:ext cx="594360" cy="594360"/>
          </a:xfrm>
          <a:prstGeom prst="ellipse">
            <a:avLst/>
          </a:prstGeom>
          <a:solidFill>
            <a:srgbClr val="0B1B34"/>
          </a:solidFill>
          <a:ln/>
        </p:spPr>
        <p:txBody>
          <a:bodyPr/>
          <a:lstStyle/>
          <a:p>
            <a:endParaRPr/>
          </a:p>
        </p:txBody>
      </p:sp>
      <p:pic>
        <p:nvPicPr>
          <p:cNvPr id="12" name="Image 1" descr="C:\Users\Trey\AppData\Local\Temp\claude\c--Projects-astral-project-src-pages-eftShopping\d9389cc2-8d3b-4f0d-be7e-28501db0dc02\scratchpad\afintel\icons\sitemap_gold.png"/>
          <p:cNvPicPr>
            <a:picLocks noChangeAspect="1"/>
          </p:cNvPicPr>
          <p:nvPr/>
        </p:nvPicPr>
        <p:blipFill>
          <a:blip r:embed="rId4"/>
          <a:stretch>
            <a:fillRect/>
          </a:stretch>
        </p:blipFill>
        <p:spPr>
          <a:xfrm>
            <a:off x="5852160" y="2468880"/>
            <a:ext cx="320040" cy="320040"/>
          </a:xfrm>
          <a:prstGeom prst="rect">
            <a:avLst/>
          </a:prstGeom>
        </p:spPr>
      </p:pic>
      <p:sp>
        <p:nvSpPr>
          <p:cNvPr id="13" name="Text 9"/>
          <p:cNvSpPr txBox="1"/>
          <p:nvPr/>
        </p:nvSpPr>
        <p:spPr>
          <a:xfrm>
            <a:off x="4480560" y="3154680"/>
            <a:ext cx="3063240" cy="502920"/>
          </a:xfrm>
          <a:prstGeom prst="rect">
            <a:avLst/>
          </a:prstGeom>
          <a:noFill/>
          <a:ln/>
        </p:spPr>
        <p:txBody>
          <a:bodyPr wrap="square" rtlCol="0" anchor="ctr"/>
          <a:lstStyle/>
          <a:p>
            <a:pPr marL="0" indent="0" algn="ctr">
              <a:lnSpc>
                <a:spcPct val="110000"/>
              </a:lnSpc>
              <a:buNone/>
            </a:pPr>
            <a:r>
              <a:rPr lang="en-US" sz="1450" b="1" dirty="0">
                <a:solidFill>
                  <a:srgbClr val="FFC72C"/>
                </a:solidFill>
                <a:latin typeface="Calibri" pitchFamily="34" charset="0"/>
                <a:ea typeface="Calibri" pitchFamily="34" charset="-122"/>
                <a:cs typeface="Calibri" pitchFamily="34" charset="-120"/>
              </a:rPr>
              <a:t>MAJCOM (e.g. ACC)</a:t>
            </a:r>
            <a:endParaRPr lang="en-US" sz="1450" dirty="0"/>
          </a:p>
        </p:txBody>
      </p:sp>
      <p:sp>
        <p:nvSpPr>
          <p:cNvPr id="14" name="Text 10"/>
          <p:cNvSpPr txBox="1"/>
          <p:nvPr/>
        </p:nvSpPr>
        <p:spPr>
          <a:xfrm>
            <a:off x="4553712" y="3749040"/>
            <a:ext cx="2916936" cy="1691640"/>
          </a:xfrm>
          <a:prstGeom prst="rect">
            <a:avLst/>
          </a:prstGeom>
          <a:noFill/>
          <a:ln/>
        </p:spPr>
        <p:txBody>
          <a:bodyPr wrap="square" rtlCol="0" anchor="ctr"/>
          <a:lstStyle/>
          <a:p>
            <a:pPr marL="0" indent="0" algn="ctr">
              <a:lnSpc>
                <a:spcPct val="130000"/>
              </a:lnSpc>
              <a:buNone/>
            </a:pPr>
            <a:r>
              <a:rPr lang="en-US" sz="1150" dirty="0">
                <a:solidFill>
                  <a:srgbClr val="8CA3C7"/>
                </a:solidFill>
                <a:latin typeface="Calibri" pitchFamily="34" charset="0"/>
                <a:ea typeface="Calibri" pitchFamily="34" charset="-122"/>
                <a:cs typeface="Calibri" pitchFamily="34" charset="-120"/>
              </a:rPr>
              <a:t>Major Commands set intelligence requirements &amp; priorities across their units.</a:t>
            </a:r>
            <a:endParaRPr lang="en-US" sz="1150" dirty="0"/>
          </a:p>
        </p:txBody>
      </p:sp>
      <p:sp>
        <p:nvSpPr>
          <p:cNvPr id="15" name="Shape 11"/>
          <p:cNvSpPr/>
          <p:nvPr/>
        </p:nvSpPr>
        <p:spPr>
          <a:xfrm>
            <a:off x="7744968" y="3794760"/>
            <a:ext cx="237744" cy="0"/>
          </a:xfrm>
          <a:prstGeom prst="line">
            <a:avLst/>
          </a:prstGeom>
          <a:noFill/>
          <a:ln w="19050">
            <a:solidFill>
              <a:srgbClr val="FFC72C"/>
            </a:solidFill>
            <a:prstDash val="solid"/>
            <a:tailEnd type="triangle"/>
          </a:ln>
        </p:spPr>
        <p:txBody>
          <a:bodyPr/>
          <a:lstStyle/>
          <a:p>
            <a:endParaRPr/>
          </a:p>
        </p:txBody>
      </p:sp>
      <p:sp>
        <p:nvSpPr>
          <p:cNvPr id="16" name="Shape 12"/>
          <p:cNvSpPr/>
          <p:nvPr/>
        </p:nvSpPr>
        <p:spPr>
          <a:xfrm>
            <a:off x="8001000" y="2011680"/>
            <a:ext cx="3429000" cy="3566160"/>
          </a:xfrm>
          <a:prstGeom prst="roundRect">
            <a:avLst>
              <a:gd name="adj" fmla="val 2667"/>
            </a:avLst>
          </a:prstGeom>
          <a:solidFill>
            <a:srgbClr val="17325C"/>
          </a:solidFill>
          <a:ln/>
          <a:effectLst>
            <a:outerShdw blurRad="101600" dist="38100" dir="5400000" algn="bl" rotWithShape="0">
              <a:srgbClr val="0B1B34">
                <a:alpha val="35000"/>
              </a:srgbClr>
            </a:outerShdw>
          </a:effectLst>
        </p:spPr>
        <p:txBody>
          <a:bodyPr/>
          <a:lstStyle/>
          <a:p>
            <a:endParaRPr/>
          </a:p>
        </p:txBody>
      </p:sp>
      <p:sp>
        <p:nvSpPr>
          <p:cNvPr id="17" name="Shape 13"/>
          <p:cNvSpPr/>
          <p:nvPr/>
        </p:nvSpPr>
        <p:spPr>
          <a:xfrm>
            <a:off x="9418320" y="2331720"/>
            <a:ext cx="594360" cy="594360"/>
          </a:xfrm>
          <a:prstGeom prst="ellipse">
            <a:avLst/>
          </a:prstGeom>
          <a:solidFill>
            <a:srgbClr val="0B1B34"/>
          </a:solidFill>
          <a:ln/>
        </p:spPr>
        <p:txBody>
          <a:bodyPr/>
          <a:lstStyle/>
          <a:p>
            <a:endParaRPr/>
          </a:p>
        </p:txBody>
      </p:sp>
      <p:pic>
        <p:nvPicPr>
          <p:cNvPr id="18" name="Image 2" descr="C:\Users\Trey\AppData\Local\Temp\claude\c--Projects-astral-project-src-pages-eftShopping\d9389cc2-8d3b-4f0d-be7e-28501db0dc02\scratchpad\afintel\icons\globe_gold.png"/>
          <p:cNvPicPr>
            <a:picLocks noChangeAspect="1"/>
          </p:cNvPicPr>
          <p:nvPr/>
        </p:nvPicPr>
        <p:blipFill>
          <a:blip r:embed="rId5"/>
          <a:stretch>
            <a:fillRect/>
          </a:stretch>
        </p:blipFill>
        <p:spPr>
          <a:xfrm>
            <a:off x="9555480" y="2468880"/>
            <a:ext cx="320040" cy="320040"/>
          </a:xfrm>
          <a:prstGeom prst="rect">
            <a:avLst/>
          </a:prstGeom>
        </p:spPr>
      </p:pic>
      <p:sp>
        <p:nvSpPr>
          <p:cNvPr id="19" name="Text 14"/>
          <p:cNvSpPr txBox="1"/>
          <p:nvPr/>
        </p:nvSpPr>
        <p:spPr>
          <a:xfrm>
            <a:off x="8183880" y="3154680"/>
            <a:ext cx="3063240" cy="502920"/>
          </a:xfrm>
          <a:prstGeom prst="rect">
            <a:avLst/>
          </a:prstGeom>
          <a:noFill/>
          <a:ln/>
        </p:spPr>
        <p:txBody>
          <a:bodyPr wrap="square" rtlCol="0" anchor="ctr"/>
          <a:lstStyle/>
          <a:p>
            <a:pPr marL="0" indent="0" algn="ctr">
              <a:lnSpc>
                <a:spcPct val="110000"/>
              </a:lnSpc>
              <a:buNone/>
            </a:pPr>
            <a:r>
              <a:rPr lang="en-US" sz="1450" b="1" dirty="0">
                <a:solidFill>
                  <a:srgbClr val="FFC72C"/>
                </a:solidFill>
                <a:latin typeface="Calibri" pitchFamily="34" charset="0"/>
                <a:ea typeface="Calibri" pitchFamily="34" charset="-122"/>
                <a:cs typeface="Calibri" pitchFamily="34" charset="-120"/>
              </a:rPr>
              <a:t>National Agencies</a:t>
            </a:r>
            <a:endParaRPr lang="en-US" sz="1450" dirty="0"/>
          </a:p>
        </p:txBody>
      </p:sp>
      <p:sp>
        <p:nvSpPr>
          <p:cNvPr id="20" name="Text 15"/>
          <p:cNvSpPr txBox="1"/>
          <p:nvPr/>
        </p:nvSpPr>
        <p:spPr>
          <a:xfrm>
            <a:off x="8257032" y="3749040"/>
            <a:ext cx="2916936" cy="1691640"/>
          </a:xfrm>
          <a:prstGeom prst="rect">
            <a:avLst/>
          </a:prstGeom>
          <a:noFill/>
          <a:ln/>
        </p:spPr>
        <p:txBody>
          <a:bodyPr wrap="square" rtlCol="0" anchor="ctr"/>
          <a:lstStyle/>
          <a:p>
            <a:pPr marL="0" indent="0" algn="ctr">
              <a:lnSpc>
                <a:spcPct val="130000"/>
              </a:lnSpc>
              <a:buNone/>
            </a:pPr>
            <a:r>
              <a:rPr lang="en-US" sz="1150" dirty="0">
                <a:solidFill>
                  <a:srgbClr val="8CA3C7"/>
                </a:solidFill>
                <a:latin typeface="Calibri" pitchFamily="34" charset="0"/>
                <a:ea typeface="Calibri" pitchFamily="34" charset="-122"/>
                <a:cs typeface="Calibri" pitchFamily="34" charset="-120"/>
              </a:rPr>
              <a:t>NASIC, DIA, and NSA produce the strategic intelligence Air Force units draw on.</a:t>
            </a:r>
            <a:endParaRPr lang="en-US" sz="1150" dirty="0"/>
          </a:p>
        </p:txBody>
      </p:sp>
      <p:sp>
        <p:nvSpPr>
          <p:cNvPr id="21" name="Text 16"/>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8CA3C7"/>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B1B34"/>
        </a:solidFill>
        <a:effectLst/>
      </p:bgPr>
    </p:bg>
    <p:spTree>
      <p:nvGrpSpPr>
        <p:cNvPr id="1" name=""/>
        <p:cNvGrpSpPr/>
        <p:nvPr/>
      </p:nvGrpSpPr>
      <p:grpSpPr>
        <a:xfrm>
          <a:off x="0" y="0"/>
          <a:ext cx="0" cy="0"/>
          <a:chOff x="0" y="0"/>
          <a:chExt cx="0" cy="0"/>
        </a:xfrm>
      </p:grpSpPr>
      <p:sp>
        <p:nvSpPr>
          <p:cNvPr id="2" name="Shape 0"/>
          <p:cNvSpPr/>
          <p:nvPr/>
        </p:nvSpPr>
        <p:spPr>
          <a:xfrm>
            <a:off x="-2286000" y="3657600"/>
            <a:ext cx="5486400" cy="5486400"/>
          </a:xfrm>
          <a:prstGeom prst="ellipse">
            <a:avLst/>
          </a:prstGeom>
          <a:solidFill>
            <a:srgbClr val="12284B"/>
          </a:solidFill>
          <a:ln/>
        </p:spPr>
        <p:txBody>
          <a:bodyPr/>
          <a:lstStyle/>
          <a:p>
            <a:endParaRPr/>
          </a:p>
        </p:txBody>
      </p:sp>
      <p:sp>
        <p:nvSpPr>
          <p:cNvPr id="3" name="Text 1"/>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WHY IT MATTERS</a:t>
            </a:r>
            <a:endParaRPr lang="en-US" sz="1300" dirty="0"/>
          </a:p>
        </p:txBody>
      </p:sp>
      <p:sp>
        <p:nvSpPr>
          <p:cNvPr id="4" name="Text 2"/>
          <p:cNvSpPr txBox="1"/>
          <p:nvPr/>
        </p:nvSpPr>
        <p:spPr>
          <a:xfrm>
            <a:off x="548640" y="658368"/>
            <a:ext cx="7315200" cy="822960"/>
          </a:xfrm>
          <a:prstGeom prst="rect">
            <a:avLst/>
          </a:prstGeom>
          <a:noFill/>
          <a:ln/>
        </p:spPr>
        <p:txBody>
          <a:bodyPr wrap="square" rtlCol="0" anchor="ctr"/>
          <a:lstStyle/>
          <a:p>
            <a:pPr marL="0" indent="0">
              <a:lnSpc>
                <a:spcPct val="100000"/>
              </a:lnSpc>
              <a:buNone/>
            </a:pPr>
            <a:r>
              <a:rPr lang="en-US" sz="3200" b="1" dirty="0">
                <a:solidFill>
                  <a:srgbClr val="FFFFFF"/>
                </a:solidFill>
                <a:latin typeface="Cambria" pitchFamily="34" charset="0"/>
                <a:ea typeface="Cambria" pitchFamily="34" charset="-122"/>
                <a:cs typeface="Cambria" pitchFamily="34" charset="-120"/>
              </a:rPr>
              <a:t>Decision advantage, first</a:t>
            </a:r>
            <a:endParaRPr lang="en-US" sz="3200" dirty="0"/>
          </a:p>
        </p:txBody>
      </p:sp>
      <p:sp>
        <p:nvSpPr>
          <p:cNvPr id="5" name="Text 3"/>
          <p:cNvSpPr txBox="1"/>
          <p:nvPr/>
        </p:nvSpPr>
        <p:spPr>
          <a:xfrm>
            <a:off x="548640" y="2148840"/>
            <a:ext cx="6583680" cy="1645920"/>
          </a:xfrm>
          <a:prstGeom prst="rect">
            <a:avLst/>
          </a:prstGeom>
          <a:noFill/>
          <a:ln/>
        </p:spPr>
        <p:txBody>
          <a:bodyPr wrap="square" rtlCol="0" anchor="ctr"/>
          <a:lstStyle/>
          <a:p>
            <a:pPr marL="0" indent="0">
              <a:lnSpc>
                <a:spcPct val="140000"/>
              </a:lnSpc>
              <a:buNone/>
            </a:pPr>
            <a:r>
              <a:rPr lang="en-US" sz="1500" dirty="0">
                <a:solidFill>
                  <a:srgbClr val="8CA3C7"/>
                </a:solidFill>
                <a:latin typeface="Calibri" pitchFamily="34" charset="0"/>
                <a:ea typeface="Calibri" pitchFamily="34" charset="-122"/>
                <a:cs typeface="Calibri" pitchFamily="34" charset="-120"/>
              </a:rPr>
              <a:t>Every strike, every sortie, every rescue mission runs on an intelligence picture built before it ever leaves the ground. Get it wrong, and aircrew fly into an unknown threat. Get it right, and the mission goes exactly as planned — which is the whole point.</a:t>
            </a:r>
            <a:endParaRPr lang="en-US" sz="1500" dirty="0"/>
          </a:p>
        </p:txBody>
      </p:sp>
      <p:sp>
        <p:nvSpPr>
          <p:cNvPr id="6" name="Shape 4"/>
          <p:cNvSpPr/>
          <p:nvPr/>
        </p:nvSpPr>
        <p:spPr>
          <a:xfrm>
            <a:off x="548640" y="4114800"/>
            <a:ext cx="502920" cy="502920"/>
          </a:xfrm>
          <a:prstGeom prst="ellipse">
            <a:avLst/>
          </a:prstGeom>
          <a:solidFill>
            <a:srgbClr val="17325C"/>
          </a:solidFill>
          <a:ln/>
        </p:spPr>
        <p:txBody>
          <a:bodyPr/>
          <a:lstStyle/>
          <a:p>
            <a:endParaRPr/>
          </a:p>
        </p:txBody>
      </p:sp>
      <p:pic>
        <p:nvPicPr>
          <p:cNvPr id="7" name="Image 0" descr="C:\Users\Trey\AppData\Local\Temp\claude\c--Projects-astral-project-src-pages-eftShopping\d9389cc2-8d3b-4f0d-be7e-28501db0dc02\scratchpad\afintel\icons\shield_gold.png"/>
          <p:cNvPicPr>
            <a:picLocks noChangeAspect="1"/>
          </p:cNvPicPr>
          <p:nvPr/>
        </p:nvPicPr>
        <p:blipFill>
          <a:blip r:embed="rId3"/>
          <a:stretch>
            <a:fillRect/>
          </a:stretch>
        </p:blipFill>
        <p:spPr>
          <a:xfrm>
            <a:off x="685800" y="4251960"/>
            <a:ext cx="228600" cy="228600"/>
          </a:xfrm>
          <a:prstGeom prst="rect">
            <a:avLst/>
          </a:prstGeom>
        </p:spPr>
      </p:pic>
      <p:sp>
        <p:nvSpPr>
          <p:cNvPr id="8" name="Text 5"/>
          <p:cNvSpPr txBox="1"/>
          <p:nvPr/>
        </p:nvSpPr>
        <p:spPr>
          <a:xfrm>
            <a:off x="1234440" y="4069080"/>
            <a:ext cx="5486400" cy="320040"/>
          </a:xfrm>
          <a:prstGeom prst="rect">
            <a:avLst/>
          </a:prstGeom>
          <a:noFill/>
          <a:ln/>
        </p:spPr>
        <p:txBody>
          <a:bodyPr wrap="square"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Every mission</a:t>
            </a:r>
            <a:endParaRPr lang="en-US" sz="1350" dirty="0"/>
          </a:p>
        </p:txBody>
      </p:sp>
      <p:sp>
        <p:nvSpPr>
          <p:cNvPr id="9" name="Text 6"/>
          <p:cNvSpPr txBox="1"/>
          <p:nvPr/>
        </p:nvSpPr>
        <p:spPr>
          <a:xfrm>
            <a:off x="1234440" y="4389120"/>
            <a:ext cx="5760720" cy="365760"/>
          </a:xfrm>
          <a:prstGeom prst="rect">
            <a:avLst/>
          </a:prstGeom>
          <a:noFill/>
          <a:ln/>
        </p:spPr>
        <p:txBody>
          <a:bodyPr wrap="square" rtlCol="0" anchor="ctr"/>
          <a:lstStyle/>
          <a:p>
            <a:pPr marL="0" indent="0">
              <a:buNone/>
            </a:pPr>
            <a:r>
              <a:rPr lang="en-US" sz="1100" dirty="0">
                <a:solidFill>
                  <a:srgbClr val="8CA3C7"/>
                </a:solidFill>
                <a:latin typeface="Calibri" pitchFamily="34" charset="0"/>
                <a:ea typeface="Calibri" pitchFamily="34" charset="-122"/>
                <a:cs typeface="Calibri" pitchFamily="34" charset="-120"/>
              </a:rPr>
              <a:t>Threat briefs happen before every sortie, not just contingency ops</a:t>
            </a:r>
            <a:endParaRPr lang="en-US" sz="1100" dirty="0"/>
          </a:p>
        </p:txBody>
      </p:sp>
      <p:sp>
        <p:nvSpPr>
          <p:cNvPr id="10" name="Shape 7"/>
          <p:cNvSpPr/>
          <p:nvPr/>
        </p:nvSpPr>
        <p:spPr>
          <a:xfrm>
            <a:off x="548640" y="4892040"/>
            <a:ext cx="502920" cy="502920"/>
          </a:xfrm>
          <a:prstGeom prst="ellipse">
            <a:avLst/>
          </a:prstGeom>
          <a:solidFill>
            <a:srgbClr val="17325C"/>
          </a:solidFill>
          <a:ln/>
        </p:spPr>
        <p:txBody>
          <a:bodyPr/>
          <a:lstStyle/>
          <a:p>
            <a:endParaRPr/>
          </a:p>
        </p:txBody>
      </p:sp>
      <p:pic>
        <p:nvPicPr>
          <p:cNvPr id="11" name="Image 1" descr="C:\Users\Trey\AppData\Local\Temp\claude\c--Projects-astral-project-src-pages-eftShopping\d9389cc2-8d3b-4f0d-be7e-28501db0dc02\scratchpad\afintel\icons\sitemap_gold.png"/>
          <p:cNvPicPr>
            <a:picLocks noChangeAspect="1"/>
          </p:cNvPicPr>
          <p:nvPr/>
        </p:nvPicPr>
        <p:blipFill>
          <a:blip r:embed="rId4"/>
          <a:stretch>
            <a:fillRect/>
          </a:stretch>
        </p:blipFill>
        <p:spPr>
          <a:xfrm>
            <a:off x="685800" y="5029200"/>
            <a:ext cx="228600" cy="228600"/>
          </a:xfrm>
          <a:prstGeom prst="rect">
            <a:avLst/>
          </a:prstGeom>
        </p:spPr>
      </p:pic>
      <p:sp>
        <p:nvSpPr>
          <p:cNvPr id="12" name="Text 8"/>
          <p:cNvSpPr txBox="1"/>
          <p:nvPr/>
        </p:nvSpPr>
        <p:spPr>
          <a:xfrm>
            <a:off x="1234440" y="4846320"/>
            <a:ext cx="5486400" cy="320040"/>
          </a:xfrm>
          <a:prstGeom prst="rect">
            <a:avLst/>
          </a:prstGeom>
          <a:noFill/>
          <a:ln/>
        </p:spPr>
        <p:txBody>
          <a:bodyPr wrap="square"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Every echelon</a:t>
            </a:r>
            <a:endParaRPr lang="en-US" sz="1350" dirty="0"/>
          </a:p>
        </p:txBody>
      </p:sp>
      <p:sp>
        <p:nvSpPr>
          <p:cNvPr id="13" name="Text 9"/>
          <p:cNvSpPr txBox="1"/>
          <p:nvPr/>
        </p:nvSpPr>
        <p:spPr>
          <a:xfrm>
            <a:off x="1234440" y="5166360"/>
            <a:ext cx="5760720" cy="365760"/>
          </a:xfrm>
          <a:prstGeom prst="rect">
            <a:avLst/>
          </a:prstGeom>
          <a:noFill/>
          <a:ln/>
        </p:spPr>
        <p:txBody>
          <a:bodyPr wrap="square" rtlCol="0" anchor="ctr"/>
          <a:lstStyle/>
          <a:p>
            <a:pPr marL="0" indent="0">
              <a:buNone/>
            </a:pPr>
            <a:r>
              <a:rPr lang="en-US" sz="1100" dirty="0">
                <a:solidFill>
                  <a:srgbClr val="8CA3C7"/>
                </a:solidFill>
                <a:latin typeface="Calibri" pitchFamily="34" charset="0"/>
                <a:ea typeface="Calibri" pitchFamily="34" charset="-122"/>
                <a:cs typeface="Calibri" pitchFamily="34" charset="-120"/>
              </a:rPr>
              <a:t>From the flightline to national agencies, one connected picture</a:t>
            </a:r>
            <a:endParaRPr lang="en-US" sz="1100" dirty="0"/>
          </a:p>
        </p:txBody>
      </p:sp>
      <p:sp>
        <p:nvSpPr>
          <p:cNvPr id="14" name="Shape 10"/>
          <p:cNvSpPr/>
          <p:nvPr/>
        </p:nvSpPr>
        <p:spPr>
          <a:xfrm>
            <a:off x="7589520" y="2148840"/>
            <a:ext cx="4023360" cy="3977640"/>
          </a:xfrm>
          <a:prstGeom prst="roundRect">
            <a:avLst>
              <a:gd name="adj" fmla="val 2299"/>
            </a:avLst>
          </a:prstGeom>
          <a:solidFill>
            <a:srgbClr val="FFC72C"/>
          </a:solidFill>
          <a:ln/>
          <a:effectLst>
            <a:outerShdw blurRad="101600" dist="38100" dir="5400000" algn="bl" rotWithShape="0">
              <a:srgbClr val="0B1B34">
                <a:alpha val="35000"/>
              </a:srgbClr>
            </a:outerShdw>
          </a:effectLst>
        </p:spPr>
        <p:txBody>
          <a:bodyPr/>
          <a:lstStyle/>
          <a:p>
            <a:endParaRPr/>
          </a:p>
        </p:txBody>
      </p:sp>
      <p:sp>
        <p:nvSpPr>
          <p:cNvPr id="15" name="Text 11"/>
          <p:cNvSpPr txBox="1"/>
          <p:nvPr/>
        </p:nvSpPr>
        <p:spPr>
          <a:xfrm>
            <a:off x="7863840" y="2651760"/>
            <a:ext cx="3474720" cy="1463040"/>
          </a:xfrm>
          <a:prstGeom prst="rect">
            <a:avLst/>
          </a:prstGeom>
          <a:noFill/>
          <a:ln/>
        </p:spPr>
        <p:txBody>
          <a:bodyPr wrap="square" rtlCol="0" anchor="ctr"/>
          <a:lstStyle/>
          <a:p>
            <a:pPr marL="0" indent="0">
              <a:lnSpc>
                <a:spcPct val="120000"/>
              </a:lnSpc>
              <a:buNone/>
            </a:pPr>
            <a:r>
              <a:rPr lang="en-US" sz="2100" b="1" i="1" dirty="0">
                <a:solidFill>
                  <a:srgbClr val="0B1B34"/>
                </a:solidFill>
                <a:latin typeface="Cambria" pitchFamily="34" charset="0"/>
                <a:ea typeface="Cambria" pitchFamily="34" charset="-122"/>
                <a:cs typeface="Cambria" pitchFamily="34" charset="-120"/>
              </a:rPr>
              <a:t>The first through the fight.</a:t>
            </a:r>
            <a:endParaRPr lang="en-US" sz="2100" dirty="0"/>
          </a:p>
        </p:txBody>
      </p:sp>
      <p:sp>
        <p:nvSpPr>
          <p:cNvPr id="16" name="Text 12"/>
          <p:cNvSpPr txBox="1"/>
          <p:nvPr/>
        </p:nvSpPr>
        <p:spPr>
          <a:xfrm>
            <a:off x="7863840" y="4160520"/>
            <a:ext cx="3474720" cy="1645920"/>
          </a:xfrm>
          <a:prstGeom prst="rect">
            <a:avLst/>
          </a:prstGeom>
          <a:noFill/>
          <a:ln/>
        </p:spPr>
        <p:txBody>
          <a:bodyPr wrap="square" rtlCol="0" anchor="ctr"/>
          <a:lstStyle/>
          <a:p>
            <a:pPr marL="0" indent="0">
              <a:lnSpc>
                <a:spcPct val="130000"/>
              </a:lnSpc>
              <a:buNone/>
            </a:pPr>
            <a:r>
              <a:rPr lang="en-US" sz="1250" dirty="0">
                <a:solidFill>
                  <a:srgbClr val="0B1B34"/>
                </a:solidFill>
                <a:latin typeface="Calibri" pitchFamily="34" charset="0"/>
                <a:ea typeface="Calibri" pitchFamily="34" charset="-122"/>
                <a:cs typeface="Calibri" pitchFamily="34" charset="-120"/>
              </a:rPr>
              <a:t>Intelligence shapes the plan before the first aircraft ever takes off — the work happens ahead of everyone else.</a:t>
            </a:r>
            <a:endParaRPr lang="en-US" sz="1250" dirty="0"/>
          </a:p>
        </p:txBody>
      </p:sp>
      <p:sp>
        <p:nvSpPr>
          <p:cNvPr id="17" name="Text 13"/>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8CA3C7"/>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SUMMARY</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12284B"/>
                </a:solidFill>
                <a:latin typeface="Cambria" pitchFamily="34" charset="0"/>
                <a:ea typeface="Cambria" pitchFamily="34" charset="-122"/>
                <a:cs typeface="Cambria" pitchFamily="34" charset="-120"/>
              </a:rPr>
              <a:t>Key takeaways</a:t>
            </a:r>
            <a:endParaRPr lang="en-US" sz="3200" dirty="0"/>
          </a:p>
        </p:txBody>
      </p:sp>
      <p:sp>
        <p:nvSpPr>
          <p:cNvPr id="4" name="Shape 2"/>
          <p:cNvSpPr/>
          <p:nvPr/>
        </p:nvSpPr>
        <p:spPr>
          <a:xfrm>
            <a:off x="548640" y="1828800"/>
            <a:ext cx="5349240" cy="1874520"/>
          </a:xfrm>
          <a:prstGeom prst="roundRect">
            <a:avLst>
              <a:gd name="adj" fmla="val 4878"/>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5" name="Shape 3"/>
          <p:cNvSpPr/>
          <p:nvPr/>
        </p:nvSpPr>
        <p:spPr>
          <a:xfrm>
            <a:off x="822960" y="2103120"/>
            <a:ext cx="548640" cy="548640"/>
          </a:xfrm>
          <a:prstGeom prst="ellipse">
            <a:avLst/>
          </a:prstGeom>
          <a:solidFill>
            <a:srgbClr val="12284B"/>
          </a:solidFill>
          <a:ln/>
        </p:spPr>
        <p:txBody>
          <a:bodyPr/>
          <a:lstStyle/>
          <a:p>
            <a:endParaRPr/>
          </a:p>
        </p:txBody>
      </p:sp>
      <p:pic>
        <p:nvPicPr>
          <p:cNvPr id="6" name="Image 0" descr="C:\Users\Trey\AppData\Local\Temp\claude\c--Projects-astral-project-src-pages-eftShopping\d9389cc2-8d3b-4f0d-be7e-28501db0dc02\scratchpad\afintel\icons\compass_gold.png"/>
          <p:cNvPicPr>
            <a:picLocks noChangeAspect="1"/>
          </p:cNvPicPr>
          <p:nvPr/>
        </p:nvPicPr>
        <p:blipFill>
          <a:blip r:embed="rId3"/>
          <a:stretch>
            <a:fillRect/>
          </a:stretch>
        </p:blipFill>
        <p:spPr>
          <a:xfrm>
            <a:off x="960120" y="2240280"/>
            <a:ext cx="274320" cy="274320"/>
          </a:xfrm>
          <a:prstGeom prst="rect">
            <a:avLst/>
          </a:prstGeom>
        </p:spPr>
      </p:pic>
      <p:sp>
        <p:nvSpPr>
          <p:cNvPr id="7" name="Text 4"/>
          <p:cNvSpPr txBox="1"/>
          <p:nvPr/>
        </p:nvSpPr>
        <p:spPr>
          <a:xfrm>
            <a:off x="1554480" y="2084832"/>
            <a:ext cx="4114800" cy="365760"/>
          </a:xfrm>
          <a:prstGeom prst="rect">
            <a:avLst/>
          </a:prstGeom>
          <a:noFill/>
          <a:ln/>
        </p:spPr>
        <p:txBody>
          <a:bodyPr wrap="square" rtlCol="0" anchor="ctr"/>
          <a:lstStyle/>
          <a:p>
            <a:pPr marL="0" indent="0">
              <a:buNone/>
            </a:pPr>
            <a:r>
              <a:rPr lang="en-US" sz="1450" b="1" dirty="0">
                <a:solidFill>
                  <a:srgbClr val="12284B"/>
                </a:solidFill>
                <a:latin typeface="Calibri" pitchFamily="34" charset="0"/>
                <a:ea typeface="Calibri" pitchFamily="34" charset="-122"/>
                <a:cs typeface="Calibri" pitchFamily="34" charset="-120"/>
              </a:rPr>
              <a:t>Intel finds the gaps</a:t>
            </a:r>
            <a:endParaRPr lang="en-US" sz="1450" dirty="0"/>
          </a:p>
        </p:txBody>
      </p:sp>
      <p:sp>
        <p:nvSpPr>
          <p:cNvPr id="8" name="Text 5"/>
          <p:cNvSpPr txBox="1"/>
          <p:nvPr/>
        </p:nvSpPr>
        <p:spPr>
          <a:xfrm>
            <a:off x="822960" y="2697480"/>
            <a:ext cx="4800600" cy="868680"/>
          </a:xfrm>
          <a:prstGeom prst="rect">
            <a:avLst/>
          </a:prstGeom>
          <a:noFill/>
          <a:ln/>
        </p:spPr>
        <p:txBody>
          <a:bodyPr wrap="square" rtlCol="0" anchor="ctr"/>
          <a:lstStyle/>
          <a:p>
            <a:pPr marL="0" indent="0">
              <a:lnSpc>
                <a:spcPct val="125000"/>
              </a:lnSpc>
              <a:buNone/>
            </a:pPr>
            <a:r>
              <a:rPr lang="en-US" sz="1200" dirty="0">
                <a:solidFill>
                  <a:srgbClr val="1B2430"/>
                </a:solidFill>
                <a:latin typeface="Calibri" pitchFamily="34" charset="0"/>
                <a:ea typeface="Calibri" pitchFamily="34" charset="-122"/>
                <a:cs typeface="Calibri" pitchFamily="34" charset="-120"/>
              </a:rPr>
              <a:t>Then tasks collection to close them, across five distinct disciplines.</a:t>
            </a:r>
            <a:endParaRPr lang="en-US" sz="1200" dirty="0"/>
          </a:p>
        </p:txBody>
      </p:sp>
      <p:sp>
        <p:nvSpPr>
          <p:cNvPr id="9" name="Shape 6"/>
          <p:cNvSpPr/>
          <p:nvPr/>
        </p:nvSpPr>
        <p:spPr>
          <a:xfrm>
            <a:off x="6263640" y="1828800"/>
            <a:ext cx="5349240" cy="1874520"/>
          </a:xfrm>
          <a:prstGeom prst="roundRect">
            <a:avLst>
              <a:gd name="adj" fmla="val 4878"/>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10" name="Shape 7"/>
          <p:cNvSpPr/>
          <p:nvPr/>
        </p:nvSpPr>
        <p:spPr>
          <a:xfrm>
            <a:off x="6537960" y="2103120"/>
            <a:ext cx="548640" cy="548640"/>
          </a:xfrm>
          <a:prstGeom prst="ellipse">
            <a:avLst/>
          </a:prstGeom>
          <a:solidFill>
            <a:srgbClr val="12284B"/>
          </a:solidFill>
          <a:ln/>
        </p:spPr>
        <p:txBody>
          <a:bodyPr/>
          <a:lstStyle/>
          <a:p>
            <a:endParaRPr/>
          </a:p>
        </p:txBody>
      </p:sp>
      <p:pic>
        <p:nvPicPr>
          <p:cNvPr id="11" name="Image 1" descr="C:\Users\Trey\AppData\Local\Temp\claude\c--Projects-astral-project-src-pages-eftShopping\d9389cc2-8d3b-4f0d-be7e-28501db0dc02\scratchpad\afintel\icons\usertie_gold.png"/>
          <p:cNvPicPr>
            <a:picLocks noChangeAspect="1"/>
          </p:cNvPicPr>
          <p:nvPr/>
        </p:nvPicPr>
        <p:blipFill>
          <a:blip r:embed="rId4"/>
          <a:stretch>
            <a:fillRect/>
          </a:stretch>
        </p:blipFill>
        <p:spPr>
          <a:xfrm>
            <a:off x="6675120" y="2240280"/>
            <a:ext cx="274320" cy="274320"/>
          </a:xfrm>
          <a:prstGeom prst="rect">
            <a:avLst/>
          </a:prstGeom>
        </p:spPr>
      </p:pic>
      <p:sp>
        <p:nvSpPr>
          <p:cNvPr id="12" name="Text 8"/>
          <p:cNvSpPr txBox="1"/>
          <p:nvPr/>
        </p:nvSpPr>
        <p:spPr>
          <a:xfrm>
            <a:off x="7269480" y="2084832"/>
            <a:ext cx="4114800" cy="365760"/>
          </a:xfrm>
          <a:prstGeom prst="rect">
            <a:avLst/>
          </a:prstGeom>
          <a:noFill/>
          <a:ln/>
        </p:spPr>
        <p:txBody>
          <a:bodyPr wrap="square" rtlCol="0" anchor="ctr"/>
          <a:lstStyle/>
          <a:p>
            <a:pPr marL="0" indent="0">
              <a:buNone/>
            </a:pPr>
            <a:r>
              <a:rPr lang="en-US" sz="1450" b="1" dirty="0">
                <a:solidFill>
                  <a:srgbClr val="12284B"/>
                </a:solidFill>
                <a:latin typeface="Calibri" pitchFamily="34" charset="0"/>
                <a:ea typeface="Calibri" pitchFamily="34" charset="-122"/>
                <a:cs typeface="Calibri" pitchFamily="34" charset="-120"/>
              </a:rPr>
              <a:t>Two tracks, one team</a:t>
            </a:r>
            <a:endParaRPr lang="en-US" sz="1450" dirty="0"/>
          </a:p>
        </p:txBody>
      </p:sp>
      <p:sp>
        <p:nvSpPr>
          <p:cNvPr id="13" name="Text 9"/>
          <p:cNvSpPr txBox="1"/>
          <p:nvPr/>
        </p:nvSpPr>
        <p:spPr>
          <a:xfrm>
            <a:off x="6537960" y="2697480"/>
            <a:ext cx="4800600" cy="868680"/>
          </a:xfrm>
          <a:prstGeom prst="rect">
            <a:avLst/>
          </a:prstGeom>
          <a:noFill/>
          <a:ln/>
        </p:spPr>
        <p:txBody>
          <a:bodyPr wrap="square" rtlCol="0" anchor="ctr"/>
          <a:lstStyle/>
          <a:p>
            <a:pPr marL="0" indent="0">
              <a:lnSpc>
                <a:spcPct val="125000"/>
              </a:lnSpc>
              <a:buNone/>
            </a:pPr>
            <a:r>
              <a:rPr lang="en-US" sz="1200" dirty="0">
                <a:solidFill>
                  <a:srgbClr val="1B2430"/>
                </a:solidFill>
                <a:latin typeface="Calibri" pitchFamily="34" charset="0"/>
                <a:ea typeface="Calibri" pitchFamily="34" charset="-122"/>
                <a:cs typeface="Calibri" pitchFamily="34" charset="-120"/>
              </a:rPr>
              <a:t>14N officers and their analyst teams build the picture together.</a:t>
            </a:r>
            <a:endParaRPr lang="en-US" sz="1200" dirty="0"/>
          </a:p>
        </p:txBody>
      </p:sp>
      <p:sp>
        <p:nvSpPr>
          <p:cNvPr id="14" name="Shape 10"/>
          <p:cNvSpPr/>
          <p:nvPr/>
        </p:nvSpPr>
        <p:spPr>
          <a:xfrm>
            <a:off x="548640" y="4023360"/>
            <a:ext cx="5349240" cy="1874520"/>
          </a:xfrm>
          <a:prstGeom prst="roundRect">
            <a:avLst>
              <a:gd name="adj" fmla="val 4878"/>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15" name="Shape 11"/>
          <p:cNvSpPr/>
          <p:nvPr/>
        </p:nvSpPr>
        <p:spPr>
          <a:xfrm>
            <a:off x="822960" y="4297680"/>
            <a:ext cx="548640" cy="548640"/>
          </a:xfrm>
          <a:prstGeom prst="ellipse">
            <a:avLst/>
          </a:prstGeom>
          <a:solidFill>
            <a:srgbClr val="12284B"/>
          </a:solidFill>
          <a:ln/>
        </p:spPr>
        <p:txBody>
          <a:bodyPr/>
          <a:lstStyle/>
          <a:p>
            <a:endParaRPr/>
          </a:p>
        </p:txBody>
      </p:sp>
      <p:pic>
        <p:nvPicPr>
          <p:cNvPr id="16" name="Image 2" descr="C:\Users\Trey\AppData\Local\Temp\claude\c--Projects-astral-project-src-pages-eftShopping\d9389cc2-8d3b-4f0d-be7e-28501db0dc02\scratchpad\afintel\icons\gradcap_gold.png"/>
          <p:cNvPicPr>
            <a:picLocks noChangeAspect="1"/>
          </p:cNvPicPr>
          <p:nvPr/>
        </p:nvPicPr>
        <p:blipFill>
          <a:blip r:embed="rId5"/>
          <a:stretch>
            <a:fillRect/>
          </a:stretch>
        </p:blipFill>
        <p:spPr>
          <a:xfrm>
            <a:off x="960120" y="4434840"/>
            <a:ext cx="274320" cy="274320"/>
          </a:xfrm>
          <a:prstGeom prst="rect">
            <a:avLst/>
          </a:prstGeom>
        </p:spPr>
      </p:pic>
      <p:sp>
        <p:nvSpPr>
          <p:cNvPr id="17" name="Text 12"/>
          <p:cNvSpPr txBox="1"/>
          <p:nvPr/>
        </p:nvSpPr>
        <p:spPr>
          <a:xfrm>
            <a:off x="1554480" y="4279392"/>
            <a:ext cx="4114800" cy="365760"/>
          </a:xfrm>
          <a:prstGeom prst="rect">
            <a:avLst/>
          </a:prstGeom>
          <a:noFill/>
          <a:ln/>
        </p:spPr>
        <p:txBody>
          <a:bodyPr wrap="square" rtlCol="0" anchor="ctr"/>
          <a:lstStyle/>
          <a:p>
            <a:pPr marL="0" indent="0">
              <a:buNone/>
            </a:pPr>
            <a:r>
              <a:rPr lang="en-US" sz="1450" b="1" dirty="0">
                <a:solidFill>
                  <a:srgbClr val="12284B"/>
                </a:solidFill>
                <a:latin typeface="Calibri" pitchFamily="34" charset="0"/>
                <a:ea typeface="Calibri" pitchFamily="34" charset="-122"/>
                <a:cs typeface="Calibri" pitchFamily="34" charset="-120"/>
              </a:rPr>
              <a:t>Trained, not assumed</a:t>
            </a:r>
            <a:endParaRPr lang="en-US" sz="1450" dirty="0"/>
          </a:p>
        </p:txBody>
      </p:sp>
      <p:sp>
        <p:nvSpPr>
          <p:cNvPr id="18" name="Text 13"/>
          <p:cNvSpPr txBox="1"/>
          <p:nvPr/>
        </p:nvSpPr>
        <p:spPr>
          <a:xfrm>
            <a:off x="822960" y="4892040"/>
            <a:ext cx="4800600" cy="868680"/>
          </a:xfrm>
          <a:prstGeom prst="rect">
            <a:avLst/>
          </a:prstGeom>
          <a:noFill/>
          <a:ln/>
        </p:spPr>
        <p:txBody>
          <a:bodyPr wrap="square" rtlCol="0" anchor="ctr"/>
          <a:lstStyle/>
          <a:p>
            <a:pPr marL="0" indent="0">
              <a:lnSpc>
                <a:spcPct val="125000"/>
              </a:lnSpc>
              <a:buNone/>
            </a:pPr>
            <a:r>
              <a:rPr lang="en-US" sz="1200" dirty="0">
                <a:solidFill>
                  <a:srgbClr val="1B2430"/>
                </a:solidFill>
                <a:latin typeface="Calibri" pitchFamily="34" charset="0"/>
                <a:ea typeface="Calibri" pitchFamily="34" charset="-122"/>
                <a:cs typeface="Calibri" pitchFamily="34" charset="-120"/>
              </a:rPr>
              <a:t>No prior intel background needed — the pipeline starts at Goodfellow AFB.</a:t>
            </a:r>
            <a:endParaRPr lang="en-US" sz="1200" dirty="0"/>
          </a:p>
        </p:txBody>
      </p:sp>
      <p:sp>
        <p:nvSpPr>
          <p:cNvPr id="19" name="Shape 14"/>
          <p:cNvSpPr/>
          <p:nvPr/>
        </p:nvSpPr>
        <p:spPr>
          <a:xfrm>
            <a:off x="6263640" y="4023360"/>
            <a:ext cx="5349240" cy="1874520"/>
          </a:xfrm>
          <a:prstGeom prst="roundRect">
            <a:avLst>
              <a:gd name="adj" fmla="val 4878"/>
            </a:avLst>
          </a:prstGeom>
          <a:solidFill>
            <a:srgbClr val="F4F6FA"/>
          </a:solidFill>
          <a:ln/>
          <a:effectLst>
            <a:outerShdw blurRad="101600" dist="38100" dir="5400000" algn="bl" rotWithShape="0">
              <a:srgbClr val="0B1B34">
                <a:alpha val="35000"/>
              </a:srgbClr>
            </a:outerShdw>
          </a:effectLst>
        </p:spPr>
        <p:txBody>
          <a:bodyPr/>
          <a:lstStyle/>
          <a:p>
            <a:endParaRPr/>
          </a:p>
        </p:txBody>
      </p:sp>
      <p:sp>
        <p:nvSpPr>
          <p:cNvPr id="20" name="Shape 15"/>
          <p:cNvSpPr/>
          <p:nvPr/>
        </p:nvSpPr>
        <p:spPr>
          <a:xfrm>
            <a:off x="6537960" y="4297680"/>
            <a:ext cx="548640" cy="548640"/>
          </a:xfrm>
          <a:prstGeom prst="ellipse">
            <a:avLst/>
          </a:prstGeom>
          <a:solidFill>
            <a:srgbClr val="12284B"/>
          </a:solidFill>
          <a:ln/>
        </p:spPr>
        <p:txBody>
          <a:bodyPr/>
          <a:lstStyle/>
          <a:p>
            <a:endParaRPr/>
          </a:p>
        </p:txBody>
      </p:sp>
      <p:pic>
        <p:nvPicPr>
          <p:cNvPr id="21" name="Image 3" descr="C:\Users\Trey\AppData\Local\Temp\claude\c--Projects-astral-project-src-pages-eftShopping\d9389cc2-8d3b-4f0d-be7e-28501db0dc02\scratchpad\afintel\icons\shield_gold.png"/>
          <p:cNvPicPr>
            <a:picLocks noChangeAspect="1"/>
          </p:cNvPicPr>
          <p:nvPr/>
        </p:nvPicPr>
        <p:blipFill>
          <a:blip r:embed="rId6"/>
          <a:stretch>
            <a:fillRect/>
          </a:stretch>
        </p:blipFill>
        <p:spPr>
          <a:xfrm>
            <a:off x="6675120" y="4434840"/>
            <a:ext cx="274320" cy="274320"/>
          </a:xfrm>
          <a:prstGeom prst="rect">
            <a:avLst/>
          </a:prstGeom>
        </p:spPr>
      </p:pic>
      <p:sp>
        <p:nvSpPr>
          <p:cNvPr id="22" name="Text 16"/>
          <p:cNvSpPr txBox="1"/>
          <p:nvPr/>
        </p:nvSpPr>
        <p:spPr>
          <a:xfrm>
            <a:off x="7269480" y="4279392"/>
            <a:ext cx="4114800" cy="365760"/>
          </a:xfrm>
          <a:prstGeom prst="rect">
            <a:avLst/>
          </a:prstGeom>
          <a:noFill/>
          <a:ln/>
        </p:spPr>
        <p:txBody>
          <a:bodyPr wrap="square" rtlCol="0" anchor="ctr"/>
          <a:lstStyle/>
          <a:p>
            <a:pPr marL="0" indent="0">
              <a:buNone/>
            </a:pPr>
            <a:r>
              <a:rPr lang="en-US" sz="1450" b="1" dirty="0">
                <a:solidFill>
                  <a:srgbClr val="12284B"/>
                </a:solidFill>
                <a:latin typeface="Calibri" pitchFamily="34" charset="0"/>
                <a:ea typeface="Calibri" pitchFamily="34" charset="-122"/>
                <a:cs typeface="Calibri" pitchFamily="34" charset="-120"/>
              </a:rPr>
              <a:t>It’s decision advantage</a:t>
            </a:r>
            <a:endParaRPr lang="en-US" sz="1450" dirty="0"/>
          </a:p>
        </p:txBody>
      </p:sp>
      <p:sp>
        <p:nvSpPr>
          <p:cNvPr id="23" name="Text 17"/>
          <p:cNvSpPr txBox="1"/>
          <p:nvPr/>
        </p:nvSpPr>
        <p:spPr>
          <a:xfrm>
            <a:off x="6537960" y="4892040"/>
            <a:ext cx="4800600" cy="868680"/>
          </a:xfrm>
          <a:prstGeom prst="rect">
            <a:avLst/>
          </a:prstGeom>
          <a:noFill/>
          <a:ln/>
        </p:spPr>
        <p:txBody>
          <a:bodyPr wrap="square" rtlCol="0" anchor="ctr"/>
          <a:lstStyle/>
          <a:p>
            <a:pPr marL="0" indent="0">
              <a:lnSpc>
                <a:spcPct val="125000"/>
              </a:lnSpc>
              <a:buNone/>
            </a:pPr>
            <a:r>
              <a:rPr lang="en-US" sz="1200" dirty="0">
                <a:solidFill>
                  <a:srgbClr val="1B2430"/>
                </a:solidFill>
                <a:latin typeface="Calibri" pitchFamily="34" charset="0"/>
                <a:ea typeface="Calibri" pitchFamily="34" charset="-122"/>
                <a:cs typeface="Calibri" pitchFamily="34" charset="-120"/>
              </a:rPr>
              <a:t>Every mission runs on the intelligence picture built before it launches.</a:t>
            </a:r>
            <a:endParaRPr lang="en-US" sz="1200" dirty="0"/>
          </a:p>
        </p:txBody>
      </p:sp>
      <p:sp>
        <p:nvSpPr>
          <p:cNvPr id="24" name="Text 18"/>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5C6B8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0B1B34"/>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7315200" cy="320040"/>
          </a:xfrm>
          <a:prstGeom prst="rect">
            <a:avLst/>
          </a:prstGeom>
          <a:noFill/>
          <a:ln/>
        </p:spPr>
        <p:txBody>
          <a:bodyPr wrap="square" rtlCol="0" anchor="ctr"/>
          <a:lstStyle/>
          <a:p>
            <a:pPr marL="0" indent="0">
              <a:buNone/>
            </a:pPr>
            <a:r>
              <a:rPr lang="en-US" sz="1300" b="1" kern="0" spc="200" dirty="0">
                <a:solidFill>
                  <a:srgbClr val="FFC72C"/>
                </a:solidFill>
                <a:latin typeface="Calibri" pitchFamily="34" charset="0"/>
                <a:ea typeface="Calibri" pitchFamily="34" charset="-122"/>
                <a:cs typeface="Calibri" pitchFamily="34" charset="-120"/>
              </a:rPr>
              <a:t>FURTHER READING</a:t>
            </a:r>
            <a:endParaRPr lang="en-US" sz="1300" dirty="0"/>
          </a:p>
        </p:txBody>
      </p:sp>
      <p:sp>
        <p:nvSpPr>
          <p:cNvPr id="3" name="Text 1"/>
          <p:cNvSpPr txBox="1"/>
          <p:nvPr/>
        </p:nvSpPr>
        <p:spPr>
          <a:xfrm>
            <a:off x="548640" y="658368"/>
            <a:ext cx="10607040" cy="822960"/>
          </a:xfrm>
          <a:prstGeom prst="rect">
            <a:avLst/>
          </a:prstGeom>
          <a:noFill/>
          <a:ln/>
        </p:spPr>
        <p:txBody>
          <a:bodyPr wrap="square" rtlCol="0" anchor="ctr"/>
          <a:lstStyle/>
          <a:p>
            <a:pPr marL="0" indent="0">
              <a:lnSpc>
                <a:spcPct val="100000"/>
              </a:lnSpc>
              <a:buNone/>
            </a:pPr>
            <a:r>
              <a:rPr lang="en-US" sz="3200" b="1" dirty="0">
                <a:solidFill>
                  <a:srgbClr val="FFFFFF"/>
                </a:solidFill>
                <a:latin typeface="Cambria" pitchFamily="34" charset="0"/>
                <a:ea typeface="Cambria" pitchFamily="34" charset="-122"/>
                <a:cs typeface="Cambria" pitchFamily="34" charset="-120"/>
              </a:rPr>
              <a:t>Sources</a:t>
            </a:r>
            <a:endParaRPr lang="en-US" sz="3200" dirty="0"/>
          </a:p>
        </p:txBody>
      </p:sp>
      <p:sp>
        <p:nvSpPr>
          <p:cNvPr id="4" name="Shape 2"/>
          <p:cNvSpPr/>
          <p:nvPr/>
        </p:nvSpPr>
        <p:spPr>
          <a:xfrm>
            <a:off x="548640" y="2194560"/>
            <a:ext cx="384048" cy="384048"/>
          </a:xfrm>
          <a:prstGeom prst="ellipse">
            <a:avLst/>
          </a:prstGeom>
          <a:solidFill>
            <a:srgbClr val="17325C"/>
          </a:solidFill>
          <a:ln/>
        </p:spPr>
        <p:txBody>
          <a:bodyPr/>
          <a:lstStyle/>
          <a:p>
            <a:endParaRPr/>
          </a:p>
        </p:txBody>
      </p:sp>
      <p:pic>
        <p:nvPicPr>
          <p:cNvPr id="5" name="Image 0" descr="C:\Users\Trey\AppData\Local\Temp\claude\c--Projects-astral-project-src-pages-eftShopping\d9389cc2-8d3b-4f0d-be7e-28501db0dc02\scratchpad\afintel\icons\book_gold.png"/>
          <p:cNvPicPr>
            <a:picLocks noChangeAspect="1"/>
          </p:cNvPicPr>
          <p:nvPr/>
        </p:nvPicPr>
        <p:blipFill>
          <a:blip r:embed="rId3"/>
          <a:stretch>
            <a:fillRect/>
          </a:stretch>
        </p:blipFill>
        <p:spPr>
          <a:xfrm>
            <a:off x="640080" y="2286000"/>
            <a:ext cx="201168" cy="201168"/>
          </a:xfrm>
          <a:prstGeom prst="rect">
            <a:avLst/>
          </a:prstGeom>
        </p:spPr>
      </p:pic>
      <p:sp>
        <p:nvSpPr>
          <p:cNvPr id="6" name="Text 3"/>
          <p:cNvSpPr txBox="1"/>
          <p:nvPr/>
        </p:nvSpPr>
        <p:spPr>
          <a:xfrm>
            <a:off x="1143000" y="2157984"/>
            <a:ext cx="9875520" cy="502920"/>
          </a:xfrm>
          <a:prstGeom prst="rect">
            <a:avLst/>
          </a:prstGeom>
          <a:noFill/>
          <a:ln/>
        </p:spPr>
        <p:txBody>
          <a:bodyPr wrap="square" rtlCol="0" anchor="ctr"/>
          <a:lstStyle/>
          <a:p>
            <a:pPr marL="0" indent="0">
              <a:lnSpc>
                <a:spcPct val="120000"/>
              </a:lnSpc>
              <a:buNone/>
            </a:pPr>
            <a:r>
              <a:rPr lang="en-US" sz="1300" dirty="0">
                <a:solidFill>
                  <a:srgbClr val="F4F6FA"/>
                </a:solidFill>
                <a:latin typeface="Calibri" pitchFamily="34" charset="0"/>
                <a:ea typeface="Calibri" pitchFamily="34" charset="-122"/>
                <a:cs typeface="Calibri" pitchFamily="34" charset="-120"/>
              </a:rPr>
              <a:t>airforce.com — official Intelligence Officer &amp; Operations Intelligence career pages</a:t>
            </a:r>
            <a:endParaRPr lang="en-US" sz="1300" dirty="0"/>
          </a:p>
        </p:txBody>
      </p:sp>
      <p:sp>
        <p:nvSpPr>
          <p:cNvPr id="7" name="Shape 4"/>
          <p:cNvSpPr/>
          <p:nvPr/>
        </p:nvSpPr>
        <p:spPr>
          <a:xfrm>
            <a:off x="548640" y="2971800"/>
            <a:ext cx="384048" cy="384048"/>
          </a:xfrm>
          <a:prstGeom prst="ellipse">
            <a:avLst/>
          </a:prstGeom>
          <a:solidFill>
            <a:srgbClr val="17325C"/>
          </a:solidFill>
          <a:ln/>
        </p:spPr>
        <p:txBody>
          <a:bodyPr/>
          <a:lstStyle/>
          <a:p>
            <a:endParaRPr/>
          </a:p>
        </p:txBody>
      </p:sp>
      <p:pic>
        <p:nvPicPr>
          <p:cNvPr id="8" name="Image 1" descr="C:\Users\Trey\AppData\Local\Temp\claude\c--Projects-astral-project-src-pages-eftShopping\d9389cc2-8d3b-4f0d-be7e-28501db0dc02\scratchpad\afintel\icons\book_gold.png"/>
          <p:cNvPicPr>
            <a:picLocks noChangeAspect="1"/>
          </p:cNvPicPr>
          <p:nvPr/>
        </p:nvPicPr>
        <p:blipFill>
          <a:blip r:embed="rId3"/>
          <a:stretch>
            <a:fillRect/>
          </a:stretch>
        </p:blipFill>
        <p:spPr>
          <a:xfrm>
            <a:off x="640080" y="3063240"/>
            <a:ext cx="201168" cy="201168"/>
          </a:xfrm>
          <a:prstGeom prst="rect">
            <a:avLst/>
          </a:prstGeom>
        </p:spPr>
      </p:pic>
      <p:sp>
        <p:nvSpPr>
          <p:cNvPr id="9" name="Text 5"/>
          <p:cNvSpPr txBox="1"/>
          <p:nvPr/>
        </p:nvSpPr>
        <p:spPr>
          <a:xfrm>
            <a:off x="1143000" y="2935224"/>
            <a:ext cx="9875520" cy="502920"/>
          </a:xfrm>
          <a:prstGeom prst="rect">
            <a:avLst/>
          </a:prstGeom>
          <a:noFill/>
          <a:ln/>
        </p:spPr>
        <p:txBody>
          <a:bodyPr wrap="square" rtlCol="0" anchor="ctr"/>
          <a:lstStyle/>
          <a:p>
            <a:pPr marL="0" indent="0">
              <a:lnSpc>
                <a:spcPct val="120000"/>
              </a:lnSpc>
              <a:buNone/>
            </a:pPr>
            <a:r>
              <a:rPr lang="en-US" sz="1300" dirty="0">
                <a:solidFill>
                  <a:srgbClr val="F4F6FA"/>
                </a:solidFill>
                <a:latin typeface="Calibri" pitchFamily="34" charset="0"/>
                <a:ea typeface="Calibri" pitchFamily="34" charset="-122"/>
                <a:cs typeface="Calibri" pitchFamily="34" charset="-120"/>
              </a:rPr>
              <a:t>Holm Center (AFROTC) — 14N Intelligence Officer career field flyer</a:t>
            </a:r>
            <a:endParaRPr lang="en-US" sz="1300" dirty="0"/>
          </a:p>
        </p:txBody>
      </p:sp>
      <p:sp>
        <p:nvSpPr>
          <p:cNvPr id="10" name="Shape 6"/>
          <p:cNvSpPr/>
          <p:nvPr/>
        </p:nvSpPr>
        <p:spPr>
          <a:xfrm>
            <a:off x="548640" y="3749040"/>
            <a:ext cx="384048" cy="384048"/>
          </a:xfrm>
          <a:prstGeom prst="ellipse">
            <a:avLst/>
          </a:prstGeom>
          <a:solidFill>
            <a:srgbClr val="17325C"/>
          </a:solidFill>
          <a:ln/>
        </p:spPr>
        <p:txBody>
          <a:bodyPr/>
          <a:lstStyle/>
          <a:p>
            <a:endParaRPr/>
          </a:p>
        </p:txBody>
      </p:sp>
      <p:pic>
        <p:nvPicPr>
          <p:cNvPr id="11" name="Image 2" descr="C:\Users\Trey\AppData\Local\Temp\claude\c--Projects-astral-project-src-pages-eftShopping\d9389cc2-8d3b-4f0d-be7e-28501db0dc02\scratchpad\afintel\icons\book_gold.png"/>
          <p:cNvPicPr>
            <a:picLocks noChangeAspect="1"/>
          </p:cNvPicPr>
          <p:nvPr/>
        </p:nvPicPr>
        <p:blipFill>
          <a:blip r:embed="rId3"/>
          <a:stretch>
            <a:fillRect/>
          </a:stretch>
        </p:blipFill>
        <p:spPr>
          <a:xfrm>
            <a:off x="640080" y="3840480"/>
            <a:ext cx="201168" cy="201168"/>
          </a:xfrm>
          <a:prstGeom prst="rect">
            <a:avLst/>
          </a:prstGeom>
        </p:spPr>
      </p:pic>
      <p:sp>
        <p:nvSpPr>
          <p:cNvPr id="12" name="Text 7"/>
          <p:cNvSpPr txBox="1"/>
          <p:nvPr/>
        </p:nvSpPr>
        <p:spPr>
          <a:xfrm>
            <a:off x="1143000" y="3712464"/>
            <a:ext cx="9875520" cy="502920"/>
          </a:xfrm>
          <a:prstGeom prst="rect">
            <a:avLst/>
          </a:prstGeom>
          <a:noFill/>
          <a:ln/>
        </p:spPr>
        <p:txBody>
          <a:bodyPr wrap="square" rtlCol="0" anchor="ctr"/>
          <a:lstStyle/>
          <a:p>
            <a:pPr marL="0" indent="0">
              <a:lnSpc>
                <a:spcPct val="120000"/>
              </a:lnSpc>
              <a:buNone/>
            </a:pPr>
            <a:r>
              <a:rPr lang="en-US" sz="1300" dirty="0">
                <a:solidFill>
                  <a:srgbClr val="F4F6FA"/>
                </a:solidFill>
                <a:latin typeface="Calibri" pitchFamily="34" charset="0"/>
                <a:ea typeface="Calibri" pitchFamily="34" charset="-122"/>
                <a:cs typeface="Calibri" pitchFamily="34" charset="-120"/>
              </a:rPr>
              <a:t>af.mil (Goodfellow AFB / 17th Training Wing) — Intelligence Officer Training (IOT) details</a:t>
            </a:r>
            <a:endParaRPr lang="en-US" sz="1300" dirty="0"/>
          </a:p>
        </p:txBody>
      </p:sp>
      <p:sp>
        <p:nvSpPr>
          <p:cNvPr id="13" name="Shape 8"/>
          <p:cNvSpPr/>
          <p:nvPr/>
        </p:nvSpPr>
        <p:spPr>
          <a:xfrm>
            <a:off x="548640" y="4526280"/>
            <a:ext cx="384048" cy="384048"/>
          </a:xfrm>
          <a:prstGeom prst="ellipse">
            <a:avLst/>
          </a:prstGeom>
          <a:solidFill>
            <a:srgbClr val="17325C"/>
          </a:solidFill>
          <a:ln/>
        </p:spPr>
        <p:txBody>
          <a:bodyPr/>
          <a:lstStyle/>
          <a:p>
            <a:endParaRPr/>
          </a:p>
        </p:txBody>
      </p:sp>
      <p:pic>
        <p:nvPicPr>
          <p:cNvPr id="14" name="Image 3" descr="C:\Users\Trey\AppData\Local\Temp\claude\c--Projects-astral-project-src-pages-eftShopping\d9389cc2-8d3b-4f0d-be7e-28501db0dc02\scratchpad\afintel\icons\book_gold.png"/>
          <p:cNvPicPr>
            <a:picLocks noChangeAspect="1"/>
          </p:cNvPicPr>
          <p:nvPr/>
        </p:nvPicPr>
        <p:blipFill>
          <a:blip r:embed="rId3"/>
          <a:stretch>
            <a:fillRect/>
          </a:stretch>
        </p:blipFill>
        <p:spPr>
          <a:xfrm>
            <a:off x="640080" y="4617720"/>
            <a:ext cx="201168" cy="201168"/>
          </a:xfrm>
          <a:prstGeom prst="rect">
            <a:avLst/>
          </a:prstGeom>
        </p:spPr>
      </p:pic>
      <p:sp>
        <p:nvSpPr>
          <p:cNvPr id="15" name="Text 9"/>
          <p:cNvSpPr txBox="1"/>
          <p:nvPr/>
        </p:nvSpPr>
        <p:spPr>
          <a:xfrm>
            <a:off x="1143000" y="4489704"/>
            <a:ext cx="9875520" cy="502920"/>
          </a:xfrm>
          <a:prstGeom prst="rect">
            <a:avLst/>
          </a:prstGeom>
          <a:noFill/>
          <a:ln/>
        </p:spPr>
        <p:txBody>
          <a:bodyPr wrap="square" rtlCol="0" anchor="ctr"/>
          <a:lstStyle/>
          <a:p>
            <a:pPr marL="0" indent="0">
              <a:lnSpc>
                <a:spcPct val="120000"/>
              </a:lnSpc>
              <a:buNone/>
            </a:pPr>
            <a:r>
              <a:rPr lang="en-US" sz="1300" dirty="0">
                <a:solidFill>
                  <a:srgbClr val="F4F6FA"/>
                </a:solidFill>
                <a:latin typeface="Calibri" pitchFamily="34" charset="0"/>
                <a:ea typeface="Calibri" pitchFamily="34" charset="-122"/>
                <a:cs typeface="Calibri" pitchFamily="34" charset="-120"/>
              </a:rPr>
              <a:t>e-publishing.af.mil — CFETP 1N1X1, the formal enlisted training standard</a:t>
            </a:r>
            <a:endParaRPr lang="en-US" sz="1300" dirty="0"/>
          </a:p>
        </p:txBody>
      </p:sp>
      <p:sp>
        <p:nvSpPr>
          <p:cNvPr id="16" name="Text 10"/>
          <p:cNvSpPr txBox="1"/>
          <p:nvPr/>
        </p:nvSpPr>
        <p:spPr>
          <a:xfrm>
            <a:off x="548640" y="5943600"/>
            <a:ext cx="10515600" cy="457200"/>
          </a:xfrm>
          <a:prstGeom prst="rect">
            <a:avLst/>
          </a:prstGeom>
          <a:noFill/>
          <a:ln/>
        </p:spPr>
        <p:txBody>
          <a:bodyPr wrap="square" rtlCol="0" anchor="ctr"/>
          <a:lstStyle/>
          <a:p>
            <a:pPr marL="0" indent="0">
              <a:buNone/>
            </a:pPr>
            <a:endParaRPr lang="en-US" sz="1150" dirty="0"/>
          </a:p>
        </p:txBody>
      </p:sp>
      <p:sp>
        <p:nvSpPr>
          <p:cNvPr id="17" name="Text 11"/>
          <p:cNvSpPr/>
          <p:nvPr/>
        </p:nvSpPr>
        <p:spPr>
          <a:xfrm>
            <a:off x="11475720" y="6473952"/>
            <a:ext cx="548640" cy="274320"/>
          </a:xfrm>
          <a:prstGeom prst="rect">
            <a:avLst/>
          </a:prstGeom>
          <a:noFill/>
          <a:ln/>
        </p:spPr>
        <p:txBody>
          <a:bodyPr wrap="square" rtlCol="0" anchor="ctr"/>
          <a:lstStyle/>
          <a:p>
            <a:pPr marL="0" indent="0" algn="r">
              <a:buNone/>
            </a:pPr>
            <a:r>
              <a:rPr lang="en-US" sz="1000" dirty="0">
                <a:solidFill>
                  <a:srgbClr val="8CA3C7"/>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3741</Words>
  <Application>Microsoft Office PowerPoint</Application>
  <PresentationFormat>Widescreen</PresentationFormat>
  <Paragraphs>269</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U.S. Air Force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 Force Intelligence Career Field</dc:title>
  <dc:subject>PptxGenJS Presentation</dc:subject>
  <dc:creator>AFROTC</dc:creator>
  <cp:lastModifiedBy>Trey L</cp:lastModifiedBy>
  <cp:revision>7</cp:revision>
  <dcterms:created xsi:type="dcterms:W3CDTF">2026-09-24T02:31:03Z</dcterms:created>
  <dcterms:modified xsi:type="dcterms:W3CDTF">2026-10-01T15:02:46Z</dcterms:modified>
</cp:coreProperties>
</file>